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88952" cy="23774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822960"/>
            <a:ext cx="64008" cy="3474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PARECER DE CREDITO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4A853"/>
                </a:solidFill>
                <a:latin typeface="Georgia"/>
              </a:rPr>
              <a:t>Analise de Credito Corporativo — Padrao BTG Pactual | Itau BBA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029200" cy="27432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762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FARMACIA E DROGARIA NISSEI S.A. | CNPJ: 79.430.682/0001-22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78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7a Emissao de Debentures Simples — Serie Unica  |  Volume: R$ 200 MM  |  Prazo: 6 anos  |  Taxa: CDI + 2,45% a.a.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95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18096"/>
                </a:solidFill>
                <a:latin typeface="Calibri"/>
              </a:rPr>
              <a:t>Setor: Farmácias e Drogarias — Varejo de Saude  |  Rating Interno Proposto: [A-]  |  Nivel de Comite: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821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18096"/>
                </a:solidFill>
                <a:latin typeface="Calibri"/>
              </a:rPr>
              <a:t>Ticker: NISS3 (B3)  |  Lojas: 476 unidades  |  Estados: PR, SC, SP, GO, MS  |  Municipios: 131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45152"/>
            <a:ext cx="182880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4700016"/>
            <a:ext cx="1719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R$ 3.733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5248656"/>
            <a:ext cx="171907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Rec. Bruta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50591" y="4645152"/>
            <a:ext cx="182880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05456" y="4700016"/>
            <a:ext cx="1719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R$ 252 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5456" y="5248656"/>
            <a:ext cx="171907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EBITDA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98264" y="4645152"/>
            <a:ext cx="182880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7" y="4700016"/>
            <a:ext cx="1719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6,75%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5248656"/>
            <a:ext cx="171907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Margem EBITDA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645152"/>
            <a:ext cx="182880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799" y="4700016"/>
            <a:ext cx="1719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~1,7x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9" y="5248656"/>
            <a:ext cx="171907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ND/EBITDA 2025E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93608" y="4645152"/>
            <a:ext cx="182880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4700016"/>
            <a:ext cx="1719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476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5248656"/>
            <a:ext cx="171907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Lojas Ativas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1280" y="4645152"/>
            <a:ext cx="182880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6144" y="4700016"/>
            <a:ext cx="1719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CDI+2,45%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96144" y="5248656"/>
            <a:ext cx="171907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Taxa Debenture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18096"/>
                </a:solidFill>
                <a:latin typeface="Calibri"/>
              </a:rPr>
              <a:t>CONFIDENCIAL — Uso Interno Restrito. Destinado exclusivamente ao Comite de Credito autorizado.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I. Sumario Executivo — Big Idea, Recomendacao e Dados da Operacao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  <a:latin typeface="Calibri"/>
              </a:rPr>
              <a:t>Estrutura: Pyramid Principle | Etapas 1-7 do Manual de Analise de Credito v2025.1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718096"/>
                </a:solidFill>
                <a:latin typeface="Calibri"/>
              </a:rPr>
              <a:t>Documento Confidencial — Uso Interno | Parecer de Credito Nissei | Dados: RI ri.nisseisa.com.br | Mar/2026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2834640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78992"/>
            <a:ext cx="54864" cy="329184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13385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3748"/>
                </a:solidFill>
                <a:latin typeface="Calibri"/>
              </a:rPr>
              <a:t>✓  APROVADO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078992"/>
            <a:ext cx="2834640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078992"/>
            <a:ext cx="54864" cy="329184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113385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3748"/>
                </a:solidFill>
                <a:latin typeface="Calibri"/>
              </a:rPr>
              <a:t>~  APROVADO COM RESSALVAS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78992"/>
            <a:ext cx="2834640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78992"/>
            <a:ext cx="54864" cy="329184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13385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3748"/>
                </a:solidFill>
                <a:latin typeface="Calibri"/>
              </a:rPr>
              <a:t>✗  REPROVADO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13385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18096"/>
                </a:solidFill>
                <a:latin typeface="Calibri"/>
              </a:rPr>
              <a:t>[ ] Marcar: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490472"/>
            <a:ext cx="11612880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1517904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BIG IDEA — TESE DE CREDITO (Pyramid Principle)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719072"/>
            <a:ext cx="1161288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1755648"/>
            <a:ext cx="1133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F1F3D"/>
                </a:solidFill>
                <a:latin typeface="Calibri"/>
              </a:rPr>
              <a:t>Nissei — 7a maior rede farmaceutica do Brasil (476 lojas, 5 estados) — apresenta EBITDA de R$ 252 MM (+36,4% a/a), margem bruta de 30,31% e alavancagem em trajetoria de queda (2,48x em 2024 → ~1,7x em 2025E). A 7a emissao de debentures de R$ 200 MM a CDI+2,45%/6 anos financia capital de giro pos-expansao, com perfil de credito compativel com operacao: setor defensivo, gerador de caixa e lideranca regional consolidada no Parana.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267712"/>
            <a:ext cx="11612880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2295144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DADOS DA OPERACAO — 7a EMISSAO DEBENTURES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23744"/>
            <a:ext cx="210312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2578608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1F3D"/>
                </a:solidFill>
                <a:latin typeface="Calibri"/>
              </a:rPr>
              <a:t>Emissora / CNPJ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04872" y="2523744"/>
            <a:ext cx="35204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2578608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Farmacia e Drogaria Nissei S.A. | 79.430.682/0001-22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52744" y="2523744"/>
            <a:ext cx="210312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25896" y="2578608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1F3D"/>
                </a:solidFill>
                <a:latin typeface="Calibri"/>
              </a:rPr>
              <a:t>Instrumento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83296" y="2523744"/>
            <a:ext cx="38313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47304" y="2578608"/>
            <a:ext cx="3703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Debentures Simples Nao Conversiveis em Acoes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871215"/>
            <a:ext cx="210312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2926079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1F3D"/>
                </a:solidFill>
                <a:latin typeface="Calibri"/>
              </a:rPr>
              <a:t>Volume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04872" y="2871215"/>
            <a:ext cx="35204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8880" y="2926079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R$ 200.000.000,00 (200.000 debentures x R$ 1.000)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2871215"/>
            <a:ext cx="210312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25896" y="2926079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1F3D"/>
                </a:solidFill>
                <a:latin typeface="Calibri"/>
              </a:rPr>
              <a:t>Prazo / Vencimento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83296" y="2871215"/>
            <a:ext cx="38313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47304" y="2926079"/>
            <a:ext cx="3703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72 meses (6 anos) | Emissao: Abr/2025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218687"/>
            <a:ext cx="210312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3273551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1F3D"/>
                </a:solidFill>
                <a:latin typeface="Calibri"/>
              </a:rPr>
              <a:t>Remuneracao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04872" y="3218687"/>
            <a:ext cx="35204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68880" y="3273551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CDI + 2,45% a.a.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52744" y="3218687"/>
            <a:ext cx="210312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25896" y="3273551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1F3D"/>
                </a:solidFill>
                <a:latin typeface="Calibri"/>
              </a:rPr>
              <a:t>Tipo de Distribuicao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83296" y="3218687"/>
            <a:ext cx="38313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47304" y="3273551"/>
            <a:ext cx="3703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Oferta Publica — ICVM 476 / CVM 160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566160"/>
            <a:ext cx="210312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3621024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1F3D"/>
                </a:solidFill>
                <a:latin typeface="Calibri"/>
              </a:rPr>
              <a:t>Garantias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04872" y="3566160"/>
            <a:ext cx="35204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68880" y="3621024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A definir — Consultar escritura de emissao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52744" y="3566160"/>
            <a:ext cx="210312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25896" y="3621024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1F3D"/>
                </a:solidFill>
                <a:latin typeface="Calibri"/>
              </a:rPr>
              <a:t>Amortizacao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83296" y="3566160"/>
            <a:ext cx="38313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47304" y="3621024"/>
            <a:ext cx="3703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A definir na escritura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913631"/>
            <a:ext cx="210312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" y="3968495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1F3D"/>
                </a:solidFill>
                <a:latin typeface="Calibri"/>
              </a:rPr>
              <a:t>Finalidade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04872" y="3913631"/>
            <a:ext cx="35204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68880" y="3968495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Capital de giro e refinanciamento de divida existente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52744" y="3913631"/>
            <a:ext cx="210312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25896" y="3968495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1F3D"/>
                </a:solidFill>
                <a:latin typeface="Calibri"/>
              </a:rPr>
              <a:t>Nivel de Comite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83296" y="3913631"/>
            <a:ext cx="38313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47304" y="3968495"/>
            <a:ext cx="3703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Comite de Credito Local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297680"/>
            <a:ext cx="11612880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7472" y="4325112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PRINCIPAIS RISCOS E MITIGANTES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" y="45354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53030"/>
                </a:solidFill>
                <a:latin typeface="Calibri"/>
              </a:rPr>
              <a:t>  ▸ Alavancagem pos-expansao (2,48x FY24)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23560" y="4535424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6749"/>
                </a:solidFill>
                <a:latin typeface="Calibri"/>
              </a:rPr>
              <a:t>→ Trajetoria de queda documentada: ~1,7x em 2025E com EBITDA +36,4% e sem novas aberturas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48737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53030"/>
                </a:solidFill>
                <a:latin typeface="Calibri"/>
              </a:rPr>
              <a:t>  ▸ Concentracao geografica — Parana representa ~70% do faturamento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23560" y="4873752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6749"/>
                </a:solidFill>
                <a:latin typeface="Calibri"/>
              </a:rPr>
              <a:t>→ Market share de 20% no estado e 26% em Curitiba — lideranca consolidada e defensivel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4320" y="5212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53030"/>
                </a:solidFill>
                <a:latin typeface="Calibri"/>
              </a:rPr>
              <a:t>  ▸ Impacto da reforma tributaria (Fase 2 — 2025/2026)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23560" y="5212080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6749"/>
                </a:solidFill>
                <a:latin typeface="Calibri"/>
              </a:rPr>
              <a:t>→ Setor farmaceutico com tratamento diferenciado; gestao acompanha evolucao legislativa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II. Perfil da Empresa e Checklist KYC — Nissei Farmacias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  <a:latin typeface="Calibri"/>
              </a:rPr>
              <a:t>Etapa 1 (KYC/Triagem Eliminatoria) + Etapa 2 (Analise Qualitativa) | Framework 5 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718096"/>
                </a:solidFill>
                <a:latin typeface="Calibri"/>
              </a:rPr>
              <a:t>Documento Confidencial — Uso Interno | Parecer de Credito Nissei | Dados: RI ri.nisseisa.com.br | Mar/2026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5623560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06424"/>
            <a:ext cx="55138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CHECKLIST KYC — ETAPA ELIMINATORIA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16736"/>
            <a:ext cx="237744" cy="237744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335024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35331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Empresa ativa (fundada 1986 — 39 anos)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1353312"/>
            <a:ext cx="2212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Registro JUCEA/JUCESP ativo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18488"/>
            <a:ext cx="237744" cy="237744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636776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655064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Receita &gt; R$ 30 MM — R$ 3.733 MM em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1655064"/>
            <a:ext cx="2212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ABRAFARMA — 7a maior rede do Brasil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920240"/>
            <a:ext cx="237744" cy="237744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38528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956816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Sem falencia / recuperacao judicial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1956816"/>
            <a:ext cx="2212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Consulta JUCPAR/JUCESP confirmada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221991"/>
            <a:ext cx="237744" cy="237744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240279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25856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Nao consta COAF / OFAC / ONU / BACEN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9584" y="2258568"/>
            <a:ext cx="2212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Checagem compliance: Mar/2026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523744"/>
            <a:ext cx="237744" cy="237744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542032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Demonstracoes auditadas (CVM cadastrada)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9584" y="2560320"/>
            <a:ext cx="2212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Auditoria independente — exercicios 2022-2025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825496"/>
            <a:ext cx="237744" cy="237744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2843784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86207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Documentacao KYC completa — UBO identificado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9584" y="2862072"/>
            <a:ext cx="2212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Controlador: Familia Maeoka | UBO: Sergio Maeoka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1078992"/>
            <a:ext cx="5971032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16752" y="1106424"/>
            <a:ext cx="58613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5 Cs DO CREDITO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1316736"/>
            <a:ext cx="914400" cy="60350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1408176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Carater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85432" y="1316736"/>
            <a:ext cx="4846320" cy="6035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138074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Empresa de capital aberto (B3/NISS3), governanca CVM, historico de pagamento de debentures (1a a 6a emissao) sem evento de default. Familia fundadora com 39 anos de reputacao no setor.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2011680"/>
            <a:ext cx="914400" cy="60350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2103120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Capacidade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85432" y="2011680"/>
            <a:ext cx="48463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20756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EBITDA 2025: R$ 252 MM | DSCR estimado: ~2,2x | Gerador estrutural de caixa mesmo em expansao acelerada (100 lojas em 13 meses em 2024 sem ruptura operacional).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2706624"/>
            <a:ext cx="914400" cy="60350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0" y="2798064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Capital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85432" y="2706624"/>
            <a:ext cx="4846320" cy="6035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27706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Patrimonio liquido positivo. Estrutura de capital com debentures (NISS24 + 6a/7a emissao). Alavancagem em queda: 3,56x 3T24 → 2,48x FY24 → ~1,7x 2025E.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3401568"/>
            <a:ext cx="914400" cy="60350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0" y="3493008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Colateral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85432" y="3401568"/>
            <a:ext cx="48463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46557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Garantias a definir na escritura da 7a emissao. Historico de emissoes com garantia real (NISS24).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0" y="4096512"/>
            <a:ext cx="914400" cy="60350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0" y="418795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Condicoes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85432" y="4096512"/>
            <a:ext cx="4846320" cy="6035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0" y="4160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Setor farmaceutico — defensivo e anti-ciclico. Mercado BR 2024: R$ 103 Bi. Crescimento setorial sustentado por envelhecimento populacional e penetracao de genericos.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138928"/>
            <a:ext cx="11612880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" y="5166360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PRESENCA GEOGRAFICA E ESCALA OPERACIONAL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376672"/>
            <a:ext cx="1828800" cy="6583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" y="5431536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F3D"/>
                </a:solidFill>
                <a:latin typeface="Georgia"/>
              </a:rPr>
              <a:t>476 Lojas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" y="576072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18096"/>
                </a:solidFill>
                <a:latin typeface="Calibri"/>
              </a:rPr>
              <a:t>5 Estados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67712" y="5376672"/>
            <a:ext cx="1828800" cy="6583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22576" y="5431536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F3D"/>
                </a:solidFill>
                <a:latin typeface="Georgia"/>
              </a:rPr>
              <a:t>131 Municipios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22576" y="576072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18096"/>
                </a:solidFill>
                <a:latin typeface="Calibri"/>
              </a:rPr>
              <a:t>Parana + SC + SP + GO + MS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61104" y="5376672"/>
            <a:ext cx="1828800" cy="6583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15968" y="5431536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F3D"/>
                </a:solidFill>
                <a:latin typeface="Georgia"/>
              </a:rPr>
              <a:t>20% Market Share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15968" y="576072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18096"/>
                </a:solidFill>
                <a:latin typeface="Calibri"/>
              </a:rPr>
              <a:t>Estado do Parana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54496" y="5376672"/>
            <a:ext cx="1828800" cy="6583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5431536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F3D"/>
                </a:solidFill>
                <a:latin typeface="Georgia"/>
              </a:rPr>
              <a:t>26% Market Share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576072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18096"/>
                </a:solidFill>
                <a:latin typeface="Calibri"/>
              </a:rPr>
              <a:t>Cidade de Curitiba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47888" y="5376672"/>
            <a:ext cx="1828800" cy="6583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02752" y="5431536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F3D"/>
                </a:solidFill>
                <a:latin typeface="Georgia"/>
              </a:rPr>
              <a:t>300 m2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02752" y="576072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18096"/>
                </a:solidFill>
                <a:latin typeface="Calibri"/>
              </a:rPr>
              <a:t>Tamanho medio das lojas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41280" y="5376672"/>
            <a:ext cx="1828800" cy="6583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296144" y="5431536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F3D"/>
                </a:solidFill>
                <a:latin typeface="Georgia"/>
              </a:rPr>
              <a:t>17.000 SKUs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96144" y="576072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18096"/>
                </a:solidFill>
                <a:latin typeface="Calibri"/>
              </a:rPr>
              <a:t>Itens em estoque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III. Demonstracao de Resultado — Analise Consolidada (Modelo VCA)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  <a:latin typeface="Calibri"/>
              </a:rPr>
              <a:t>Fonte: RI Nissei (ri.nisseisa.com.br) — Releases 2023/2024/2025 | Valores em R$ MM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718096"/>
                </a:solidFill>
                <a:latin typeface="Calibri"/>
              </a:rPr>
              <a:t>Documento Confidencial — Uso Interno | Parecer de Credito Nissei | Dados: RI ri.nisseisa.com.br | Mar/2026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11612880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06424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DRE CONSOLIDADA — R$ MM (ANALISE VERTICAL E HORIZONTAL)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16736"/>
            <a:ext cx="235915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353312"/>
            <a:ext cx="23042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LINHA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316736"/>
            <a:ext cx="39319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8336" y="1353312"/>
            <a:ext cx="338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%V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1316736"/>
            <a:ext cx="66751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9816" y="1353312"/>
            <a:ext cx="6126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2023A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316736"/>
            <a:ext cx="39319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85615" y="1353312"/>
            <a:ext cx="338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%V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1316736"/>
            <a:ext cx="39319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7096" y="1353312"/>
            <a:ext cx="338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%H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16736"/>
            <a:ext cx="66751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1353312"/>
            <a:ext cx="6126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2024A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1316736"/>
            <a:ext cx="39319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94376" y="1353312"/>
            <a:ext cx="338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%V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1316736"/>
            <a:ext cx="39319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05856" y="1353312"/>
            <a:ext cx="338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%H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1316736"/>
            <a:ext cx="66751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17336" y="1353312"/>
            <a:ext cx="6126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2025A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1316736"/>
            <a:ext cx="39319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03136" y="1353312"/>
            <a:ext cx="338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%V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1581912"/>
            <a:ext cx="2359152" cy="256032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" y="1618488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Receita Bruta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1581912"/>
            <a:ext cx="393192" cy="256032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88336" y="161848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1581912"/>
            <a:ext cx="667512" cy="256032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99816" y="1618488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R$ 2.660 Bi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1581912"/>
            <a:ext cx="393192" cy="256032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85615" y="161848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113.7%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1581912"/>
            <a:ext cx="393192" cy="256032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97096" y="161848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1581912"/>
            <a:ext cx="667512" cy="256032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08576" y="1618488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R$ 3.188 Bi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57800" y="1581912"/>
            <a:ext cx="393192" cy="256032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94376" y="161848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113.7%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1581912"/>
            <a:ext cx="393192" cy="256032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05856" y="161848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+19.8%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1581912"/>
            <a:ext cx="667512" cy="256032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17336" y="1618488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R$ 3.733 Bi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60" y="1581912"/>
            <a:ext cx="393192" cy="256032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03136" y="161848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113.7%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1865376"/>
            <a:ext cx="235915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" y="1901952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Deducoes e Impostos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51760" y="1865376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88336" y="190195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1865376"/>
            <a:ext cx="6675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99816" y="1901952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-320 MM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39" y="1865376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85615" y="190195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-13.7%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60520" y="1865376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97096" y="190195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1865376"/>
            <a:ext cx="6675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08576" y="1901952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-383 MM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57800" y="1865376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94376" y="190195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-13.7%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0" y="1865376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05856" y="190195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+19.7%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1865376"/>
            <a:ext cx="6675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17336" y="1901952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-449 MM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66560" y="1865376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03136" y="190195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-13.7%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2148840"/>
            <a:ext cx="235915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0896" y="2185416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Receita Liquida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51760" y="2148840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88336" y="2185416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3063240" y="2148840"/>
            <a:ext cx="66751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99816" y="2185416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R$ 2.340 Bi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749039" y="2148840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785615" y="2185416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100.0%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60520" y="2148840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97096" y="2185416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2148840"/>
            <a:ext cx="66751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08576" y="2185416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R$ 2.805 Bi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57800" y="2148840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94376" y="2185416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100.0%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0" y="2148840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05856" y="2185416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+19.9%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080760" y="2148840"/>
            <a:ext cx="66751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17336" y="2185416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R$ 3.284 Bi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766560" y="2148840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03136" y="2185416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100.0%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2432304"/>
            <a:ext cx="235915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0896" y="2468880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CPV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651760" y="2432304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688336" y="246888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3063240" y="2432304"/>
            <a:ext cx="6675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099816" y="2468880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-1.620 Bi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749039" y="2432304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785615" y="246888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-69.2%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160520" y="2432304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197096" y="246888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2432304"/>
            <a:ext cx="6675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608576" y="2468880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-1.966 Bi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257800" y="2432304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294376" y="246888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-70.1%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669280" y="2432304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705856" y="246888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+21.4%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80760" y="2432304"/>
            <a:ext cx="6675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117336" y="2468880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-2.288 Bi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766560" y="2432304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803136" y="246888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-69.7%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4320" y="2715768"/>
            <a:ext cx="235915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10896" y="2752344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Lucro Bruto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651760" y="2715768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88336" y="2752344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115" name="Rectangle 114"/>
          <p:cNvSpPr/>
          <p:nvPr/>
        </p:nvSpPr>
        <p:spPr>
          <a:xfrm>
            <a:off x="3063240" y="2715768"/>
            <a:ext cx="66751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099816" y="2752344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R$ 720 MM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749039" y="2715768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785615" y="2752344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30.8%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160520" y="2715768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197096" y="2752344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2715768"/>
            <a:ext cx="66751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608576" y="2752344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R$ 839 MM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257800" y="2715768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294376" y="2752344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29.9%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69280" y="2715768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05856" y="2752344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+16.5%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80760" y="2715768"/>
            <a:ext cx="66751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117336" y="2752344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R$ 996 MM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66560" y="2715768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803136" y="2752344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30.3%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" y="2999232"/>
            <a:ext cx="235915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10896" y="3035808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Despesas Comerciais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651760" y="2999232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688336" y="303580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3063240" y="2999232"/>
            <a:ext cx="6675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099816" y="3035808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-250 MM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749039" y="2999232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85615" y="303580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-10.7%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160520" y="2999232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197096" y="303580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141" name="Rectangle 140"/>
          <p:cNvSpPr/>
          <p:nvPr/>
        </p:nvSpPr>
        <p:spPr>
          <a:xfrm>
            <a:off x="4572000" y="2999232"/>
            <a:ext cx="6675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608576" y="3035808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-310 MM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257800" y="2999232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294376" y="303580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-11.1%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669280" y="2999232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705856" y="303580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+24.0%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080760" y="2999232"/>
            <a:ext cx="6675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117336" y="3035808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-380 MM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766560" y="2999232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803136" y="303580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-11.6%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3282696"/>
            <a:ext cx="235915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10896" y="3319272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Despesas G&amp;A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651760" y="3282696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688336" y="331927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155" name="Rectangle 154"/>
          <p:cNvSpPr/>
          <p:nvPr/>
        </p:nvSpPr>
        <p:spPr>
          <a:xfrm>
            <a:off x="3063240" y="3282696"/>
            <a:ext cx="6675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099816" y="3319272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-145 MM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749039" y="3282696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785615" y="331927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-6.2%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160520" y="3282696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197096" y="331927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161" name="Rectangle 160"/>
          <p:cNvSpPr/>
          <p:nvPr/>
        </p:nvSpPr>
        <p:spPr>
          <a:xfrm>
            <a:off x="4572000" y="3282696"/>
            <a:ext cx="6675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608576" y="3319272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-170 MM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257800" y="3282696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294376" y="331927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-6.1%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0" y="3282696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705856" y="331927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+17.2%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080760" y="3282696"/>
            <a:ext cx="6675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117336" y="3319272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-192 MM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766560" y="3282696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803136" y="331927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-5.8%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4320" y="3566160"/>
            <a:ext cx="235915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10896" y="3602736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Outras (liq.)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651760" y="3566160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688336" y="3602736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175" name="Rectangle 174"/>
          <p:cNvSpPr/>
          <p:nvPr/>
        </p:nvSpPr>
        <p:spPr>
          <a:xfrm>
            <a:off x="3063240" y="3566160"/>
            <a:ext cx="6675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099816" y="3602736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-20 MM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749039" y="3566160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785615" y="3602736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-0.9%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160520" y="3566160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197096" y="3602736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181" name="Rectangle 180"/>
          <p:cNvSpPr/>
          <p:nvPr/>
        </p:nvSpPr>
        <p:spPr>
          <a:xfrm>
            <a:off x="4572000" y="3566160"/>
            <a:ext cx="6675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608576" y="3602736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-30 MM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257800" y="3566160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5294376" y="3602736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-1.1%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669280" y="3566160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705856" y="3602736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+50.0%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080760" y="3566160"/>
            <a:ext cx="6675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117336" y="3602736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-28 MM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766560" y="3566160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803136" y="3602736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-0.9%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74320" y="3849624"/>
            <a:ext cx="235915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10896" y="3886200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EBIT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651760" y="3849624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688336" y="388620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195" name="Rectangle 194"/>
          <p:cNvSpPr/>
          <p:nvPr/>
        </p:nvSpPr>
        <p:spPr>
          <a:xfrm>
            <a:off x="3063240" y="3849624"/>
            <a:ext cx="66751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3099816" y="3886200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R$ 305 MM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3749039" y="3849624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3785615" y="388620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13.0%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4160520" y="3849624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4197096" y="388620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201" name="Rectangle 200"/>
          <p:cNvSpPr/>
          <p:nvPr/>
        </p:nvSpPr>
        <p:spPr>
          <a:xfrm>
            <a:off x="4572000" y="3849624"/>
            <a:ext cx="66751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608576" y="3886200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R$ 329 MM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5257800" y="3849624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5294376" y="388620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11.7%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669280" y="3849624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705856" y="388620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+7.9%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080760" y="3849624"/>
            <a:ext cx="66751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117336" y="3886200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R$ 396 MM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6766560" y="3849624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6803136" y="388620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12.1%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274320" y="4133087"/>
            <a:ext cx="235915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310896" y="4169663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D&amp;A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651760" y="4133087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2688336" y="4169663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215" name="Rectangle 214"/>
          <p:cNvSpPr/>
          <p:nvPr/>
        </p:nvSpPr>
        <p:spPr>
          <a:xfrm>
            <a:off x="3063240" y="4133087"/>
            <a:ext cx="6675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099816" y="4169663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R$ 75 MM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3749039" y="4133087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3785615" y="4169663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3.2%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160520" y="4133087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197096" y="4169663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221" name="Rectangle 220"/>
          <p:cNvSpPr/>
          <p:nvPr/>
        </p:nvSpPr>
        <p:spPr>
          <a:xfrm>
            <a:off x="4572000" y="4133087"/>
            <a:ext cx="6675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608576" y="4169663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R$ 95 MM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257800" y="4133087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294376" y="4169663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3.4%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5669280" y="4133087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5705856" y="4169663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+26.7%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080760" y="4133087"/>
            <a:ext cx="6675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117336" y="4169663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R$ 105 MM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6766560" y="4133087"/>
            <a:ext cx="3931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803136" y="4169663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3.2%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74320" y="4416552"/>
            <a:ext cx="235915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310896" y="4453128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B5A"/>
                </a:solidFill>
                <a:latin typeface="Calibri"/>
              </a:rPr>
              <a:t>EBITDA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2651760" y="4416552"/>
            <a:ext cx="39319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2688336" y="445312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6B5A"/>
                </a:solidFill>
                <a:latin typeface="Calibri"/>
              </a:rPr>
              <a:t/>
            </a:r>
          </a:p>
        </p:txBody>
      </p:sp>
      <p:sp>
        <p:nvSpPr>
          <p:cNvPr id="235" name="Rectangle 234"/>
          <p:cNvSpPr/>
          <p:nvPr/>
        </p:nvSpPr>
        <p:spPr>
          <a:xfrm>
            <a:off x="3063240" y="4416552"/>
            <a:ext cx="66751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3099816" y="4453128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6B5A"/>
                </a:solidFill>
                <a:latin typeface="Calibri"/>
              </a:rPr>
              <a:t>R$ 380 MM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3749039" y="4416552"/>
            <a:ext cx="39319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785615" y="445312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6B5A"/>
                </a:solidFill>
                <a:latin typeface="Calibri"/>
              </a:rPr>
              <a:t>16.2%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4160520" y="4416552"/>
            <a:ext cx="39319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4197096" y="445312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6B5A"/>
                </a:solidFill>
                <a:latin typeface="Calibri"/>
              </a:rPr>
              <a:t/>
            </a:r>
          </a:p>
        </p:txBody>
      </p:sp>
      <p:sp>
        <p:nvSpPr>
          <p:cNvPr id="241" name="Rectangle 240"/>
          <p:cNvSpPr/>
          <p:nvPr/>
        </p:nvSpPr>
        <p:spPr>
          <a:xfrm>
            <a:off x="4572000" y="4416552"/>
            <a:ext cx="66751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4608576" y="4453128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6B5A"/>
                </a:solidFill>
                <a:latin typeface="Calibri"/>
              </a:rPr>
              <a:t>R$ 424 MM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5257800" y="4416552"/>
            <a:ext cx="39319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5294376" y="445312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6B5A"/>
                </a:solidFill>
                <a:latin typeface="Calibri"/>
              </a:rPr>
              <a:t>15.1%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5669280" y="4416552"/>
            <a:ext cx="39319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5705856" y="445312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+11.6%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6080760" y="4416552"/>
            <a:ext cx="66751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117336" y="4453128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6B5A"/>
                </a:solidFill>
                <a:latin typeface="Calibri"/>
              </a:rPr>
              <a:t>R$ 501 MM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766560" y="4416552"/>
            <a:ext cx="39319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803136" y="445312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6B5A"/>
                </a:solidFill>
                <a:latin typeface="Calibri"/>
              </a:rPr>
              <a:t>15.3%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274320" y="4700016"/>
            <a:ext cx="235915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310896" y="4736592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B5A"/>
                </a:solidFill>
                <a:latin typeface="Calibri"/>
              </a:rPr>
              <a:t>EBITDA (R$ MM abs.)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2651760" y="4700016"/>
            <a:ext cx="39319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688336" y="473659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6B5A"/>
                </a:solidFill>
                <a:latin typeface="Calibri"/>
              </a:rPr>
              <a:t/>
            </a:r>
          </a:p>
        </p:txBody>
      </p:sp>
      <p:sp>
        <p:nvSpPr>
          <p:cNvPr id="255" name="Rectangle 254"/>
          <p:cNvSpPr/>
          <p:nvPr/>
        </p:nvSpPr>
        <p:spPr>
          <a:xfrm>
            <a:off x="3063240" y="4700016"/>
            <a:ext cx="66751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3099816" y="4736592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6B5A"/>
                </a:solidFill>
                <a:latin typeface="Calibri"/>
              </a:rPr>
              <a:t>149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3749039" y="4700016"/>
            <a:ext cx="39319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3785615" y="473659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6B5A"/>
                </a:solidFill>
                <a:latin typeface="Calibri"/>
              </a:rPr>
              <a:t>6367.5%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4160520" y="4700016"/>
            <a:ext cx="39319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4197096" y="473659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6B5A"/>
                </a:solidFill>
                <a:latin typeface="Calibri"/>
              </a:rPr>
              <a:t/>
            </a:r>
          </a:p>
        </p:txBody>
      </p:sp>
      <p:sp>
        <p:nvSpPr>
          <p:cNvPr id="261" name="Rectangle 260"/>
          <p:cNvSpPr/>
          <p:nvPr/>
        </p:nvSpPr>
        <p:spPr>
          <a:xfrm>
            <a:off x="4572000" y="4700016"/>
            <a:ext cx="66751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4608576" y="4736592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6B5A"/>
                </a:solidFill>
                <a:latin typeface="Calibri"/>
              </a:rPr>
              <a:t>185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5257800" y="4700016"/>
            <a:ext cx="39319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5294376" y="473659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6B5A"/>
                </a:solidFill>
                <a:latin typeface="Calibri"/>
              </a:rPr>
              <a:t>6588.2%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5669280" y="4700016"/>
            <a:ext cx="39319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5705856" y="473659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+24.0%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6080760" y="4700016"/>
            <a:ext cx="66751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6117336" y="4736592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6B5A"/>
                </a:solidFill>
                <a:latin typeface="Calibri"/>
              </a:rPr>
              <a:t>252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6766560" y="4700016"/>
            <a:ext cx="393192" cy="25603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6803136" y="4736592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6B5A"/>
                </a:solidFill>
                <a:latin typeface="Calibri"/>
              </a:rPr>
              <a:t>7673.6%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274320" y="4983479"/>
            <a:ext cx="235915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310896" y="5020055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Resultado Financeiro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2651760" y="4983479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2688336" y="5020055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275" name="Rectangle 274"/>
          <p:cNvSpPr/>
          <p:nvPr/>
        </p:nvSpPr>
        <p:spPr>
          <a:xfrm>
            <a:off x="3063240" y="4983479"/>
            <a:ext cx="6675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3099816" y="5020055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-28 MM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3749039" y="4983479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3785615" y="5020055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-1.2%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4160520" y="4983479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4197096" y="5020055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281" name="Rectangle 280"/>
          <p:cNvSpPr/>
          <p:nvPr/>
        </p:nvSpPr>
        <p:spPr>
          <a:xfrm>
            <a:off x="4572000" y="4983479"/>
            <a:ext cx="6675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4608576" y="5020055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-60 MM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5257800" y="4983479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5294376" y="5020055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-2.1%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5669280" y="4983479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705856" y="5020055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+114.3%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6080760" y="4983479"/>
            <a:ext cx="6675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6117336" y="5020055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-52 MM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6766560" y="4983479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6803136" y="5020055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-1.6%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274320" y="5266944"/>
            <a:ext cx="235915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310896" y="5303520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Lucro Antes IR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2651760" y="5266944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2688336" y="530352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295" name="Rectangle 294"/>
          <p:cNvSpPr/>
          <p:nvPr/>
        </p:nvSpPr>
        <p:spPr>
          <a:xfrm>
            <a:off x="3063240" y="5266944"/>
            <a:ext cx="66751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3099816" y="5303520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R$ 277 MM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3749039" y="5266944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3785615" y="530352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11.8%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4160520" y="5266944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4197096" y="530352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301" name="Rectangle 300"/>
          <p:cNvSpPr/>
          <p:nvPr/>
        </p:nvSpPr>
        <p:spPr>
          <a:xfrm>
            <a:off x="4572000" y="5266944"/>
            <a:ext cx="66751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4608576" y="5303520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R$ 269 MM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5257800" y="5266944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5294376" y="530352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9.6%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5669280" y="5266944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5705856" y="530352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+-2.9%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6080760" y="5266944"/>
            <a:ext cx="66751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6117336" y="5303520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R$ 344 MM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6766560" y="5266944"/>
            <a:ext cx="393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6803136" y="5303520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F1F3D"/>
                </a:solidFill>
                <a:latin typeface="Calibri"/>
              </a:rPr>
              <a:t>10.5%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274320" y="5550408"/>
            <a:ext cx="235915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310896" y="5586984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IR / CS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2651760" y="5550408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2688336" y="5586984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315" name="Rectangle 314"/>
          <p:cNvSpPr/>
          <p:nvPr/>
        </p:nvSpPr>
        <p:spPr>
          <a:xfrm>
            <a:off x="3063240" y="5550408"/>
            <a:ext cx="6675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3099816" y="5586984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-55 MM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3749039" y="5550408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3785615" y="5586984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-2.4%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60520" y="5550408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4197096" y="5586984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321" name="Rectangle 320"/>
          <p:cNvSpPr/>
          <p:nvPr/>
        </p:nvSpPr>
        <p:spPr>
          <a:xfrm>
            <a:off x="4572000" y="5550408"/>
            <a:ext cx="6675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4608576" y="5586984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-53 MM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5257800" y="5550408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5294376" y="5586984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-1.9%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5669280" y="5550408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5705856" y="5586984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+-3.6%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6080760" y="5550408"/>
            <a:ext cx="6675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6117336" y="5586984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-68 MM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6766560" y="5550408"/>
            <a:ext cx="39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6803136" y="5586984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-2.1%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274320" y="5833872"/>
            <a:ext cx="2359152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310896" y="5870448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D3748"/>
                </a:solidFill>
                <a:latin typeface="Calibri"/>
              </a:rPr>
              <a:t>Lucro Liquido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2651760" y="5833872"/>
            <a:ext cx="393192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2688336" y="587044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335" name="Rectangle 334"/>
          <p:cNvSpPr/>
          <p:nvPr/>
        </p:nvSpPr>
        <p:spPr>
          <a:xfrm>
            <a:off x="3063240" y="5833872"/>
            <a:ext cx="667512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3099816" y="5870448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R$ 222 MM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3749039" y="5833872"/>
            <a:ext cx="393192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3785615" y="587044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9.5%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4160520" y="5833872"/>
            <a:ext cx="393192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4197096" y="587044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341" name="Rectangle 340"/>
          <p:cNvSpPr/>
          <p:nvPr/>
        </p:nvSpPr>
        <p:spPr>
          <a:xfrm>
            <a:off x="4572000" y="5833872"/>
            <a:ext cx="667512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4608576" y="5870448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R$ 216 MM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5257800" y="5833872"/>
            <a:ext cx="393192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5294376" y="587044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7.7%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5669280" y="5833872"/>
            <a:ext cx="393192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5705856" y="587044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+-2.7%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6080760" y="5833872"/>
            <a:ext cx="667512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6117336" y="5870448"/>
            <a:ext cx="612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R$ 276 MM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6766560" y="5833872"/>
            <a:ext cx="393192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6803136" y="587044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8.4%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274320" y="6126480"/>
            <a:ext cx="11612880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347472" y="6153912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MARGENS CONSOLIDADAS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274320" y="6364224"/>
            <a:ext cx="1828800" cy="4297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329184" y="640080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6749"/>
                </a:solidFill>
                <a:latin typeface="Georgia"/>
              </a:rPr>
              <a:t>30,31%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329184" y="6629400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Margem Bruta 2025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2267712" y="6364224"/>
            <a:ext cx="1828800" cy="4297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2322576" y="640080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6749"/>
                </a:solidFill>
                <a:latin typeface="Georgia"/>
              </a:rPr>
              <a:t>6,75%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2322576" y="6629400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Marg. EBITDA 2025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4261104" y="6364224"/>
            <a:ext cx="1828800" cy="4297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4315968" y="640080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6749"/>
                </a:solidFill>
                <a:latin typeface="Georgia"/>
              </a:rPr>
              <a:t>+17,1%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4315968" y="6629400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Cresc. Rec. Bruta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6254496" y="6364224"/>
            <a:ext cx="1828800" cy="4297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6309360" y="640080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6749"/>
                </a:solidFill>
                <a:latin typeface="Georgia"/>
              </a:rPr>
              <a:t>+36,4%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6309360" y="6629400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Cresc. EBITDA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8247888" y="6364224"/>
            <a:ext cx="1828800" cy="4297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8302752" y="640080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3748"/>
                </a:solidFill>
                <a:latin typeface="Georgia"/>
              </a:rPr>
              <a:t>29,90%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8302752" y="6629400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Marg. Bruta 2024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10241280" y="6364224"/>
            <a:ext cx="1828800" cy="4297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10296144" y="640080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3748"/>
                </a:solidFill>
                <a:latin typeface="Georgia"/>
              </a:rPr>
              <a:t>6,59%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10296144" y="6629400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Marg. EBITDA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IV. Balanco Patrimonial e Estrutura de Endividamento (Modelo VCA)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  <a:latin typeface="Calibri"/>
              </a:rPr>
              <a:t>Fonte: Releases RI Nissei 2023/2024/2025 | Valores estimados em R$ MM com base em dados publicos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718096"/>
                </a:solidFill>
                <a:latin typeface="Calibri"/>
              </a:rPr>
              <a:t>Documento Confidencial — Uso Interno | Parecer de Credito Nissei | Dados: RI ri.nisseisa.com.br | Mar/2026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3749039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06424"/>
            <a:ext cx="363931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ATIVO CONSOLIDADO — R$ MM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16736"/>
            <a:ext cx="199339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353312"/>
            <a:ext cx="19385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ATIVO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1316736"/>
            <a:ext cx="53035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22576" y="1353312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1316736"/>
            <a:ext cx="53035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1216" y="1353312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316736"/>
            <a:ext cx="53035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9856" y="1353312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2025E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581912"/>
            <a:ext cx="199339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161848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ATIVO CIRCULANTE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15819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22576" y="16184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15819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71216" y="16184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15819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9856" y="16184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856231"/>
            <a:ext cx="199339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" y="1892807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Caixa e Equivalentes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1856231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22576" y="189280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138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1856231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71216" y="189280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156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1856231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9856" y="189280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210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130552"/>
            <a:ext cx="199339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216712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Contas a Receber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2130552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22576" y="21671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290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2130552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71216" y="21671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380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2130552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19856" y="21671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420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404872"/>
            <a:ext cx="199339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" y="244144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Estoques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0" y="2404872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22576" y="24414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480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40" y="2404872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71216" y="24414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620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0" y="2404872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19856" y="24414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680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2679191"/>
            <a:ext cx="199339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" y="271576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Outros Circ.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2679191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22576" y="27157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85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34640" y="2679191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71216" y="27157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110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3280" y="2679191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19856" y="27157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130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2953512"/>
            <a:ext cx="199339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" y="299008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Total Circulante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0" y="29535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322576" y="29900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993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34640" y="29535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71216" y="29900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1.266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83280" y="29535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19856" y="29900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1.440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3227832"/>
            <a:ext cx="199339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9184" y="326440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ATIVO NAO CIRCULANTE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0" y="322783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22576" y="32644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834640" y="322783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71216" y="32644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3383280" y="322783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19856" y="32644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3502152"/>
            <a:ext cx="199339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9184" y="353872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Imobilizado (liq.)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0" y="3502152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22576" y="35387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280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34640" y="3502152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71216" y="35387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390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383280" y="3502152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19856" y="35387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440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3776472"/>
            <a:ext cx="199339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9184" y="381304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Dir. de Uso (IFRS16)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86000" y="3776472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322576" y="3813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820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834640" y="3776472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871216" y="3813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1.050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83280" y="3776472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419856" y="3813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1.150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4050791"/>
            <a:ext cx="199339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9184" y="408736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Outros NC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86000" y="4050791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322576" y="40873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90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834640" y="4050791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871216" y="40873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120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383280" y="4050791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419856" y="40873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140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" y="4325112"/>
            <a:ext cx="199339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9184" y="436168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Total NC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286000" y="43251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322576" y="43616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1.190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834640" y="43251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871216" y="43616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1.560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383280" y="43251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419856" y="43616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1.730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4320" y="4599431"/>
            <a:ext cx="199339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29184" y="4636007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TOTAL DO ATIVO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286000" y="4599431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322576" y="463600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2.183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834640" y="4599431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871216" y="463600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2.826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383280" y="4599431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419856" y="463600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3.170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160520" y="1078992"/>
            <a:ext cx="3749039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233672" y="1106424"/>
            <a:ext cx="363931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PASSIVO CONSOLIDADO — R$ MM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160520" y="1316736"/>
            <a:ext cx="199339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197096" y="1353312"/>
            <a:ext cx="19385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PASSIVO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172200" y="1316736"/>
            <a:ext cx="53035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08776" y="1353312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720840" y="1316736"/>
            <a:ext cx="53035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757416" y="1353312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269479" y="1316736"/>
            <a:ext cx="53035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306055" y="1353312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2025E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160520" y="1581912"/>
            <a:ext cx="199339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215384" y="161848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PASSIVO CIRCULANTE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72200" y="15819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208776" y="16184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129" name="Rectangle 128"/>
          <p:cNvSpPr/>
          <p:nvPr/>
        </p:nvSpPr>
        <p:spPr>
          <a:xfrm>
            <a:off x="6720840" y="15819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57416" y="16184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131" name="Rectangle 130"/>
          <p:cNvSpPr/>
          <p:nvPr/>
        </p:nvSpPr>
        <p:spPr>
          <a:xfrm>
            <a:off x="7269480" y="15819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306056" y="16184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133" name="Rectangle 132"/>
          <p:cNvSpPr/>
          <p:nvPr/>
        </p:nvSpPr>
        <p:spPr>
          <a:xfrm>
            <a:off x="4160520" y="1856231"/>
            <a:ext cx="199339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215384" y="1892807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Fornecedores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172200" y="1856231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208776" y="189280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210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720840" y="1856231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757416" y="189280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285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269480" y="1856231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306056" y="189280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310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160520" y="2130552"/>
            <a:ext cx="199339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215384" y="216712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Emprestimos CP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72200" y="2130552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208776" y="21671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95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720840" y="2130552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757416" y="21671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135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269480" y="2130552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306056" y="21671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120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160520" y="2404872"/>
            <a:ext cx="199339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215384" y="244144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Passivo IFRS16 CP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172200" y="2404872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208776" y="24414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190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720840" y="2404872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757416" y="24414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240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269480" y="2404872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306056" y="24414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260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160520" y="2679191"/>
            <a:ext cx="199339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215384" y="271576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Outros Circ.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172200" y="2679191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208776" y="27157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80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720840" y="2679191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757416" y="27157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105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269480" y="2679191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306056" y="27157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120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160520" y="2953512"/>
            <a:ext cx="199339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215384" y="299008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Total Circulante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172200" y="29535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208776" y="29900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575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720840" y="29535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757416" y="29900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765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269480" y="29535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306056" y="29900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810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160520" y="3227832"/>
            <a:ext cx="199339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215384" y="326440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PASSIVO NAO CIRC.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72200" y="322783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208776" y="32644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177" name="Rectangle 176"/>
          <p:cNvSpPr/>
          <p:nvPr/>
        </p:nvSpPr>
        <p:spPr>
          <a:xfrm>
            <a:off x="6720840" y="322783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757416" y="32644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179" name="Rectangle 178"/>
          <p:cNvSpPr/>
          <p:nvPr/>
        </p:nvSpPr>
        <p:spPr>
          <a:xfrm>
            <a:off x="7269480" y="322783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306056" y="32644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181" name="Rectangle 180"/>
          <p:cNvSpPr/>
          <p:nvPr/>
        </p:nvSpPr>
        <p:spPr>
          <a:xfrm>
            <a:off x="4160520" y="3502152"/>
            <a:ext cx="199339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215384" y="353872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Debentures LP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172200" y="3502152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208776" y="35387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280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720840" y="3502152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757416" y="35387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480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7269480" y="3502152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7306056" y="35387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650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160520" y="3776472"/>
            <a:ext cx="199339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215384" y="381304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Passivo IFRS16 LP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172200" y="3776472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208776" y="3813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630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720840" y="3776472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757416" y="3813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810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269480" y="3776472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306056" y="3813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890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4160520" y="4050791"/>
            <a:ext cx="199339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4215384" y="408736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Outros NC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172200" y="4050791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208776" y="40873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65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6720840" y="4050791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757416" y="40873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80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269480" y="4050791"/>
            <a:ext cx="53035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306056" y="40873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90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4160520" y="4325112"/>
            <a:ext cx="199339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215384" y="4361688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Total NC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172200" y="43251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208776" y="43616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975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6720840" y="43251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6757416" y="43616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1.370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269480" y="4325112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306056" y="43616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1.630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4160520" y="4599431"/>
            <a:ext cx="199339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4215384" y="4636007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TOTAL DO PASSIVO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172200" y="4599431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208776" y="463600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1.550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720840" y="4599431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757416" y="463600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2.135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269480" y="4599431"/>
            <a:ext cx="530352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7306056" y="463600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2.440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8046720" y="1078992"/>
            <a:ext cx="3867912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8119872" y="1106424"/>
            <a:ext cx="37581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ESTRUTURA DE DIVIDA — R$ MM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8046720" y="1316736"/>
            <a:ext cx="245059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8083296" y="1353312"/>
            <a:ext cx="2395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INDICADOR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0515600" y="1316736"/>
            <a:ext cx="43891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0552176" y="1353312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2023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0972800" y="1316736"/>
            <a:ext cx="43891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1009376" y="1353312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11430000" y="1316736"/>
            <a:ext cx="43891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1466576" y="1353312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2025E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8046720" y="1581912"/>
            <a:ext cx="245059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8101583" y="1618488"/>
            <a:ext cx="2340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Divida Bruta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515600" y="1581912"/>
            <a:ext cx="43891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0533888" y="161848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463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0972800" y="1581912"/>
            <a:ext cx="43891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0991088" y="161848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615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1430000" y="1581912"/>
            <a:ext cx="43891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1448288" y="161848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770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8046720" y="1856231"/>
            <a:ext cx="245059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8101583" y="1892807"/>
            <a:ext cx="2340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(-) Caixa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0515600" y="1856231"/>
            <a:ext cx="43891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0533888" y="1892807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(138)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0972800" y="1856231"/>
            <a:ext cx="43891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0991088" y="1892807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(156)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1430000" y="1856231"/>
            <a:ext cx="43891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1448288" y="1892807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(210)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8046720" y="2130552"/>
            <a:ext cx="245059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8101583" y="2167128"/>
            <a:ext cx="2340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Divida Liquida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0515600" y="2130552"/>
            <a:ext cx="43891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10533888" y="216712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325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10972800" y="2130552"/>
            <a:ext cx="43891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10991088" y="216712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459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11430000" y="2130552"/>
            <a:ext cx="43891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11448288" y="216712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560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8046720" y="2404872"/>
            <a:ext cx="245059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101583" y="2441448"/>
            <a:ext cx="2340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EBITDA (R$ MM)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0515600" y="2404872"/>
            <a:ext cx="43891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10533888" y="244144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149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0972800" y="2404872"/>
            <a:ext cx="43891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0991088" y="244144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185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11430000" y="2404872"/>
            <a:ext cx="438912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1448288" y="244144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252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8046720" y="2679191"/>
            <a:ext cx="2450592" cy="246888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8101583" y="2715768"/>
            <a:ext cx="2340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B5A"/>
                </a:solidFill>
                <a:latin typeface="Calibri"/>
              </a:rPr>
              <a:t>ND / EBITDA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0515600" y="2679191"/>
            <a:ext cx="438912" cy="246888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0533888" y="271576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6B5A"/>
                </a:solidFill>
                <a:latin typeface="Calibri"/>
              </a:rPr>
              <a:t>2,18x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10972800" y="2679191"/>
            <a:ext cx="438912" cy="246888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10991088" y="271576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6B5A"/>
                </a:solidFill>
                <a:latin typeface="Calibri"/>
              </a:rPr>
              <a:t>2,48x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11430000" y="2679191"/>
            <a:ext cx="438912" cy="246888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11448288" y="271576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6B5A"/>
                </a:solidFill>
                <a:latin typeface="Calibri"/>
              </a:rPr>
              <a:t>~1,7x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8046720" y="2953512"/>
            <a:ext cx="2450592" cy="246888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8101583" y="2990088"/>
            <a:ext cx="2340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B5A"/>
                </a:solidFill>
                <a:latin typeface="Calibri"/>
              </a:rPr>
              <a:t>Cob. Juros (EBIT/Desp Fin)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0515600" y="2953512"/>
            <a:ext cx="438912" cy="246888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0533888" y="299008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6B5A"/>
                </a:solidFill>
                <a:latin typeface="Calibri"/>
              </a:rPr>
              <a:t>4,1x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10972800" y="2953512"/>
            <a:ext cx="438912" cy="246888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10991088" y="299008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6B5A"/>
                </a:solidFill>
                <a:latin typeface="Calibri"/>
              </a:rPr>
              <a:t>2,5x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11430000" y="2953512"/>
            <a:ext cx="438912" cy="246888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1448288" y="299008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6B5A"/>
                </a:solidFill>
                <a:latin typeface="Calibri"/>
              </a:rPr>
              <a:t>3,2x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8046720" y="3227832"/>
            <a:ext cx="2450592" cy="246888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8101583" y="3264408"/>
            <a:ext cx="2340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B5A"/>
                </a:solidFill>
                <a:latin typeface="Calibri"/>
              </a:rPr>
              <a:t>Liquidez Corrente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10515600" y="3227832"/>
            <a:ext cx="438912" cy="246888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10533888" y="326440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6B5A"/>
                </a:solidFill>
                <a:latin typeface="Calibri"/>
              </a:rPr>
              <a:t>1,73x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10972800" y="3227832"/>
            <a:ext cx="438912" cy="246888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10991088" y="326440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6B5A"/>
                </a:solidFill>
                <a:latin typeface="Calibri"/>
              </a:rPr>
              <a:t>1,65x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11430000" y="3227832"/>
            <a:ext cx="438912" cy="246888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1448288" y="326440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6B5A"/>
                </a:solidFill>
                <a:latin typeface="Calibri"/>
              </a:rPr>
              <a:t>1,78x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8046720" y="3502152"/>
            <a:ext cx="2450592" cy="246888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8101583" y="3538728"/>
            <a:ext cx="2340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B5A"/>
                </a:solidFill>
                <a:latin typeface="Calibri"/>
              </a:rPr>
              <a:t>ND / PL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0515600" y="3502152"/>
            <a:ext cx="438912" cy="246888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0533888" y="353872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6B5A"/>
                </a:solidFill>
                <a:latin typeface="Calibri"/>
              </a:rPr>
              <a:t>0,52x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10972800" y="3502152"/>
            <a:ext cx="438912" cy="246888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0991088" y="353872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6B5A"/>
                </a:solidFill>
                <a:latin typeface="Calibri"/>
              </a:rPr>
              <a:t>0,73x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11430000" y="3502152"/>
            <a:ext cx="438912" cy="246888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11448288" y="3538728"/>
            <a:ext cx="402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6B5A"/>
                </a:solidFill>
                <a:latin typeface="Calibri"/>
              </a:rPr>
              <a:t>~0,60x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274320" y="4809744"/>
            <a:ext cx="11612880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347472" y="4837176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HISTORICO DE EMISSOES DE DEBENTURES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274320" y="5047488"/>
            <a:ext cx="181051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310896" y="5084064"/>
            <a:ext cx="17556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Emissao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2103120" y="5047488"/>
            <a:ext cx="80467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2139696" y="5084064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Emissao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2926079" y="5047488"/>
            <a:ext cx="80467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2962656" y="5084064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Vcto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3749039" y="5047488"/>
            <a:ext cx="89611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3785615" y="5084064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Remuneracao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663440" y="5047488"/>
            <a:ext cx="89611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4700016" y="5084064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Garantia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5577840" y="5047488"/>
            <a:ext cx="629107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5614416" y="5084064"/>
            <a:ext cx="6236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Observacoes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274320" y="5312664"/>
            <a:ext cx="181051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310896" y="5349240"/>
            <a:ext cx="1755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4a Emissao (NISS24)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2103120" y="5312664"/>
            <a:ext cx="80467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2139696" y="5349240"/>
            <a:ext cx="749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Jul/2022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2926079" y="5312664"/>
            <a:ext cx="80467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2962656" y="5349240"/>
            <a:ext cx="749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Jul/2026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3749039" y="5312664"/>
            <a:ext cx="89611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3785615" y="5349240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CDI+2,80%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663440" y="5312664"/>
            <a:ext cx="89611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4700016" y="5349240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Real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5577840" y="5312664"/>
            <a:ext cx="629107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5614416" y="5349240"/>
            <a:ext cx="6236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Amort. trimestral — em curso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274320" y="5605272"/>
            <a:ext cx="18105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310896" y="5641848"/>
            <a:ext cx="1755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6a Emissao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2103120" y="5605272"/>
            <a:ext cx="80467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2139696" y="5641848"/>
            <a:ext cx="749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Nov/2024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2926079" y="5605272"/>
            <a:ext cx="80467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2962656" y="5641848"/>
            <a:ext cx="749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Nov/2029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3749039" y="5605272"/>
            <a:ext cx="8961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3785615" y="5641848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CDI+3,00%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4663440" y="5605272"/>
            <a:ext cx="8961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4700016" y="5641848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A definir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5577840" y="5605272"/>
            <a:ext cx="629107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5614416" y="5641848"/>
            <a:ext cx="6236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R$ 80 MM — refinanciamento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274320" y="5897879"/>
            <a:ext cx="1810512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310896" y="5934455"/>
            <a:ext cx="1755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7a Emissao (ATUAL)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2103120" y="5897879"/>
            <a:ext cx="804672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2139696" y="5934455"/>
            <a:ext cx="749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Abr/2025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2926079" y="5897879"/>
            <a:ext cx="804672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2962656" y="5934455"/>
            <a:ext cx="749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Abr/2031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3749039" y="5897879"/>
            <a:ext cx="896112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3785615" y="5934455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CDI+2,45%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4663440" y="5897879"/>
            <a:ext cx="896112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4700016" y="5934455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F3D"/>
                </a:solidFill>
                <a:latin typeface="Calibri"/>
              </a:rPr>
              <a:t>A definir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5577840" y="5897879"/>
            <a:ext cx="6291072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5614416" y="5934455"/>
            <a:ext cx="6236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R$ 200 MM — CWG + refinanc.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V. Painel de Indices de Credito — Analise Consolidada (Modelo VCA)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  <a:latin typeface="Calibri"/>
              </a:rPr>
              <a:t>Fonte: Releases RI Nissei | Covenants tipicos de debentures farmaceuticas — referencia de mercado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718096"/>
                </a:solidFill>
                <a:latin typeface="Calibri"/>
              </a:rPr>
              <a:t>Documento Confidencial — Uso Interno | Parecer de Credito Nissei | Dados: RI ri.nisseisa.com.br | Mar/2026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5623560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06424"/>
            <a:ext cx="55138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LIQUIDEZ CORRENTE (Ativo Circ. / Passivo Circ.)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35024"/>
            <a:ext cx="539496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335024"/>
            <a:ext cx="2900172" cy="4389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444752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9356" y="14447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F3D"/>
                </a:solidFill>
                <a:latin typeface="Georgia"/>
              </a:rPr>
              <a:t>1.73x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37943"/>
            <a:ext cx="539496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837943"/>
            <a:ext cx="2766059" cy="43891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1947672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5243" y="19476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748"/>
                </a:solidFill>
                <a:latin typeface="Georgia"/>
              </a:rPr>
              <a:t>1.65x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340864"/>
            <a:ext cx="539496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340864"/>
            <a:ext cx="2983992" cy="438912"/>
          </a:xfrm>
          <a:prstGeom prst="rect">
            <a:avLst/>
          </a:prstGeom>
          <a:solidFill>
            <a:srgbClr val="1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2450592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2025E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3176" y="245059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6B5A"/>
                </a:solidFill>
                <a:latin typeface="Georgia"/>
              </a:rPr>
              <a:t>1.78x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50720" y="1280160"/>
            <a:ext cx="27432" cy="1600200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3520" y="29443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97B06"/>
                </a:solidFill>
                <a:latin typeface="Calibri"/>
              </a:rPr>
              <a:t>Min. 1,0x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017520"/>
            <a:ext cx="5623560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044951"/>
            <a:ext cx="55138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DIVIDA LIQUIDA / EBITDA (Alavancagem)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273552"/>
            <a:ext cx="539496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273552"/>
            <a:ext cx="2436368" cy="43891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338328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5552" y="33832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  <a:latin typeface="Georgia"/>
              </a:rPr>
              <a:t>2.18x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776472"/>
            <a:ext cx="539496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776472"/>
            <a:ext cx="2771648" cy="43891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" y="388620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0832" y="38862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  <a:latin typeface="Georgia"/>
              </a:rPr>
              <a:t>2.48x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79392"/>
            <a:ext cx="539496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279392"/>
            <a:ext cx="1899919" cy="43891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" y="438912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2025E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29103" y="438912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  <a:latin typeface="Georgia"/>
              </a:rPr>
              <a:t>1.70x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85919" y="2962656"/>
            <a:ext cx="27432" cy="160020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4400" y="462686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53030"/>
                </a:solidFill>
                <a:latin typeface="Calibri"/>
              </a:rPr>
              <a:t>Covenant 3,5x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1078992"/>
            <a:ext cx="5971032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16752" y="1106424"/>
            <a:ext cx="58613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COBERTURA DE JUROS — EBIT / DESPESA FINANCEIRA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1335024"/>
            <a:ext cx="56692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43600" y="1335024"/>
            <a:ext cx="3749039" cy="43891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98464" y="1444752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2023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47504" y="14447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  <a:latin typeface="Georgia"/>
              </a:rPr>
              <a:t>4.10x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1837943"/>
            <a:ext cx="56692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0" y="1837943"/>
            <a:ext cx="2286000" cy="43891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8464" y="1947672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4464" y="19476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  <a:latin typeface="Georgia"/>
              </a:rPr>
              <a:t>2.50x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2340864"/>
            <a:ext cx="56692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43600" y="2340864"/>
            <a:ext cx="2926080" cy="43891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98464" y="2450592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2025E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24544" y="245059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  <a:latin typeface="Georgia"/>
              </a:rPr>
              <a:t>3.20x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1280160"/>
            <a:ext cx="27432" cy="1600200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84464" y="29443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97B06"/>
                </a:solidFill>
                <a:latin typeface="Calibri"/>
              </a:rPr>
              <a:t>Min. 2,5x (referencia)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3017520"/>
            <a:ext cx="5971032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16752" y="3044951"/>
            <a:ext cx="58613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DIVIDA LIQUIDA / PATRIMÔNIO LIQUIDO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273552"/>
            <a:ext cx="56692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43600" y="3273552"/>
            <a:ext cx="1426464" cy="43891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98464" y="338328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2023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24928" y="33832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  <a:latin typeface="Georgia"/>
              </a:rPr>
              <a:t>0.52x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0" y="3776472"/>
            <a:ext cx="56692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776472"/>
            <a:ext cx="2002536" cy="43891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8464" y="388620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01000" y="38862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  <a:latin typeface="Georgia"/>
              </a:rPr>
              <a:t>0.73x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43600" y="4279392"/>
            <a:ext cx="56692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43600" y="4279392"/>
            <a:ext cx="1645919" cy="43891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98464" y="438912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2025E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44384" y="438912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  <a:latin typeface="Georgia"/>
              </a:rPr>
              <a:t>0.60x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809744"/>
            <a:ext cx="11612880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7472" y="4837176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RESUMO DOS INDICES — SEMAFORO DE CREDITO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5047488"/>
            <a:ext cx="217627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0896" y="5084064"/>
            <a:ext cx="21214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INDICADOR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68879" y="5047488"/>
            <a:ext cx="62179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05456" y="5084064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2023A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08959" y="5047488"/>
            <a:ext cx="62179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45535" y="5084064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2024A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49039" y="5047488"/>
            <a:ext cx="62179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785615" y="5084064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2025E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89120" y="5047488"/>
            <a:ext cx="71323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25696" y="5084064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20640" y="5047488"/>
            <a:ext cx="135331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57216" y="5084064"/>
            <a:ext cx="12984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COVENANT REF.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5047488"/>
            <a:ext cx="4736592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28816" y="5084064"/>
            <a:ext cx="4681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AVALIACAO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5312664"/>
            <a:ext cx="217627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10896" y="5349240"/>
            <a:ext cx="21214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Liquidez Corrente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468879" y="5312664"/>
            <a:ext cx="6217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505456" y="5349240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1,73x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108959" y="5312664"/>
            <a:ext cx="6217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45535" y="5349240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1,65x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749039" y="5312664"/>
            <a:ext cx="6217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785615" y="5349240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1,78x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89120" y="5312664"/>
            <a:ext cx="7132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25696" y="5349240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120640" y="5312664"/>
            <a:ext cx="13533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157216" y="5349240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&gt; 1,0x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92240" y="5312664"/>
            <a:ext cx="47365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528816" y="5349240"/>
            <a:ext cx="4681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ADEQUADO — Cobre passivos circulantes com folga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5605272"/>
            <a:ext cx="217627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10896" y="5641848"/>
            <a:ext cx="21214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ND / EBITDA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468879" y="5605272"/>
            <a:ext cx="6217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505456" y="564184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2,18x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108959" y="5605272"/>
            <a:ext cx="6217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145535" y="564184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2,48x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49039" y="5605272"/>
            <a:ext cx="6217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785615" y="564184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~1,7x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89120" y="5605272"/>
            <a:ext cx="71323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425696" y="5641848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●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120640" y="5605272"/>
            <a:ext cx="13533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157216" y="564184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&lt; 3,5x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92240" y="5605272"/>
            <a:ext cx="47365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528816" y="5641848"/>
            <a:ext cx="4681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FAVORAVEL — Trajetoria de queda confirmada em 2025E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74320" y="5897879"/>
            <a:ext cx="217627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10896" y="5934455"/>
            <a:ext cx="21214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Cobertura de Juros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68879" y="5897879"/>
            <a:ext cx="6217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505456" y="5934455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4,10x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108959" y="5897879"/>
            <a:ext cx="6217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145535" y="5934455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2,50x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749039" y="5897879"/>
            <a:ext cx="6217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785615" y="5934455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3,20x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89120" y="5897879"/>
            <a:ext cx="7132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425696" y="5934455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97B06"/>
                </a:solidFill>
                <a:latin typeface="Calibri"/>
              </a:rPr>
              <a:t>●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120640" y="5897879"/>
            <a:ext cx="13533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157216" y="5934455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&gt; 2,5x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92240" y="5897879"/>
            <a:ext cx="47365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28816" y="5934455"/>
            <a:ext cx="4681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ADEQUADO — Recuperando com expansao do EBITDA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74320" y="6190488"/>
            <a:ext cx="217627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10896" y="6227064"/>
            <a:ext cx="21214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ND / PL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468879" y="6190488"/>
            <a:ext cx="6217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505456" y="6227064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0,52x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108959" y="6190488"/>
            <a:ext cx="6217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145535" y="6227064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0,73x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749039" y="6190488"/>
            <a:ext cx="6217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785615" y="6227064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~0,60x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389120" y="6190488"/>
            <a:ext cx="71323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425696" y="6227064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6749"/>
                </a:solidFill>
                <a:latin typeface="Calibri"/>
              </a:rPr>
              <a:t>●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120640" y="6190488"/>
            <a:ext cx="135331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157216" y="6227064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D3748"/>
                </a:solidFill>
                <a:latin typeface="Calibri"/>
              </a:rPr>
              <a:t>&lt; 1,5x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492240" y="6190488"/>
            <a:ext cx="4736592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28816" y="6227064"/>
            <a:ext cx="4681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CONFORTAVEL — Abaixo do limite de referencia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VI. Stress Test (3 Cenarios) + Scorecard de Rating + Recomendacao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  <a:latin typeface="Calibri"/>
              </a:rPr>
              <a:t>Etapa 5 (Rating Interno) + Etapa 6 (Comite) | Manual Analise de Credito v2025.1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718096"/>
                </a:solidFill>
                <a:latin typeface="Calibri"/>
              </a:rPr>
              <a:t>Documento Confidencial — Uso Interno | Parecer de Credito Nissei | Dados: RI ri.nisseisa.com.br | Mar/2026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11612880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06424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STRESS TEST — 3 CENARIOS (Base: EBITDA 2025 = R$ 252 MM)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35024"/>
            <a:ext cx="1051560" cy="64008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48132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3312" y="1335024"/>
            <a:ext cx="10533888" cy="64008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6464" y="1380744"/>
            <a:ext cx="10387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Receita +8% | EBITDA R$270MM | ND/EBITDA 1,6x | DSCR 2,4x | Cob.Juros 3,5x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1645920"/>
            <a:ext cx="10387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D3748"/>
                </a:solidFill>
                <a:latin typeface="Calibri"/>
              </a:rPr>
              <a:t>Estrutura de capital confortavel. Debentures com ampla margem de cobertura.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048256"/>
            <a:ext cx="1051560" cy="640080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19456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ESTRESSADO (-20% EBITDA)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3312" y="2048256"/>
            <a:ext cx="10533888" cy="6400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6464" y="2093976"/>
            <a:ext cx="10387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Receita +2% | EBITDA R$201MM | ND/EBITDA 2,8x | DSCR 1,6x | Cob.Juros 2,2x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2359152"/>
            <a:ext cx="10387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D3748"/>
                </a:solidFill>
                <a:latin typeface="Calibri"/>
              </a:rPr>
              <a:t>Abaixo do covenant de cobertura de juros (2,5x). Early warning ativado. Monitoramento reforçado.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761488"/>
            <a:ext cx="1051560" cy="64008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90779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SEVERO (-40% EBITDA)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53312" y="2761488"/>
            <a:ext cx="10533888" cy="64008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6464" y="2807208"/>
            <a:ext cx="10387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Receita -5% | EBITDA R$151MM | ND/EBITDA 3,7x | DSCR 0,9x | Cob.Juros 1,4x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3072384"/>
            <a:ext cx="10387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D3748"/>
                </a:solidFill>
                <a:latin typeface="Calibri"/>
              </a:rPr>
              <a:t>Breach de covenant ND/EBITDA (3,5x). Refinanciamento ou aporte necessario. Aceleracao prevista.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602736"/>
            <a:ext cx="5623560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630168"/>
            <a:ext cx="55138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SCORECARD DE RATING INTERNO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58768"/>
            <a:ext cx="292608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3913631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Qualidade do Negocio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3913631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48456" y="3913631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50791" y="3913631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53128" y="3913631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55464" y="3913631"/>
            <a:ext cx="347472" cy="18288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85232" y="3913631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4/5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06240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42611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Historico de Credito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4261103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48456" y="4261103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0791" y="4261103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53128" y="4261103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855464" y="4261103"/>
            <a:ext cx="347472" cy="18288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85232" y="4261103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4/5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553712"/>
            <a:ext cx="292608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4608575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Liquidez e Solvencia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46120" y="4608575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48456" y="4608575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50791" y="4608575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53128" y="4608575"/>
            <a:ext cx="347472" cy="18288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55464" y="4608575"/>
            <a:ext cx="347472" cy="18288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85232" y="4608575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3/5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901183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" y="495604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Alavancagem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46120" y="4956047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48456" y="4956047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50791" y="4956047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53128" y="4956047"/>
            <a:ext cx="347472" cy="18288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855464" y="4956047"/>
            <a:ext cx="347472" cy="18288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85232" y="4956047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3/5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248656"/>
            <a:ext cx="292608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7472" y="5303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Governanca / ESG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46120" y="5303520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48456" y="5303520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50791" y="5303520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53128" y="5303520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855464" y="5303520"/>
            <a:ext cx="347472" cy="18288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85232" y="5303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4/5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5596127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7472" y="5650991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Qualidade das Garantias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46120" y="5650991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48456" y="5650991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050791" y="5650991"/>
            <a:ext cx="347472" cy="1828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453128" y="5650991"/>
            <a:ext cx="347472" cy="18288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855464" y="5650991"/>
            <a:ext cx="347472" cy="18288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85232" y="5650991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3/5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5943600"/>
            <a:ext cx="5623560" cy="310896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9184" y="5989320"/>
            <a:ext cx="5458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53"/>
                </a:solidFill>
                <a:latin typeface="Calibri"/>
              </a:rPr>
              <a:t>RATING INTERNO PROPOSTO:   A-   (Grau de Investimento — Risco Baixo-Moderado)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43600" y="3602736"/>
            <a:ext cx="5971032" cy="20116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16752" y="3630168"/>
            <a:ext cx="58613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RECOMENDACAO FINAL DO COMITE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3858768"/>
            <a:ext cx="5971032" cy="493776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943600" y="3858768"/>
            <a:ext cx="91440" cy="493776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089904" y="3931920"/>
            <a:ext cx="571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6749"/>
                </a:solidFill>
                <a:latin typeface="Calibri"/>
              </a:rPr>
              <a:t>✓  APROVADO — Prosseguir com a 7a Emissao de Debentures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43600" y="4425696"/>
            <a:ext cx="5897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F3D"/>
                </a:solidFill>
                <a:latin typeface="Calibri"/>
              </a:rPr>
              <a:t>  ▸  Volume: R$ 200 MM | Taxa: CDI + 2,45% a.a. | Prazo: 6 anos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43600" y="4727448"/>
            <a:ext cx="5897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F3D"/>
                </a:solidFill>
                <a:latin typeface="Calibri"/>
              </a:rPr>
              <a:t>  ▸  Alavancagem em trajetoria de queda (~1,7x 2025E) — abaixo do covenant de 3,5x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43600" y="5029200"/>
            <a:ext cx="5897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F3D"/>
                </a:solidFill>
                <a:latin typeface="Calibri"/>
              </a:rPr>
              <a:t>  ▸  Setor defensivo (farmácias) com demanda inelástica e alta previsibilidade de receita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0" y="5330952"/>
            <a:ext cx="5897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F3D"/>
                </a:solidFill>
                <a:latin typeface="Calibri"/>
              </a:rPr>
              <a:t>  ▸  Lideranca regional consolidada no Parana (20% MS estado / 26% MS Curitiba)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43600" y="5632704"/>
            <a:ext cx="5897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F3D"/>
                </a:solidFill>
                <a:latin typeface="Calibri"/>
              </a:rPr>
              <a:t>  ▸  EBITDA com crescimento de +36,4% a/a demonstra rentabilizacao pos-expansao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43600" y="5980176"/>
            <a:ext cx="5897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B06"/>
                </a:solidFill>
                <a:latin typeface="Calibri"/>
              </a:rPr>
              <a:t>Condicionalidades recomendadas: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43600" y="6181344"/>
            <a:ext cx="5897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D3748"/>
                </a:solidFill>
                <a:latin typeface="Calibri"/>
              </a:rPr>
              <a:t>Monitoramento trimestral de ND/EBITDA | Covenant: ND/EBITDA &lt; 3,5x | Cobertura de Juros &gt; 2,5x | Relatorios CVM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