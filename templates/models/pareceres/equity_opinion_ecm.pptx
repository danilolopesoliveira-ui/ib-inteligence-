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754880"/>
            <a:ext cx="12188952" cy="210312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92608" y="822960"/>
            <a:ext cx="64008" cy="3840480"/>
          </a:xfrm>
          <a:prstGeom prst="rect">
            <a:avLst/>
          </a:prstGeom>
          <a:solidFill>
            <a:srgbClr val="D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822960"/>
            <a:ext cx="91440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Georgia"/>
              </a:rPr>
              <a:t>EQUITY OPINION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444752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D4A853"/>
                </a:solidFill>
                <a:latin typeface="Georgia"/>
              </a:rPr>
              <a:t>Analise de Valuation e Estrutura de Oferta — ECM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874519"/>
            <a:ext cx="4389120" cy="27432"/>
          </a:xfrm>
          <a:prstGeom prst="rect">
            <a:avLst/>
          </a:prstGeom>
          <a:solidFill>
            <a:srgbClr val="D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2029968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[NOME DA EMPRESA] | [IPO / FOLLOW-ON / BLOCK TRADE]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450592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2E8F0"/>
                </a:solidFill>
                <a:latin typeface="Calibri"/>
              </a:rPr>
              <a:t>Faixa: R$[__]—R$[__] por acao  |  Equity Value: R$[__]Bi  |  EV/EBITDA NTM: [__]x  |  Free Float: [__]%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779776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718096"/>
                </a:solidFill>
                <a:latin typeface="Calibri"/>
              </a:rPr>
              <a:t>Segmento: [Novo Mercado/Nivel 2]  |  Regime: [RCVM 160 art.3o / CVM 400]  |  Coord.: [Nome]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3108960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18096"/>
                </a:solidFill>
                <a:latin typeface="Calibri"/>
              </a:rPr>
              <a:t>Analista: ________________  |  MD: ________________  |  Data: ___/___/______  |  Status: [Pre-Marketing/Bookbuilding]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3511296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718096"/>
                </a:solidFill>
                <a:latin typeface="Calibri"/>
              </a:rPr>
              <a:t>COBERTURA: Sec.1 Intro | Sec.2 Participantes | Sec.3 Tipos | Sec.4 Processo 8 Fases | Sec.5 Valuation | Sec.6 Pricing | Sec.7 DD | Sec.8 Regulacao | Sec.9 Modelo | Sec.10 Risco | Sec.11 Otimizacao | Sec.12 Flags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2608" y="489204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718096"/>
                </a:solidFill>
                <a:latin typeface="Calibri"/>
              </a:rPr>
              <a:t>CONFIDENCIAL — Destinado a membros do Comite de Pricing e Investidores Qualificados (RCVM 160/2022).
Nao constitui oferta publica de valores mobiliarios.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F1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116128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Georgia"/>
              </a:rPr>
              <a:t>I. Sumario Executivo — Equity Story, Football Field e Recomendacao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94944"/>
            <a:ext cx="11612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E2E8F0"/>
                </a:solidFill>
                <a:latin typeface="Calibri"/>
              </a:rPr>
              <a:t>Manual Sec. 5.1 e 5.4 (Football Field) + Sec. 6.1 (Faixa de Preco) | Pyramid Principle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960120"/>
            <a:ext cx="12188952" cy="18288"/>
          </a:xfrm>
          <a:prstGeom prst="rect">
            <a:avLst/>
          </a:prstGeom>
          <a:solidFill>
            <a:srgbClr val="A0AE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56248"/>
            <a:ext cx="114300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1">
                <a:solidFill>
                  <a:srgbClr val="718096"/>
                </a:solidFill>
                <a:latin typeface="Calibri"/>
              </a:rPr>
              <a:t>Equity Opinion ECM | Manual ECM IB v1.0 (Secoes 1-13) | Repositorio Premissas Base v1.0 (Mar/2026)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1078992"/>
            <a:ext cx="11612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F1F3D"/>
                </a:solidFill>
                <a:latin typeface="Calibri"/>
              </a:rPr>
              <a:t>EQUITY STORY — BIG IDEA (Pyramid Principle — 1 frase conclusiva):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298448"/>
            <a:ext cx="11612880" cy="40233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80" y="1335024"/>
            <a:ext cx="11338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0F1F3D"/>
                </a:solidFill>
                <a:latin typeface="Calibri"/>
              </a:rPr>
              <a:t>[Empresa lider em [setor] com CAGR de [X]%, margem EBITDA de [X]% e share de [X]% em mercado de R$[X]Bi — oferta de R$[X]Bi ao EV/EBITDA NTM de [X]x com desconto de [X]% vs. peers, gerando upside de [X]% ao preco justo.]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1783080"/>
            <a:ext cx="6583680" cy="210312"/>
          </a:xfrm>
          <a:prstGeom prst="rect">
            <a:avLst/>
          </a:prstGeom>
          <a:solidFill>
            <a:srgbClr val="0F1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7472" y="1810512"/>
            <a:ext cx="647395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FOOTBALL FIELD — FAIXA DE VALUATION POR METODO (Manual Sec. 5.4 | Aba 6-7 Excel)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" y="2139696"/>
            <a:ext cx="2606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2D3748"/>
                </a:solidFill>
                <a:latin typeface="Calibri"/>
              </a:rPr>
              <a:t>DCF (WACC [__]%, g [__]%, TV [__]%)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07792" y="2139696"/>
            <a:ext cx="685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718096"/>
                </a:solidFill>
                <a:latin typeface="Calibri"/>
              </a:rPr>
              <a:t>Base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18000" y="2103120"/>
            <a:ext cx="1188720" cy="274320"/>
          </a:xfrm>
          <a:prstGeom prst="rect">
            <a:avLst/>
          </a:prstGeom>
          <a:solidFill>
            <a:srgbClr val="0F1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860800" y="2139696"/>
            <a:ext cx="43891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 i="0">
                <a:solidFill>
                  <a:srgbClr val="718096"/>
                </a:solidFill>
                <a:latin typeface="Calibri"/>
              </a:rPr>
              <a:t>R$[min]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34152" y="2139696"/>
            <a:ext cx="43891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718096"/>
                </a:solidFill>
                <a:latin typeface="Calibri"/>
              </a:rPr>
              <a:t>R$[max]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20" y="2560320"/>
            <a:ext cx="2606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2D3748"/>
                </a:solidFill>
                <a:latin typeface="Calibri"/>
              </a:rPr>
              <a:t>EV/EBITDA Peers LTM ([__]x P25-P75)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7792" y="2560320"/>
            <a:ext cx="685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718096"/>
                </a:solidFill>
                <a:latin typeface="Calibri"/>
              </a:rPr>
              <a:t>Relativo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318000" y="2523744"/>
            <a:ext cx="1188720" cy="27432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860800" y="2560320"/>
            <a:ext cx="43891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 i="0">
                <a:solidFill>
                  <a:srgbClr val="718096"/>
                </a:solidFill>
                <a:latin typeface="Calibri"/>
              </a:rPr>
              <a:t>R$[min]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534152" y="2560320"/>
            <a:ext cx="43891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718096"/>
                </a:solidFill>
                <a:latin typeface="Calibri"/>
              </a:rPr>
              <a:t>R$[max]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74320" y="2980944"/>
            <a:ext cx="2606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2D3748"/>
                </a:solidFill>
                <a:latin typeface="Calibri"/>
              </a:rPr>
              <a:t>EV/EBITDA Peers NTM ([__]x P25-P75)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907792" y="2980944"/>
            <a:ext cx="685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718096"/>
                </a:solidFill>
                <a:latin typeface="Calibri"/>
              </a:rPr>
              <a:t>Relativo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318000" y="2944368"/>
            <a:ext cx="1188720" cy="27432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860800" y="2980944"/>
            <a:ext cx="43891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 i="0">
                <a:solidFill>
                  <a:srgbClr val="718096"/>
                </a:solidFill>
                <a:latin typeface="Calibri"/>
              </a:rPr>
              <a:t>R$[min]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534152" y="2980944"/>
            <a:ext cx="43891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718096"/>
                </a:solidFill>
                <a:latin typeface="Calibri"/>
              </a:rPr>
              <a:t>R$[max]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74320" y="3401568"/>
            <a:ext cx="2606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2D3748"/>
                </a:solidFill>
                <a:latin typeface="Calibri"/>
              </a:rPr>
              <a:t>P/E Peers NTM ([__]x P25-P75)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907792" y="3401568"/>
            <a:ext cx="685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718096"/>
                </a:solidFill>
                <a:latin typeface="Calibri"/>
              </a:rPr>
              <a:t>Relativo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318000" y="3364992"/>
            <a:ext cx="1188720" cy="274320"/>
          </a:xfrm>
          <a:prstGeom prst="rect">
            <a:avLst/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860800" y="3401568"/>
            <a:ext cx="43891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 i="0">
                <a:solidFill>
                  <a:srgbClr val="718096"/>
                </a:solidFill>
                <a:latin typeface="Calibri"/>
              </a:rPr>
              <a:t>R$[min]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534152" y="3401568"/>
            <a:ext cx="43891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718096"/>
                </a:solidFill>
                <a:latin typeface="Calibri"/>
              </a:rPr>
              <a:t>R$[max]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74320" y="3822191"/>
            <a:ext cx="2606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2D3748"/>
                </a:solidFill>
                <a:latin typeface="Calibri"/>
              </a:rPr>
              <a:t>Transacoes Precedentes ([__]x mediana)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907792" y="3822191"/>
            <a:ext cx="685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718096"/>
                </a:solidFill>
                <a:latin typeface="Calibri"/>
              </a:rPr>
              <a:t>Transacao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318000" y="3785615"/>
            <a:ext cx="1188720" cy="274320"/>
          </a:xfrm>
          <a:prstGeom prst="rect">
            <a:avLst/>
          </a:prstGeom>
          <a:solidFill>
            <a:srgbClr val="718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860800" y="3822191"/>
            <a:ext cx="43891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 i="0">
                <a:solidFill>
                  <a:srgbClr val="718096"/>
                </a:solidFill>
                <a:latin typeface="Calibri"/>
              </a:rPr>
              <a:t>R$[min]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534152" y="3822191"/>
            <a:ext cx="43891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718096"/>
                </a:solidFill>
                <a:latin typeface="Calibri"/>
              </a:rPr>
              <a:t>R$[max]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74320" y="4242816"/>
            <a:ext cx="2606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2D3748"/>
                </a:solidFill>
                <a:latin typeface="Calibri"/>
              </a:rPr>
              <a:t>DDM — Dividend Discount Model (g=[__]%)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907792" y="4242816"/>
            <a:ext cx="685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718096"/>
                </a:solidFill>
                <a:latin typeface="Calibri"/>
              </a:rPr>
              <a:t>Dividendo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318000" y="4206240"/>
            <a:ext cx="1188720" cy="274320"/>
          </a:xfrm>
          <a:prstGeom prst="rect">
            <a:avLst/>
          </a:prstGeom>
          <a:solidFill>
            <a:srgbClr val="718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860800" y="4242816"/>
            <a:ext cx="43891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 i="0">
                <a:solidFill>
                  <a:srgbClr val="718096"/>
                </a:solidFill>
                <a:latin typeface="Calibri"/>
              </a:rPr>
              <a:t>R$[min]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534152" y="4242816"/>
            <a:ext cx="43891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718096"/>
                </a:solidFill>
                <a:latin typeface="Calibri"/>
              </a:rPr>
              <a:t>R$[max]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648200" y="2011680"/>
            <a:ext cx="45720" cy="2651760"/>
          </a:xfrm>
          <a:prstGeom prst="rect">
            <a:avLst/>
          </a:prstGeom>
          <a:solidFill>
            <a:srgbClr val="D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099560" y="4736592"/>
            <a:ext cx="594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D4A853"/>
                </a:solidFill>
                <a:latin typeface="Calibri"/>
              </a:rPr>
              <a:t>Faixa proposta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040880" y="1783080"/>
            <a:ext cx="4846320" cy="210312"/>
          </a:xfrm>
          <a:prstGeom prst="rect">
            <a:avLst/>
          </a:prstGeom>
          <a:solidFill>
            <a:srgbClr val="0F1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114032" y="1810512"/>
            <a:ext cx="473659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PARAMETROS DA OFERTA (Aba 8 Excel)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040880" y="2048256"/>
            <a:ext cx="1920240" cy="31089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114032" y="2103120"/>
            <a:ext cx="1828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0F1F3D"/>
                </a:solidFill>
                <a:latin typeface="Calibri"/>
              </a:rPr>
              <a:t>Faixa Indicativa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988552" y="2103120"/>
            <a:ext cx="285292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D3748"/>
                </a:solidFill>
                <a:latin typeface="Calibri"/>
              </a:rPr>
              <a:t>R$[__] — R$[__] por acao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040880" y="2395728"/>
            <a:ext cx="1920240" cy="3108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114032" y="2450592"/>
            <a:ext cx="1828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0F1F3D"/>
                </a:solidFill>
                <a:latin typeface="Calibri"/>
              </a:rPr>
              <a:t>Equity Value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988552" y="2450592"/>
            <a:ext cx="285292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D3748"/>
                </a:solidFill>
                <a:latin typeface="Calibri"/>
              </a:rPr>
              <a:t>R$[__]Bi — R$[__]Bi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040880" y="2743200"/>
            <a:ext cx="1920240" cy="31089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114032" y="2798064"/>
            <a:ext cx="1828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0F1F3D"/>
                </a:solidFill>
                <a:latin typeface="Calibri"/>
              </a:rPr>
              <a:t>Enterprise Value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988552" y="2798064"/>
            <a:ext cx="285292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D3748"/>
                </a:solidFill>
                <a:latin typeface="Calibri"/>
              </a:rPr>
              <a:t>R$[__]Bi — R$[__]Bi</a:t>
            </a:r>
          </a:p>
        </p:txBody>
      </p:sp>
      <p:sp>
        <p:nvSpPr>
          <p:cNvPr id="57" name="Rectangle 56"/>
          <p:cNvSpPr/>
          <p:nvPr/>
        </p:nvSpPr>
        <p:spPr>
          <a:xfrm>
            <a:off x="7040880" y="3090672"/>
            <a:ext cx="1920240" cy="3108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114032" y="3145536"/>
            <a:ext cx="1828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0F1F3D"/>
                </a:solidFill>
                <a:latin typeface="Calibri"/>
              </a:rPr>
              <a:t>EV/EBITDA NTM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988552" y="3145536"/>
            <a:ext cx="285292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D3748"/>
                </a:solidFill>
                <a:latin typeface="Calibri"/>
              </a:rPr>
              <a:t>[__]x — [__]x | Peers: [__]x</a:t>
            </a:r>
          </a:p>
        </p:txBody>
      </p:sp>
      <p:sp>
        <p:nvSpPr>
          <p:cNvPr id="60" name="Rectangle 59"/>
          <p:cNvSpPr/>
          <p:nvPr/>
        </p:nvSpPr>
        <p:spPr>
          <a:xfrm>
            <a:off x="7040880" y="3438144"/>
            <a:ext cx="1920240" cy="31089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7114032" y="3493008"/>
            <a:ext cx="1828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0F1F3D"/>
                </a:solidFill>
                <a:latin typeface="Calibri"/>
              </a:rPr>
              <a:t>P/E NTM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988552" y="3493008"/>
            <a:ext cx="285292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D3748"/>
                </a:solidFill>
                <a:latin typeface="Calibri"/>
              </a:rPr>
              <a:t>[__]x — [__]x | Peers: [__]x</a:t>
            </a:r>
          </a:p>
        </p:txBody>
      </p:sp>
      <p:sp>
        <p:nvSpPr>
          <p:cNvPr id="63" name="Rectangle 62"/>
          <p:cNvSpPr/>
          <p:nvPr/>
        </p:nvSpPr>
        <p:spPr>
          <a:xfrm>
            <a:off x="7040880" y="3785616"/>
            <a:ext cx="1920240" cy="3108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7114032" y="3840480"/>
            <a:ext cx="1828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0F1F3D"/>
                </a:solidFill>
                <a:latin typeface="Calibri"/>
              </a:rPr>
              <a:t>Upside vs. Fair Value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988552" y="3840480"/>
            <a:ext cx="285292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D3748"/>
                </a:solidFill>
                <a:latin typeface="Calibri"/>
              </a:rPr>
              <a:t>[__]% — [__]%</a:t>
            </a:r>
          </a:p>
        </p:txBody>
      </p:sp>
      <p:sp>
        <p:nvSpPr>
          <p:cNvPr id="66" name="Rectangle 65"/>
          <p:cNvSpPr/>
          <p:nvPr/>
        </p:nvSpPr>
        <p:spPr>
          <a:xfrm>
            <a:off x="7040880" y="4133088"/>
            <a:ext cx="1920240" cy="31089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7114032" y="4187952"/>
            <a:ext cx="1828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0F1F3D"/>
                </a:solidFill>
                <a:latin typeface="Calibri"/>
              </a:rPr>
              <a:t>Volume Base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988552" y="4187952"/>
            <a:ext cx="285292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D3748"/>
                </a:solidFill>
                <a:latin typeface="Calibri"/>
              </a:rPr>
              <a:t>R$[__]Bi | c/ Greenshoe: R$[__]Bi</a:t>
            </a:r>
          </a:p>
        </p:txBody>
      </p:sp>
      <p:sp>
        <p:nvSpPr>
          <p:cNvPr id="69" name="Rectangle 68"/>
          <p:cNvSpPr/>
          <p:nvPr/>
        </p:nvSpPr>
        <p:spPr>
          <a:xfrm>
            <a:off x="7040880" y="4480560"/>
            <a:ext cx="1920240" cy="3108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7114032" y="4535424"/>
            <a:ext cx="1828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0F1F3D"/>
                </a:solidFill>
                <a:latin typeface="Calibri"/>
              </a:rPr>
              <a:t>Free Float pos-oferta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988552" y="4535424"/>
            <a:ext cx="285292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D3748"/>
                </a:solidFill>
                <a:latin typeface="Calibri"/>
              </a:rPr>
              <a:t>[__]% base | [__]% c/ greenshoe</a:t>
            </a:r>
          </a:p>
        </p:txBody>
      </p:sp>
      <p:sp>
        <p:nvSpPr>
          <p:cNvPr id="72" name="Rectangle 71"/>
          <p:cNvSpPr/>
          <p:nvPr/>
        </p:nvSpPr>
        <p:spPr>
          <a:xfrm>
            <a:off x="7040880" y="4828032"/>
            <a:ext cx="1920240" cy="31089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7114032" y="4882896"/>
            <a:ext cx="1828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0F1F3D"/>
                </a:solidFill>
                <a:latin typeface="Calibri"/>
              </a:rPr>
              <a:t>Oferta Primaria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8988552" y="4882896"/>
            <a:ext cx="285292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D3748"/>
                </a:solidFill>
                <a:latin typeface="Calibri"/>
              </a:rPr>
              <a:t>R$[__]M — [__]M acoes novas</a:t>
            </a:r>
          </a:p>
        </p:txBody>
      </p:sp>
      <p:sp>
        <p:nvSpPr>
          <p:cNvPr id="75" name="Rectangle 74"/>
          <p:cNvSpPr/>
          <p:nvPr/>
        </p:nvSpPr>
        <p:spPr>
          <a:xfrm>
            <a:off x="7040880" y="5175504"/>
            <a:ext cx="1920240" cy="3108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7114032" y="5230368"/>
            <a:ext cx="1828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0F1F3D"/>
                </a:solidFill>
                <a:latin typeface="Calibri"/>
              </a:rPr>
              <a:t>Oferta Secundaria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8988552" y="5230368"/>
            <a:ext cx="285292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D3748"/>
                </a:solidFill>
                <a:latin typeface="Calibri"/>
              </a:rPr>
              <a:t>R$[__]M — [__]M acoes vendedores</a:t>
            </a:r>
          </a:p>
        </p:txBody>
      </p:sp>
      <p:sp>
        <p:nvSpPr>
          <p:cNvPr id="78" name="Rectangle 77"/>
          <p:cNvSpPr/>
          <p:nvPr/>
        </p:nvSpPr>
        <p:spPr>
          <a:xfrm>
            <a:off x="274320" y="5413248"/>
            <a:ext cx="11612880" cy="210312"/>
          </a:xfrm>
          <a:prstGeom prst="rect">
            <a:avLst/>
          </a:prstGeom>
          <a:solidFill>
            <a:srgbClr val="0F1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347472" y="5440680"/>
            <a:ext cx="1150315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3 RAZOES PARA INVESTIR (Pyramid Principle)</a:t>
            </a:r>
          </a:p>
        </p:txBody>
      </p:sp>
      <p:sp>
        <p:nvSpPr>
          <p:cNvPr id="80" name="Rectangle 79"/>
          <p:cNvSpPr/>
          <p:nvPr/>
        </p:nvSpPr>
        <p:spPr>
          <a:xfrm>
            <a:off x="274320" y="5669280"/>
            <a:ext cx="292608" cy="292608"/>
          </a:xfrm>
          <a:prstGeom prst="rect">
            <a:avLst/>
          </a:prstGeom>
          <a:solidFill>
            <a:srgbClr val="D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274320" y="5669280"/>
            <a:ext cx="2926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F1F3D"/>
                </a:solidFill>
                <a:latin typeface="Georgia"/>
              </a:rPr>
              <a:t>1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640080" y="5715000"/>
            <a:ext cx="11155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D3748"/>
                </a:solidFill>
                <a:latin typeface="Calibri"/>
              </a:rPr>
              <a:t>[Razao 1 — Headline conclusivo: ex: 'CAGR de 22% sustentado por expansao contratada — ROI de 28%aa']</a:t>
            </a:r>
          </a:p>
        </p:txBody>
      </p:sp>
      <p:sp>
        <p:nvSpPr>
          <p:cNvPr id="83" name="Rectangle 82"/>
          <p:cNvSpPr/>
          <p:nvPr/>
        </p:nvSpPr>
        <p:spPr>
          <a:xfrm>
            <a:off x="274320" y="6062472"/>
            <a:ext cx="292608" cy="292608"/>
          </a:xfrm>
          <a:prstGeom prst="rect">
            <a:avLst/>
          </a:prstGeom>
          <a:solidFill>
            <a:srgbClr val="D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274320" y="6062472"/>
            <a:ext cx="2926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F1F3D"/>
                </a:solidFill>
                <a:latin typeface="Georgia"/>
              </a:rPr>
              <a:t>2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640080" y="6108192"/>
            <a:ext cx="11155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D3748"/>
                </a:solidFill>
                <a:latin typeface="Calibri"/>
              </a:rPr>
              <a:t>[Razao 2 — Headline conclusivo: ex: 'Margem EBITDA de 28% acima do peer group — pricing power comprovado em ciclos adversos']</a:t>
            </a:r>
          </a:p>
        </p:txBody>
      </p:sp>
      <p:sp>
        <p:nvSpPr>
          <p:cNvPr id="86" name="Rectangle 85"/>
          <p:cNvSpPr/>
          <p:nvPr/>
        </p:nvSpPr>
        <p:spPr>
          <a:xfrm>
            <a:off x="274320" y="6455664"/>
            <a:ext cx="292608" cy="292608"/>
          </a:xfrm>
          <a:prstGeom prst="rect">
            <a:avLst/>
          </a:prstGeom>
          <a:solidFill>
            <a:srgbClr val="D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274320" y="6455664"/>
            <a:ext cx="2926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F1F3D"/>
                </a:solidFill>
                <a:latin typeface="Georgia"/>
              </a:rPr>
              <a:t>3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640080" y="6501384"/>
            <a:ext cx="11155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D3748"/>
                </a:solidFill>
                <a:latin typeface="Calibri"/>
              </a:rPr>
              <a:t>[Razao 3 — Headline conclusivo: ex: 'Valuation com desconto de 15% vs. peers — upside de 35% ao preco justo do DCF']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F1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116128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Georgia"/>
              </a:rPr>
              <a:t>II. Participantes da Operacao e Tipos de Oferta ECM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94944"/>
            <a:ext cx="11612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E2E8F0"/>
                </a:solidFill>
                <a:latin typeface="Calibri"/>
              </a:rPr>
              <a:t>Manual Sec. 2 (Mapa de Agentes) + Sec. 3 (Taxonomia Completa) + Sec. 8 (Regulacao B3)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960120"/>
            <a:ext cx="12188952" cy="18288"/>
          </a:xfrm>
          <a:prstGeom prst="rect">
            <a:avLst/>
          </a:prstGeom>
          <a:solidFill>
            <a:srgbClr val="A0AE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56248"/>
            <a:ext cx="114300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1">
                <a:solidFill>
                  <a:srgbClr val="718096"/>
                </a:solidFill>
                <a:latin typeface="Calibri"/>
              </a:rPr>
              <a:t>Equity Opinion ECM | Manual ECM IB v1.0 (Secoes 1-13) | Repositorio Premissas Base v1.0 (Mar/2026)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078992"/>
            <a:ext cx="5669280" cy="210312"/>
          </a:xfrm>
          <a:prstGeom prst="rect">
            <a:avLst/>
          </a:prstGeom>
          <a:solidFill>
            <a:srgbClr val="0F1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7472" y="1106424"/>
            <a:ext cx="555955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MAPA DE PARTICIPANTES (Manual Sec. 2.1)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325880"/>
            <a:ext cx="1828800" cy="29260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7472" y="1380744"/>
            <a:ext cx="17190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0F1F3D"/>
                </a:solidFill>
                <a:latin typeface="Calibri"/>
              </a:rPr>
              <a:t>Emissor / Ofertante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39696" y="1380744"/>
            <a:ext cx="345643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D3748"/>
                </a:solidFill>
                <a:latin typeface="Calibri"/>
              </a:rPr>
              <a:t>[Nome da Empresa]  |  Acionistas vendedores: [Nomes]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1655064"/>
            <a:ext cx="1828800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7472" y="1709928"/>
            <a:ext cx="17190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0F1F3D"/>
                </a:solidFill>
                <a:latin typeface="Calibri"/>
              </a:rPr>
              <a:t>Coordenador Lider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39696" y="1709928"/>
            <a:ext cx="345643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D3748"/>
                </a:solidFill>
                <a:latin typeface="Calibri"/>
              </a:rPr>
              <a:t>[Nome do Banco]  |  Mandato: [Exclusivo/Conjunto]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1984248"/>
            <a:ext cx="1828800" cy="29260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47472" y="2039112"/>
            <a:ext cx="17190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0F1F3D"/>
                </a:solidFill>
                <a:latin typeface="Calibri"/>
              </a:rPr>
              <a:t>Coordenadores Consorciados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39696" y="2039112"/>
            <a:ext cx="345643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D3748"/>
                </a:solidFill>
                <a:latin typeface="Calibri"/>
              </a:rPr>
              <a:t>[Nome 1], [Nome 2]  |  Papel: co-distribuicao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2313432"/>
            <a:ext cx="1828800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47472" y="2368296"/>
            <a:ext cx="17190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0F1F3D"/>
                </a:solidFill>
                <a:latin typeface="Calibri"/>
              </a:rPr>
              <a:t>Agente Estabilizador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139696" y="2368296"/>
            <a:ext cx="345643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D3748"/>
                </a:solidFill>
                <a:latin typeface="Calibri"/>
              </a:rPr>
              <a:t>[Nome]  |  Greenshoe: ate [__]% | Prazo: 30 dias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" y="2642615"/>
            <a:ext cx="1828800" cy="29260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47472" y="2697479"/>
            <a:ext cx="17190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0F1F3D"/>
                </a:solidFill>
                <a:latin typeface="Calibri"/>
              </a:rPr>
              <a:t>Escriturador / Custodiante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139696" y="2697479"/>
            <a:ext cx="345643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D3748"/>
                </a:solidFill>
                <a:latin typeface="Calibri"/>
              </a:rPr>
              <a:t>[Nome]  |  CNPJ: [___]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4320" y="2971800"/>
            <a:ext cx="1828800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47472" y="3026664"/>
            <a:ext cx="17190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0F1F3D"/>
                </a:solidFill>
                <a:latin typeface="Calibri"/>
              </a:rPr>
              <a:t>Auditor Independente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139696" y="3026664"/>
            <a:ext cx="345643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D3748"/>
                </a:solidFill>
                <a:latin typeface="Calibri"/>
              </a:rPr>
              <a:t>[Nome]  |  Registro CVM: [___]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74320" y="3300984"/>
            <a:ext cx="1828800" cy="29260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47472" y="3355848"/>
            <a:ext cx="17190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0F1F3D"/>
                </a:solidFill>
                <a:latin typeface="Calibri"/>
              </a:rPr>
              <a:t>Advogados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139696" y="3355848"/>
            <a:ext cx="345643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D3748"/>
                </a:solidFill>
                <a:latin typeface="Calibri"/>
              </a:rPr>
              <a:t>[Empresa X] (emissor) | [Empresa Y] (bancos)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3630168"/>
            <a:ext cx="1828800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47472" y="3685031"/>
            <a:ext cx="17190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0F1F3D"/>
                </a:solidFill>
                <a:latin typeface="Calibri"/>
              </a:rPr>
              <a:t>CVM / B3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139696" y="3685031"/>
            <a:ext cx="345643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D3748"/>
                </a:solidFill>
                <a:latin typeface="Calibri"/>
              </a:rPr>
              <a:t>Registro: [numero]  |  Segmento: [Novo Mercado]  |  Ticker: [____]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080760" y="1078992"/>
            <a:ext cx="5833872" cy="210312"/>
          </a:xfrm>
          <a:prstGeom prst="rect">
            <a:avLst/>
          </a:prstGeom>
          <a:solidFill>
            <a:srgbClr val="0F1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153912" y="1106424"/>
            <a:ext cx="5724144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TIPO DE OPERACAO (Manual Sec. 3)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080760" y="1325880"/>
            <a:ext cx="5833872" cy="60350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144768" y="1508760"/>
            <a:ext cx="274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F3D"/>
                </a:solidFill>
                <a:latin typeface="Calibri"/>
              </a:rPr>
              <a:t>[ ]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64808" y="1380744"/>
            <a:ext cx="2286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F1F3D"/>
                </a:solidFill>
                <a:latin typeface="Calibri"/>
              </a:rPr>
              <a:t>IPO — Initial Public Offering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64808" y="1627632"/>
            <a:ext cx="5394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D3748"/>
                </a:solidFill>
                <a:latin typeface="Calibri"/>
              </a:rPr>
              <a:t>1a oferta de acoes | Oferta primaria + secundaria | RCVM 160 registro CVM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080760" y="1984248"/>
            <a:ext cx="5833872" cy="6035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144768" y="2167128"/>
            <a:ext cx="274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F3D"/>
                </a:solidFill>
                <a:latin typeface="Calibri"/>
              </a:rPr>
              <a:t>[ ]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64808" y="2039112"/>
            <a:ext cx="2286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F1F3D"/>
                </a:solidFill>
                <a:latin typeface="Calibri"/>
              </a:rPr>
              <a:t>Follow-on — Oferta Subsequente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64808" y="2286000"/>
            <a:ext cx="5394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D3748"/>
                </a:solidFill>
                <a:latin typeface="Calibri"/>
              </a:rPr>
              <a:t>ICVM 476 (restrita, &lt;5d) ou ICVM 160 ampla (&gt;5d) | Acao ja listada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080760" y="2642615"/>
            <a:ext cx="5833872" cy="60350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144768" y="2825496"/>
            <a:ext cx="274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F3D"/>
                </a:solidFill>
                <a:latin typeface="Calibri"/>
              </a:rPr>
              <a:t>[ ]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464808" y="2697479"/>
            <a:ext cx="2286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F1F3D"/>
                </a:solidFill>
                <a:latin typeface="Calibri"/>
              </a:rPr>
              <a:t>Block Trade — Aceleracao de Livro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464808" y="2944368"/>
            <a:ext cx="5394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D3748"/>
                </a:solidFill>
                <a:latin typeface="Calibri"/>
              </a:rPr>
              <a:t>Overnight, sem prospecto completo | Desconto 3-7% VWAP | Risco banco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080760" y="3300984"/>
            <a:ext cx="5833872" cy="6035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144768" y="3483864"/>
            <a:ext cx="274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F3D"/>
                </a:solidFill>
                <a:latin typeface="Calibri"/>
              </a:rPr>
              <a:t>[ ]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464808" y="3355848"/>
            <a:ext cx="2286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F1F3D"/>
                </a:solidFill>
                <a:latin typeface="Calibri"/>
              </a:rPr>
              <a:t>Greenshoe — Lote Suplementar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464808" y="3602736"/>
            <a:ext cx="5394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D3748"/>
                </a:solidFill>
                <a:latin typeface="Calibri"/>
              </a:rPr>
              <a:t>Ate 15% do lote base | Prazo 30 dias | Mecanismo de estabilizacao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080760" y="3959352"/>
            <a:ext cx="5833872" cy="60350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144768" y="4142232"/>
            <a:ext cx="274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F3D"/>
                </a:solidFill>
                <a:latin typeface="Calibri"/>
              </a:rPr>
              <a:t>[ ]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464808" y="4014215"/>
            <a:ext cx="2286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F1F3D"/>
                </a:solidFill>
                <a:latin typeface="Calibri"/>
              </a:rPr>
              <a:t>Deb. Conversiveis / CRI-CRA c/ Part.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464808" y="4261104"/>
            <a:ext cx="5394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D3748"/>
                </a:solidFill>
                <a:latin typeface="Calibri"/>
              </a:rPr>
              <a:t>Instrumento hibrido | Modelar diluicao e impacto no EPS</a:t>
            </a:r>
          </a:p>
        </p:txBody>
      </p:sp>
      <p:sp>
        <p:nvSpPr>
          <p:cNvPr id="57" name="Rectangle 56"/>
          <p:cNvSpPr/>
          <p:nvPr/>
        </p:nvSpPr>
        <p:spPr>
          <a:xfrm>
            <a:off x="274320" y="4453128"/>
            <a:ext cx="11612880" cy="210312"/>
          </a:xfrm>
          <a:prstGeom prst="rect">
            <a:avLst/>
          </a:prstGeom>
          <a:solidFill>
            <a:srgbClr val="0F1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347472" y="4480560"/>
            <a:ext cx="1150315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REGULACAO E SEGMENTOS B3 (Manual Sec. 8)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274320" y="4690872"/>
            <a:ext cx="11430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F1F3D"/>
                </a:solidFill>
                <a:latin typeface="Calibri"/>
              </a:rPr>
              <a:t>Marco regulatorio principal: RCVM 160/2022 | Lei 6.385/76 | Lei 6.404/76 | ANBIMA Codigo de Ofertas</a:t>
            </a:r>
          </a:p>
        </p:txBody>
      </p:sp>
      <p:sp>
        <p:nvSpPr>
          <p:cNvPr id="60" name="Rectangle 59"/>
          <p:cNvSpPr/>
          <p:nvPr/>
        </p:nvSpPr>
        <p:spPr>
          <a:xfrm>
            <a:off x="274320" y="4919472"/>
            <a:ext cx="2834640" cy="237744"/>
          </a:xfrm>
          <a:prstGeom prst="rect">
            <a:avLst/>
          </a:prstGeom>
          <a:solidFill>
            <a:srgbClr val="0F1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365760" y="4937760"/>
            <a:ext cx="2651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FFFFF"/>
                </a:solidFill>
                <a:latin typeface="Calibri"/>
              </a:rPr>
              <a:t>Novo Mercado — Padrao institucional maximo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65760" y="5193792"/>
            <a:ext cx="2651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2D3748"/>
                </a:solidFill>
                <a:latin typeface="Calibri"/>
              </a:rPr>
              <a:t>So acoes ON | FF min 25% | Tag-along 100% | Min 5 conselheiros (20% indep.)</a:t>
            </a:r>
          </a:p>
        </p:txBody>
      </p:sp>
      <p:sp>
        <p:nvSpPr>
          <p:cNvPr id="63" name="Rectangle 62"/>
          <p:cNvSpPr/>
          <p:nvPr/>
        </p:nvSpPr>
        <p:spPr>
          <a:xfrm>
            <a:off x="3200400" y="4919472"/>
            <a:ext cx="2834640" cy="237744"/>
          </a:xfrm>
          <a:prstGeom prst="rect">
            <a:avLst/>
          </a:prstGeom>
          <a:solidFill>
            <a:srgbClr val="0F1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3291840" y="4937760"/>
            <a:ext cx="2651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FFFFF"/>
                </a:solidFill>
                <a:latin typeface="Calibri"/>
              </a:rPr>
              <a:t>Nivel 2 — Acoes ON e PN com direitos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291840" y="5193792"/>
            <a:ext cx="2651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2D3748"/>
                </a:solidFill>
                <a:latin typeface="Calibri"/>
              </a:rPr>
              <a:t>Tag-along 100% ON+PN | Arbitragem obrigatorio | Maior flexibilidade</a:t>
            </a:r>
          </a:p>
        </p:txBody>
      </p:sp>
      <p:sp>
        <p:nvSpPr>
          <p:cNvPr id="66" name="Rectangle 65"/>
          <p:cNvSpPr/>
          <p:nvPr/>
        </p:nvSpPr>
        <p:spPr>
          <a:xfrm>
            <a:off x="6126480" y="4919472"/>
            <a:ext cx="2834640" cy="237744"/>
          </a:xfrm>
          <a:prstGeom prst="rect">
            <a:avLst/>
          </a:prstGeom>
          <a:solidFill>
            <a:srgbClr val="0F1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6217920" y="4937760"/>
            <a:ext cx="2651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FFFFF"/>
                </a:solidFill>
                <a:latin typeface="Calibri"/>
              </a:rPr>
              <a:t>Nivel 1 — Disclosure aprimorado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217920" y="5193792"/>
            <a:ext cx="2651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2D3748"/>
                </a:solidFill>
                <a:latin typeface="Calibri"/>
              </a:rPr>
              <a:t>FF min 25% | Reunioes publicas anuais | Liquidez minima</a:t>
            </a:r>
          </a:p>
        </p:txBody>
      </p:sp>
      <p:sp>
        <p:nvSpPr>
          <p:cNvPr id="69" name="Rectangle 68"/>
          <p:cNvSpPr/>
          <p:nvPr/>
        </p:nvSpPr>
        <p:spPr>
          <a:xfrm>
            <a:off x="9052560" y="4919472"/>
            <a:ext cx="2834640" cy="237744"/>
          </a:xfrm>
          <a:prstGeom prst="rect">
            <a:avLst/>
          </a:prstGeom>
          <a:solidFill>
            <a:srgbClr val="0F1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9144000" y="4937760"/>
            <a:ext cx="2651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FFFFF"/>
                </a:solidFill>
                <a:latin typeface="Calibri"/>
              </a:rPr>
              <a:t>EGEM (Emerging) — Empresas menores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9144000" y="5193792"/>
            <a:ext cx="2651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2D3748"/>
                </a:solidFill>
                <a:latin typeface="Calibri"/>
              </a:rPr>
              <a:t>FF min 15% | Procedimento simplificado | Isentos de alguns requisitos</a:t>
            </a:r>
          </a:p>
        </p:txBody>
      </p:sp>
      <p:sp>
        <p:nvSpPr>
          <p:cNvPr id="72" name="Rectangle 71"/>
          <p:cNvSpPr/>
          <p:nvPr/>
        </p:nvSpPr>
        <p:spPr>
          <a:xfrm>
            <a:off x="274320" y="5650992"/>
            <a:ext cx="11612880" cy="210312"/>
          </a:xfrm>
          <a:prstGeom prst="rect">
            <a:avLst/>
          </a:prstGeom>
          <a:solidFill>
            <a:srgbClr val="0F1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347472" y="5678424"/>
            <a:ext cx="1150315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COMPLIANCE — PERIODOS CRITICOS (Manual Sec. 8.3 e 4.1)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274320" y="5879592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D3748"/>
                </a:solidFill>
                <a:latin typeface="Calibri"/>
              </a:rPr>
              <a:t>Quiet period: [data inicio] — sem comunicacoes publicas sobre oferta  |  Periodo vedacao negociacao administradores: 15d antes resultados
Lock-up controladores: 180 dias pos-pricing  |  Lock-up administradores: 90 dias  |  Research embargo: 40 dias pos-pricing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F1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116128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Georgia"/>
              </a:rPr>
              <a:t>III. Desempenho Financeiro — DRE, Balanco, Fluxo e KPIs Operacionais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94944"/>
            <a:ext cx="11612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E2E8F0"/>
                </a:solidFill>
                <a:latin typeface="Calibri"/>
              </a:rPr>
              <a:t>Manual Sec. 7.2 (DD Financeira) | Modelo Excel Abas 2.DRE + 3.BALANCO + 4.FLUXO | Qualidade dos Lucros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960120"/>
            <a:ext cx="12188952" cy="18288"/>
          </a:xfrm>
          <a:prstGeom prst="rect">
            <a:avLst/>
          </a:prstGeom>
          <a:solidFill>
            <a:srgbClr val="A0AE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56248"/>
            <a:ext cx="114300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1">
                <a:solidFill>
                  <a:srgbClr val="718096"/>
                </a:solidFill>
                <a:latin typeface="Calibri"/>
              </a:rPr>
              <a:t>Equity Opinion ECM | Manual ECM IB v1.0 (Secoes 1-13) | Repositorio Premissas Base v1.0 (Mar/2026)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078992"/>
            <a:ext cx="1640694" cy="237744"/>
          </a:xfrm>
          <a:prstGeom prst="rect">
            <a:avLst/>
          </a:prstGeom>
          <a:solidFill>
            <a:srgbClr val="0F1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10896" y="1115568"/>
            <a:ext cx="158583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  <a:latin typeface="Calibri"/>
              </a:rPr>
              <a:t>Indicador (R$M)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933302" y="1078992"/>
            <a:ext cx="1640694" cy="237744"/>
          </a:xfrm>
          <a:prstGeom prst="rect">
            <a:avLst/>
          </a:prstGeom>
          <a:solidFill>
            <a:srgbClr val="0F1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969878" y="1115568"/>
            <a:ext cx="158583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  <a:latin typeface="Calibri"/>
              </a:rPr>
              <a:t>2022A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592285" y="1078992"/>
            <a:ext cx="1640694" cy="237744"/>
          </a:xfrm>
          <a:prstGeom prst="rect">
            <a:avLst/>
          </a:prstGeom>
          <a:solidFill>
            <a:srgbClr val="0F1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28861" y="1115568"/>
            <a:ext cx="158583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  <a:latin typeface="Calibri"/>
              </a:rPr>
              <a:t>2023A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251268" y="1078992"/>
            <a:ext cx="1640694" cy="237744"/>
          </a:xfrm>
          <a:prstGeom prst="rect">
            <a:avLst/>
          </a:prstGeom>
          <a:solidFill>
            <a:srgbClr val="0F1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287844" y="1115568"/>
            <a:ext cx="158583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  <a:latin typeface="Calibri"/>
              </a:rPr>
              <a:t>2024A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910251" y="1078992"/>
            <a:ext cx="1640694" cy="237744"/>
          </a:xfrm>
          <a:prstGeom prst="rect">
            <a:avLst/>
          </a:prstGeom>
          <a:solidFill>
            <a:srgbClr val="0F1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946827" y="1115568"/>
            <a:ext cx="158583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  <a:latin typeface="Calibri"/>
              </a:rPr>
              <a:t>LTM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569234" y="1078992"/>
            <a:ext cx="1640694" cy="237744"/>
          </a:xfrm>
          <a:prstGeom prst="rect">
            <a:avLst/>
          </a:prstGeom>
          <a:solidFill>
            <a:srgbClr val="0F1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05810" y="1115568"/>
            <a:ext cx="158583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  <a:latin typeface="Calibri"/>
              </a:rPr>
              <a:t>2025E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228217" y="1078992"/>
            <a:ext cx="1640694" cy="237744"/>
          </a:xfrm>
          <a:prstGeom prst="rect">
            <a:avLst/>
          </a:prstGeom>
          <a:solidFill>
            <a:srgbClr val="0F1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264793" y="1115568"/>
            <a:ext cx="158583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  <a:latin typeface="Calibri"/>
              </a:rPr>
              <a:t>2026E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" y="1316736"/>
            <a:ext cx="1640694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10896" y="1344168"/>
            <a:ext cx="158583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2D3748"/>
                </a:solidFill>
                <a:latin typeface="Calibri"/>
              </a:rPr>
              <a:t>Receita Liquida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933302" y="1316736"/>
            <a:ext cx="1640694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969878" y="1344168"/>
            <a:ext cx="158583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2D3748"/>
                </a:solidFill>
                <a:latin typeface="Calibri"/>
              </a:rPr>
              <a:t>[__]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92285" y="1316736"/>
            <a:ext cx="1640694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28861" y="1344168"/>
            <a:ext cx="158583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2D3748"/>
                </a:solidFill>
                <a:latin typeface="Calibri"/>
              </a:rPr>
              <a:t>[__]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251268" y="1316736"/>
            <a:ext cx="1640694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287844" y="1344168"/>
            <a:ext cx="158583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2D3748"/>
                </a:solidFill>
                <a:latin typeface="Calibri"/>
              </a:rPr>
              <a:t>[__]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910251" y="1316736"/>
            <a:ext cx="1640694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946827" y="1344168"/>
            <a:ext cx="158583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2D3748"/>
                </a:solidFill>
                <a:latin typeface="Calibri"/>
              </a:rPr>
              <a:t>[__]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569234" y="1316736"/>
            <a:ext cx="1640694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605810" y="1344168"/>
            <a:ext cx="158583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2D3748"/>
                </a:solidFill>
                <a:latin typeface="Calibri"/>
              </a:rPr>
              <a:t>[__]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0228217" y="1316736"/>
            <a:ext cx="1640694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264793" y="1344168"/>
            <a:ext cx="158583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2D3748"/>
                </a:solidFill>
                <a:latin typeface="Calibri"/>
              </a:rPr>
              <a:t>[__]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74320" y="1609344"/>
            <a:ext cx="1640694" cy="27432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10896" y="1636776"/>
            <a:ext cx="158583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276749"/>
                </a:solidFill>
                <a:latin typeface="Calibri"/>
              </a:rPr>
              <a:t>Margem Bruta %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933302" y="1609344"/>
            <a:ext cx="1640694" cy="27432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969878" y="1636776"/>
            <a:ext cx="158583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276749"/>
                </a:solidFill>
                <a:latin typeface="Calibri"/>
              </a:rPr>
              <a:t>[__]%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592285" y="1609344"/>
            <a:ext cx="1640694" cy="27432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628861" y="1636776"/>
            <a:ext cx="158583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276749"/>
                </a:solidFill>
                <a:latin typeface="Calibri"/>
              </a:rPr>
              <a:t>[__]%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251268" y="1609344"/>
            <a:ext cx="1640694" cy="27432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287844" y="1636776"/>
            <a:ext cx="158583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276749"/>
                </a:solidFill>
                <a:latin typeface="Calibri"/>
              </a:rPr>
              <a:t>[__]%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910251" y="1609344"/>
            <a:ext cx="1640694" cy="27432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946827" y="1636776"/>
            <a:ext cx="158583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276749"/>
                </a:solidFill>
                <a:latin typeface="Calibri"/>
              </a:rPr>
              <a:t>[__]%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569234" y="1609344"/>
            <a:ext cx="1640694" cy="27432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605810" y="1636776"/>
            <a:ext cx="158583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276749"/>
                </a:solidFill>
                <a:latin typeface="Calibri"/>
              </a:rPr>
              <a:t>[__]%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0228217" y="1609344"/>
            <a:ext cx="1640694" cy="27432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0264793" y="1636776"/>
            <a:ext cx="158583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276749"/>
                </a:solidFill>
                <a:latin typeface="Calibri"/>
              </a:rPr>
              <a:t>[__]%</a:t>
            </a:r>
          </a:p>
        </p:txBody>
      </p:sp>
      <p:sp>
        <p:nvSpPr>
          <p:cNvPr id="51" name="Rectangle 50"/>
          <p:cNvSpPr/>
          <p:nvPr/>
        </p:nvSpPr>
        <p:spPr>
          <a:xfrm>
            <a:off x="274320" y="1901952"/>
            <a:ext cx="1640694" cy="274320"/>
          </a:xfrm>
          <a:prstGeom prst="rect">
            <a:avLst/>
          </a:prstGeom>
          <a:solidFill>
            <a:srgbClr val="E8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10896" y="1929384"/>
            <a:ext cx="158583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0F1F3D"/>
                </a:solidFill>
                <a:latin typeface="Calibri"/>
              </a:rPr>
              <a:t>EBITDA Ajustado</a:t>
            </a:r>
          </a:p>
        </p:txBody>
      </p:sp>
      <p:sp>
        <p:nvSpPr>
          <p:cNvPr id="53" name="Rectangle 52"/>
          <p:cNvSpPr/>
          <p:nvPr/>
        </p:nvSpPr>
        <p:spPr>
          <a:xfrm>
            <a:off x="1933302" y="1901952"/>
            <a:ext cx="1640694" cy="274320"/>
          </a:xfrm>
          <a:prstGeom prst="rect">
            <a:avLst/>
          </a:prstGeom>
          <a:solidFill>
            <a:srgbClr val="E8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969878" y="1929384"/>
            <a:ext cx="158583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0F1F3D"/>
                </a:solidFill>
                <a:latin typeface="Calibri"/>
              </a:rPr>
              <a:t>[__]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592285" y="1901952"/>
            <a:ext cx="1640694" cy="274320"/>
          </a:xfrm>
          <a:prstGeom prst="rect">
            <a:avLst/>
          </a:prstGeom>
          <a:solidFill>
            <a:srgbClr val="E8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3628861" y="1929384"/>
            <a:ext cx="158583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0F1F3D"/>
                </a:solidFill>
                <a:latin typeface="Calibri"/>
              </a:rPr>
              <a:t>[__]</a:t>
            </a:r>
          </a:p>
        </p:txBody>
      </p:sp>
      <p:sp>
        <p:nvSpPr>
          <p:cNvPr id="57" name="Rectangle 56"/>
          <p:cNvSpPr/>
          <p:nvPr/>
        </p:nvSpPr>
        <p:spPr>
          <a:xfrm>
            <a:off x="5251268" y="1901952"/>
            <a:ext cx="1640694" cy="274320"/>
          </a:xfrm>
          <a:prstGeom prst="rect">
            <a:avLst/>
          </a:prstGeom>
          <a:solidFill>
            <a:srgbClr val="E8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5287844" y="1929384"/>
            <a:ext cx="158583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0F1F3D"/>
                </a:solidFill>
                <a:latin typeface="Calibri"/>
              </a:rPr>
              <a:t>[__]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910251" y="1901952"/>
            <a:ext cx="1640694" cy="274320"/>
          </a:xfrm>
          <a:prstGeom prst="rect">
            <a:avLst/>
          </a:prstGeom>
          <a:solidFill>
            <a:srgbClr val="E8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946827" y="1929384"/>
            <a:ext cx="158583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0F1F3D"/>
                </a:solidFill>
                <a:latin typeface="Calibri"/>
              </a:rPr>
              <a:t>[__]</a:t>
            </a:r>
          </a:p>
        </p:txBody>
      </p:sp>
      <p:sp>
        <p:nvSpPr>
          <p:cNvPr id="61" name="Rectangle 60"/>
          <p:cNvSpPr/>
          <p:nvPr/>
        </p:nvSpPr>
        <p:spPr>
          <a:xfrm>
            <a:off x="8569234" y="1901952"/>
            <a:ext cx="1640694" cy="274320"/>
          </a:xfrm>
          <a:prstGeom prst="rect">
            <a:avLst/>
          </a:prstGeom>
          <a:solidFill>
            <a:srgbClr val="E8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8605810" y="1929384"/>
            <a:ext cx="158583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0F1F3D"/>
                </a:solidFill>
                <a:latin typeface="Calibri"/>
              </a:rPr>
              <a:t>[__]</a:t>
            </a:r>
          </a:p>
        </p:txBody>
      </p:sp>
      <p:sp>
        <p:nvSpPr>
          <p:cNvPr id="63" name="Rectangle 62"/>
          <p:cNvSpPr/>
          <p:nvPr/>
        </p:nvSpPr>
        <p:spPr>
          <a:xfrm>
            <a:off x="10228217" y="1901952"/>
            <a:ext cx="1640694" cy="274320"/>
          </a:xfrm>
          <a:prstGeom prst="rect">
            <a:avLst/>
          </a:prstGeom>
          <a:solidFill>
            <a:srgbClr val="E8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10264793" y="1929384"/>
            <a:ext cx="158583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0F1F3D"/>
                </a:solidFill>
                <a:latin typeface="Calibri"/>
              </a:rPr>
              <a:t>[__]</a:t>
            </a:r>
          </a:p>
        </p:txBody>
      </p:sp>
      <p:sp>
        <p:nvSpPr>
          <p:cNvPr id="65" name="Rectangle 64"/>
          <p:cNvSpPr/>
          <p:nvPr/>
        </p:nvSpPr>
        <p:spPr>
          <a:xfrm>
            <a:off x="274320" y="2194560"/>
            <a:ext cx="1640694" cy="274320"/>
          </a:xfrm>
          <a:prstGeom prst="rect">
            <a:avLst/>
          </a:prstGeom>
          <a:solidFill>
            <a:srgbClr val="E8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310896" y="2221991"/>
            <a:ext cx="158583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276749"/>
                </a:solidFill>
                <a:latin typeface="Calibri"/>
              </a:rPr>
              <a:t>Margem EBITDA %</a:t>
            </a:r>
          </a:p>
        </p:txBody>
      </p:sp>
      <p:sp>
        <p:nvSpPr>
          <p:cNvPr id="67" name="Rectangle 66"/>
          <p:cNvSpPr/>
          <p:nvPr/>
        </p:nvSpPr>
        <p:spPr>
          <a:xfrm>
            <a:off x="1933302" y="2194560"/>
            <a:ext cx="1640694" cy="274320"/>
          </a:xfrm>
          <a:prstGeom prst="rect">
            <a:avLst/>
          </a:prstGeom>
          <a:solidFill>
            <a:srgbClr val="E8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1969878" y="2221991"/>
            <a:ext cx="158583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276749"/>
                </a:solidFill>
                <a:latin typeface="Calibri"/>
              </a:rPr>
              <a:t>[__]%</a:t>
            </a:r>
          </a:p>
        </p:txBody>
      </p:sp>
      <p:sp>
        <p:nvSpPr>
          <p:cNvPr id="69" name="Rectangle 68"/>
          <p:cNvSpPr/>
          <p:nvPr/>
        </p:nvSpPr>
        <p:spPr>
          <a:xfrm>
            <a:off x="3592285" y="2194560"/>
            <a:ext cx="1640694" cy="274320"/>
          </a:xfrm>
          <a:prstGeom prst="rect">
            <a:avLst/>
          </a:prstGeom>
          <a:solidFill>
            <a:srgbClr val="E8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3628861" y="2221991"/>
            <a:ext cx="158583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276749"/>
                </a:solidFill>
                <a:latin typeface="Calibri"/>
              </a:rPr>
              <a:t>[__]%</a:t>
            </a:r>
          </a:p>
        </p:txBody>
      </p:sp>
      <p:sp>
        <p:nvSpPr>
          <p:cNvPr id="71" name="Rectangle 70"/>
          <p:cNvSpPr/>
          <p:nvPr/>
        </p:nvSpPr>
        <p:spPr>
          <a:xfrm>
            <a:off x="5251268" y="2194560"/>
            <a:ext cx="1640694" cy="274320"/>
          </a:xfrm>
          <a:prstGeom prst="rect">
            <a:avLst/>
          </a:prstGeom>
          <a:solidFill>
            <a:srgbClr val="E8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5287844" y="2221991"/>
            <a:ext cx="158583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276749"/>
                </a:solidFill>
                <a:latin typeface="Calibri"/>
              </a:rPr>
              <a:t>[__]%</a:t>
            </a:r>
          </a:p>
        </p:txBody>
      </p:sp>
      <p:sp>
        <p:nvSpPr>
          <p:cNvPr id="73" name="Rectangle 72"/>
          <p:cNvSpPr/>
          <p:nvPr/>
        </p:nvSpPr>
        <p:spPr>
          <a:xfrm>
            <a:off x="6910251" y="2194560"/>
            <a:ext cx="1640694" cy="274320"/>
          </a:xfrm>
          <a:prstGeom prst="rect">
            <a:avLst/>
          </a:prstGeom>
          <a:solidFill>
            <a:srgbClr val="E8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6946827" y="2221991"/>
            <a:ext cx="158583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276749"/>
                </a:solidFill>
                <a:latin typeface="Calibri"/>
              </a:rPr>
              <a:t>[__]%</a:t>
            </a:r>
          </a:p>
        </p:txBody>
      </p:sp>
      <p:sp>
        <p:nvSpPr>
          <p:cNvPr id="75" name="Rectangle 74"/>
          <p:cNvSpPr/>
          <p:nvPr/>
        </p:nvSpPr>
        <p:spPr>
          <a:xfrm>
            <a:off x="8569234" y="2194560"/>
            <a:ext cx="1640694" cy="274320"/>
          </a:xfrm>
          <a:prstGeom prst="rect">
            <a:avLst/>
          </a:prstGeom>
          <a:solidFill>
            <a:srgbClr val="E8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8605810" y="2221991"/>
            <a:ext cx="158583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276749"/>
                </a:solidFill>
                <a:latin typeface="Calibri"/>
              </a:rPr>
              <a:t>[__]%</a:t>
            </a:r>
          </a:p>
        </p:txBody>
      </p:sp>
      <p:sp>
        <p:nvSpPr>
          <p:cNvPr id="77" name="Rectangle 76"/>
          <p:cNvSpPr/>
          <p:nvPr/>
        </p:nvSpPr>
        <p:spPr>
          <a:xfrm>
            <a:off x="10228217" y="2194560"/>
            <a:ext cx="1640694" cy="274320"/>
          </a:xfrm>
          <a:prstGeom prst="rect">
            <a:avLst/>
          </a:prstGeom>
          <a:solidFill>
            <a:srgbClr val="E8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10264793" y="2221991"/>
            <a:ext cx="158583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276749"/>
                </a:solidFill>
                <a:latin typeface="Calibri"/>
              </a:rPr>
              <a:t>[__]%</a:t>
            </a:r>
          </a:p>
        </p:txBody>
      </p:sp>
      <p:sp>
        <p:nvSpPr>
          <p:cNvPr id="79" name="Rectangle 78"/>
          <p:cNvSpPr/>
          <p:nvPr/>
        </p:nvSpPr>
        <p:spPr>
          <a:xfrm>
            <a:off x="274320" y="2487168"/>
            <a:ext cx="1640694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310896" y="2514599"/>
            <a:ext cx="158583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2D3748"/>
                </a:solidFill>
                <a:latin typeface="Calibri"/>
              </a:rPr>
              <a:t>D&amp;A</a:t>
            </a:r>
          </a:p>
        </p:txBody>
      </p:sp>
      <p:sp>
        <p:nvSpPr>
          <p:cNvPr id="81" name="Rectangle 80"/>
          <p:cNvSpPr/>
          <p:nvPr/>
        </p:nvSpPr>
        <p:spPr>
          <a:xfrm>
            <a:off x="1933302" y="2487168"/>
            <a:ext cx="1640694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1969878" y="2514599"/>
            <a:ext cx="158583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2D3748"/>
                </a:solidFill>
                <a:latin typeface="Calibri"/>
              </a:rPr>
              <a:t>([__])</a:t>
            </a:r>
          </a:p>
        </p:txBody>
      </p:sp>
      <p:sp>
        <p:nvSpPr>
          <p:cNvPr id="83" name="Rectangle 82"/>
          <p:cNvSpPr/>
          <p:nvPr/>
        </p:nvSpPr>
        <p:spPr>
          <a:xfrm>
            <a:off x="3592285" y="2487168"/>
            <a:ext cx="1640694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3628861" y="2514599"/>
            <a:ext cx="158583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2D3748"/>
                </a:solidFill>
                <a:latin typeface="Calibri"/>
              </a:rPr>
              <a:t>([__])</a:t>
            </a:r>
          </a:p>
        </p:txBody>
      </p:sp>
      <p:sp>
        <p:nvSpPr>
          <p:cNvPr id="85" name="Rectangle 84"/>
          <p:cNvSpPr/>
          <p:nvPr/>
        </p:nvSpPr>
        <p:spPr>
          <a:xfrm>
            <a:off x="5251268" y="2487168"/>
            <a:ext cx="1640694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5287844" y="2514599"/>
            <a:ext cx="158583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2D3748"/>
                </a:solidFill>
                <a:latin typeface="Calibri"/>
              </a:rPr>
              <a:t>([__])</a:t>
            </a:r>
          </a:p>
        </p:txBody>
      </p:sp>
      <p:sp>
        <p:nvSpPr>
          <p:cNvPr id="87" name="Rectangle 86"/>
          <p:cNvSpPr/>
          <p:nvPr/>
        </p:nvSpPr>
        <p:spPr>
          <a:xfrm>
            <a:off x="6910251" y="2487168"/>
            <a:ext cx="1640694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6946827" y="2514599"/>
            <a:ext cx="158583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2D3748"/>
                </a:solidFill>
                <a:latin typeface="Calibri"/>
              </a:rPr>
              <a:t>([__])</a:t>
            </a:r>
          </a:p>
        </p:txBody>
      </p:sp>
      <p:sp>
        <p:nvSpPr>
          <p:cNvPr id="89" name="Rectangle 88"/>
          <p:cNvSpPr/>
          <p:nvPr/>
        </p:nvSpPr>
        <p:spPr>
          <a:xfrm>
            <a:off x="8569234" y="2487168"/>
            <a:ext cx="1640694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8605810" y="2514599"/>
            <a:ext cx="158583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2D3748"/>
                </a:solidFill>
                <a:latin typeface="Calibri"/>
              </a:rPr>
              <a:t>([__])</a:t>
            </a:r>
          </a:p>
        </p:txBody>
      </p:sp>
      <p:sp>
        <p:nvSpPr>
          <p:cNvPr id="91" name="Rectangle 90"/>
          <p:cNvSpPr/>
          <p:nvPr/>
        </p:nvSpPr>
        <p:spPr>
          <a:xfrm>
            <a:off x="10228217" y="2487168"/>
            <a:ext cx="1640694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10264793" y="2514599"/>
            <a:ext cx="158583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2D3748"/>
                </a:solidFill>
                <a:latin typeface="Calibri"/>
              </a:rPr>
              <a:t>([__])</a:t>
            </a:r>
          </a:p>
        </p:txBody>
      </p:sp>
      <p:sp>
        <p:nvSpPr>
          <p:cNvPr id="93" name="Rectangle 92"/>
          <p:cNvSpPr/>
          <p:nvPr/>
        </p:nvSpPr>
        <p:spPr>
          <a:xfrm>
            <a:off x="274320" y="2779776"/>
            <a:ext cx="1640694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310896" y="2807208"/>
            <a:ext cx="158583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2D3748"/>
                </a:solidFill>
                <a:latin typeface="Calibri"/>
              </a:rPr>
              <a:t>Lucro Liquido</a:t>
            </a:r>
          </a:p>
        </p:txBody>
      </p:sp>
      <p:sp>
        <p:nvSpPr>
          <p:cNvPr id="95" name="Rectangle 94"/>
          <p:cNvSpPr/>
          <p:nvPr/>
        </p:nvSpPr>
        <p:spPr>
          <a:xfrm>
            <a:off x="1933302" y="2779776"/>
            <a:ext cx="1640694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1969878" y="2807208"/>
            <a:ext cx="158583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2D3748"/>
                </a:solidFill>
                <a:latin typeface="Calibri"/>
              </a:rPr>
              <a:t>[__]</a:t>
            </a:r>
          </a:p>
        </p:txBody>
      </p:sp>
      <p:sp>
        <p:nvSpPr>
          <p:cNvPr id="97" name="Rectangle 96"/>
          <p:cNvSpPr/>
          <p:nvPr/>
        </p:nvSpPr>
        <p:spPr>
          <a:xfrm>
            <a:off x="3592285" y="2779776"/>
            <a:ext cx="1640694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3628861" y="2807208"/>
            <a:ext cx="158583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2D3748"/>
                </a:solidFill>
                <a:latin typeface="Calibri"/>
              </a:rPr>
              <a:t>[__]</a:t>
            </a:r>
          </a:p>
        </p:txBody>
      </p:sp>
      <p:sp>
        <p:nvSpPr>
          <p:cNvPr id="99" name="Rectangle 98"/>
          <p:cNvSpPr/>
          <p:nvPr/>
        </p:nvSpPr>
        <p:spPr>
          <a:xfrm>
            <a:off x="5251268" y="2779776"/>
            <a:ext cx="1640694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5287844" y="2807208"/>
            <a:ext cx="158583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2D3748"/>
                </a:solidFill>
                <a:latin typeface="Calibri"/>
              </a:rPr>
              <a:t>[__]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6910251" y="2779776"/>
            <a:ext cx="1640694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6946827" y="2807208"/>
            <a:ext cx="158583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2D3748"/>
                </a:solidFill>
                <a:latin typeface="Calibri"/>
              </a:rPr>
              <a:t>[__]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8569234" y="2779776"/>
            <a:ext cx="1640694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8605810" y="2807208"/>
            <a:ext cx="158583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2D3748"/>
                </a:solidFill>
                <a:latin typeface="Calibri"/>
              </a:rPr>
              <a:t>[__]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10228217" y="2779776"/>
            <a:ext cx="1640694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10264793" y="2807208"/>
            <a:ext cx="158583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2D3748"/>
                </a:solidFill>
                <a:latin typeface="Calibri"/>
              </a:rPr>
              <a:t>[__]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274320" y="3072384"/>
            <a:ext cx="1640694" cy="27432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310896" y="3099815"/>
            <a:ext cx="158583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2D3748"/>
                </a:solidFill>
                <a:latin typeface="Calibri"/>
              </a:rPr>
              <a:t>FCO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1933302" y="3072384"/>
            <a:ext cx="1640694" cy="27432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1969878" y="3099815"/>
            <a:ext cx="158583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2D3748"/>
                </a:solidFill>
                <a:latin typeface="Calibri"/>
              </a:rPr>
              <a:t>[__]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3592285" y="3072384"/>
            <a:ext cx="1640694" cy="27432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3628861" y="3099815"/>
            <a:ext cx="158583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2D3748"/>
                </a:solidFill>
                <a:latin typeface="Calibri"/>
              </a:rPr>
              <a:t>[__]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5251268" y="3072384"/>
            <a:ext cx="1640694" cy="27432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5287844" y="3099815"/>
            <a:ext cx="158583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2D3748"/>
                </a:solidFill>
                <a:latin typeface="Calibri"/>
              </a:rPr>
              <a:t>[__]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6910251" y="3072384"/>
            <a:ext cx="1640694" cy="27432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6946827" y="3099815"/>
            <a:ext cx="158583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2D3748"/>
                </a:solidFill>
                <a:latin typeface="Calibri"/>
              </a:rPr>
              <a:t>[__]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8569234" y="3072384"/>
            <a:ext cx="1640694" cy="27432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8605810" y="3099815"/>
            <a:ext cx="158583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2D3748"/>
                </a:solidFill>
                <a:latin typeface="Calibri"/>
              </a:rPr>
              <a:t>[__]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10228217" y="3072384"/>
            <a:ext cx="1640694" cy="27432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10264793" y="3099815"/>
            <a:ext cx="158583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2D3748"/>
                </a:solidFill>
                <a:latin typeface="Calibri"/>
              </a:rPr>
              <a:t>[__]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274320" y="3364992"/>
            <a:ext cx="1640694" cy="27432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>
            <a:off x="310896" y="3392424"/>
            <a:ext cx="158583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276749"/>
                </a:solidFill>
                <a:latin typeface="Calibri"/>
              </a:rPr>
              <a:t>IQL = FCO/LL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1933302" y="3364992"/>
            <a:ext cx="1640694" cy="27432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1969878" y="3392424"/>
            <a:ext cx="158583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276749"/>
                </a:solidFill>
                <a:latin typeface="Calibri"/>
              </a:rPr>
              <a:t>[__]x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3592285" y="3364992"/>
            <a:ext cx="1640694" cy="27432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TextBox 125"/>
          <p:cNvSpPr txBox="1"/>
          <p:nvPr/>
        </p:nvSpPr>
        <p:spPr>
          <a:xfrm>
            <a:off x="3628861" y="3392424"/>
            <a:ext cx="158583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276749"/>
                </a:solidFill>
                <a:latin typeface="Calibri"/>
              </a:rPr>
              <a:t>[__]x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5251268" y="3364992"/>
            <a:ext cx="1640694" cy="27432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TextBox 127"/>
          <p:cNvSpPr txBox="1"/>
          <p:nvPr/>
        </p:nvSpPr>
        <p:spPr>
          <a:xfrm>
            <a:off x="5287844" y="3392424"/>
            <a:ext cx="158583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276749"/>
                </a:solidFill>
                <a:latin typeface="Calibri"/>
              </a:rPr>
              <a:t>[__]x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6910251" y="3364992"/>
            <a:ext cx="1640694" cy="27432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6946827" y="3392424"/>
            <a:ext cx="158583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276749"/>
                </a:solidFill>
                <a:latin typeface="Calibri"/>
              </a:rPr>
              <a:t>[__]x</a:t>
            </a:r>
          </a:p>
        </p:txBody>
      </p:sp>
      <p:sp>
        <p:nvSpPr>
          <p:cNvPr id="131" name="Rectangle 130"/>
          <p:cNvSpPr/>
          <p:nvPr/>
        </p:nvSpPr>
        <p:spPr>
          <a:xfrm>
            <a:off x="8569234" y="3364992"/>
            <a:ext cx="1640694" cy="27432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TextBox 131"/>
          <p:cNvSpPr txBox="1"/>
          <p:nvPr/>
        </p:nvSpPr>
        <p:spPr>
          <a:xfrm>
            <a:off x="8605810" y="3392424"/>
            <a:ext cx="158583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276749"/>
                </a:solidFill>
                <a:latin typeface="Calibri"/>
              </a:rPr>
              <a:t>[__]x</a:t>
            </a:r>
          </a:p>
        </p:txBody>
      </p:sp>
      <p:sp>
        <p:nvSpPr>
          <p:cNvPr id="133" name="Rectangle 132"/>
          <p:cNvSpPr/>
          <p:nvPr/>
        </p:nvSpPr>
        <p:spPr>
          <a:xfrm>
            <a:off x="10228217" y="3364992"/>
            <a:ext cx="1640694" cy="27432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TextBox 133"/>
          <p:cNvSpPr txBox="1"/>
          <p:nvPr/>
        </p:nvSpPr>
        <p:spPr>
          <a:xfrm>
            <a:off x="10264793" y="3392424"/>
            <a:ext cx="158583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276749"/>
                </a:solidFill>
                <a:latin typeface="Calibri"/>
              </a:rPr>
              <a:t>[__]x</a:t>
            </a:r>
          </a:p>
        </p:txBody>
      </p:sp>
      <p:sp>
        <p:nvSpPr>
          <p:cNvPr id="135" name="Rectangle 134"/>
          <p:cNvSpPr/>
          <p:nvPr/>
        </p:nvSpPr>
        <p:spPr>
          <a:xfrm>
            <a:off x="274320" y="3657600"/>
            <a:ext cx="1640694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TextBox 135"/>
          <p:cNvSpPr txBox="1"/>
          <p:nvPr/>
        </p:nvSpPr>
        <p:spPr>
          <a:xfrm>
            <a:off x="310896" y="3685032"/>
            <a:ext cx="158583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2D3748"/>
                </a:solidFill>
                <a:latin typeface="Calibri"/>
              </a:rPr>
              <a:t>CAPEX / Receita</a:t>
            </a:r>
          </a:p>
        </p:txBody>
      </p:sp>
      <p:sp>
        <p:nvSpPr>
          <p:cNvPr id="137" name="Rectangle 136"/>
          <p:cNvSpPr/>
          <p:nvPr/>
        </p:nvSpPr>
        <p:spPr>
          <a:xfrm>
            <a:off x="1933302" y="3657600"/>
            <a:ext cx="1640694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TextBox 137"/>
          <p:cNvSpPr txBox="1"/>
          <p:nvPr/>
        </p:nvSpPr>
        <p:spPr>
          <a:xfrm>
            <a:off x="1969878" y="3685032"/>
            <a:ext cx="158583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2D3748"/>
                </a:solidFill>
                <a:latin typeface="Calibri"/>
              </a:rPr>
              <a:t>[__]%</a:t>
            </a:r>
          </a:p>
        </p:txBody>
      </p:sp>
      <p:sp>
        <p:nvSpPr>
          <p:cNvPr id="139" name="Rectangle 138"/>
          <p:cNvSpPr/>
          <p:nvPr/>
        </p:nvSpPr>
        <p:spPr>
          <a:xfrm>
            <a:off x="3592285" y="3657600"/>
            <a:ext cx="1640694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TextBox 139"/>
          <p:cNvSpPr txBox="1"/>
          <p:nvPr/>
        </p:nvSpPr>
        <p:spPr>
          <a:xfrm>
            <a:off x="3628861" y="3685032"/>
            <a:ext cx="158583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2D3748"/>
                </a:solidFill>
                <a:latin typeface="Calibri"/>
              </a:rPr>
              <a:t>[__]%</a:t>
            </a:r>
          </a:p>
        </p:txBody>
      </p:sp>
      <p:sp>
        <p:nvSpPr>
          <p:cNvPr id="141" name="Rectangle 140"/>
          <p:cNvSpPr/>
          <p:nvPr/>
        </p:nvSpPr>
        <p:spPr>
          <a:xfrm>
            <a:off x="5251268" y="3657600"/>
            <a:ext cx="1640694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TextBox 141"/>
          <p:cNvSpPr txBox="1"/>
          <p:nvPr/>
        </p:nvSpPr>
        <p:spPr>
          <a:xfrm>
            <a:off x="5287844" y="3685032"/>
            <a:ext cx="158583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2D3748"/>
                </a:solidFill>
                <a:latin typeface="Calibri"/>
              </a:rPr>
              <a:t>[__]%</a:t>
            </a:r>
          </a:p>
        </p:txBody>
      </p:sp>
      <p:sp>
        <p:nvSpPr>
          <p:cNvPr id="143" name="Rectangle 142"/>
          <p:cNvSpPr/>
          <p:nvPr/>
        </p:nvSpPr>
        <p:spPr>
          <a:xfrm>
            <a:off x="6910251" y="3657600"/>
            <a:ext cx="1640694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TextBox 143"/>
          <p:cNvSpPr txBox="1"/>
          <p:nvPr/>
        </p:nvSpPr>
        <p:spPr>
          <a:xfrm>
            <a:off x="6946827" y="3685032"/>
            <a:ext cx="158583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2D3748"/>
                </a:solidFill>
                <a:latin typeface="Calibri"/>
              </a:rPr>
              <a:t>[__]%</a:t>
            </a:r>
          </a:p>
        </p:txBody>
      </p:sp>
      <p:sp>
        <p:nvSpPr>
          <p:cNvPr id="145" name="Rectangle 144"/>
          <p:cNvSpPr/>
          <p:nvPr/>
        </p:nvSpPr>
        <p:spPr>
          <a:xfrm>
            <a:off x="8569234" y="3657600"/>
            <a:ext cx="1640694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TextBox 145"/>
          <p:cNvSpPr txBox="1"/>
          <p:nvPr/>
        </p:nvSpPr>
        <p:spPr>
          <a:xfrm>
            <a:off x="8605810" y="3685032"/>
            <a:ext cx="158583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2D3748"/>
                </a:solidFill>
                <a:latin typeface="Calibri"/>
              </a:rPr>
              <a:t>[__]%</a:t>
            </a:r>
          </a:p>
        </p:txBody>
      </p:sp>
      <p:sp>
        <p:nvSpPr>
          <p:cNvPr id="147" name="Rectangle 146"/>
          <p:cNvSpPr/>
          <p:nvPr/>
        </p:nvSpPr>
        <p:spPr>
          <a:xfrm>
            <a:off x="10228217" y="3657600"/>
            <a:ext cx="1640694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TextBox 147"/>
          <p:cNvSpPr txBox="1"/>
          <p:nvPr/>
        </p:nvSpPr>
        <p:spPr>
          <a:xfrm>
            <a:off x="10264793" y="3685032"/>
            <a:ext cx="158583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2D3748"/>
                </a:solidFill>
                <a:latin typeface="Calibri"/>
              </a:rPr>
              <a:t>[__]%</a:t>
            </a:r>
          </a:p>
        </p:txBody>
      </p:sp>
      <p:sp>
        <p:nvSpPr>
          <p:cNvPr id="149" name="Rectangle 148"/>
          <p:cNvSpPr/>
          <p:nvPr/>
        </p:nvSpPr>
        <p:spPr>
          <a:xfrm>
            <a:off x="274320" y="3950208"/>
            <a:ext cx="1640694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TextBox 149"/>
          <p:cNvSpPr txBox="1"/>
          <p:nvPr/>
        </p:nvSpPr>
        <p:spPr>
          <a:xfrm>
            <a:off x="310896" y="3977640"/>
            <a:ext cx="158583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718096"/>
                </a:solidFill>
                <a:latin typeface="Calibri"/>
              </a:rPr>
              <a:t>CAPEX / D&amp;A</a:t>
            </a:r>
          </a:p>
        </p:txBody>
      </p:sp>
      <p:sp>
        <p:nvSpPr>
          <p:cNvPr id="151" name="Rectangle 150"/>
          <p:cNvSpPr/>
          <p:nvPr/>
        </p:nvSpPr>
        <p:spPr>
          <a:xfrm>
            <a:off x="1933302" y="3950208"/>
            <a:ext cx="1640694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TextBox 151"/>
          <p:cNvSpPr txBox="1"/>
          <p:nvPr/>
        </p:nvSpPr>
        <p:spPr>
          <a:xfrm>
            <a:off x="1969878" y="3977640"/>
            <a:ext cx="158583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718096"/>
                </a:solidFill>
                <a:latin typeface="Calibri"/>
              </a:rPr>
              <a:t>[__]x</a:t>
            </a:r>
          </a:p>
        </p:txBody>
      </p:sp>
      <p:sp>
        <p:nvSpPr>
          <p:cNvPr id="153" name="Rectangle 152"/>
          <p:cNvSpPr/>
          <p:nvPr/>
        </p:nvSpPr>
        <p:spPr>
          <a:xfrm>
            <a:off x="3592285" y="3950208"/>
            <a:ext cx="1640694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TextBox 153"/>
          <p:cNvSpPr txBox="1"/>
          <p:nvPr/>
        </p:nvSpPr>
        <p:spPr>
          <a:xfrm>
            <a:off x="3628861" y="3977640"/>
            <a:ext cx="158583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718096"/>
                </a:solidFill>
                <a:latin typeface="Calibri"/>
              </a:rPr>
              <a:t>[__]x</a:t>
            </a:r>
          </a:p>
        </p:txBody>
      </p:sp>
      <p:sp>
        <p:nvSpPr>
          <p:cNvPr id="155" name="Rectangle 154"/>
          <p:cNvSpPr/>
          <p:nvPr/>
        </p:nvSpPr>
        <p:spPr>
          <a:xfrm>
            <a:off x="5251268" y="3950208"/>
            <a:ext cx="1640694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TextBox 155"/>
          <p:cNvSpPr txBox="1"/>
          <p:nvPr/>
        </p:nvSpPr>
        <p:spPr>
          <a:xfrm>
            <a:off x="5287844" y="3977640"/>
            <a:ext cx="158583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718096"/>
                </a:solidFill>
                <a:latin typeface="Calibri"/>
              </a:rPr>
              <a:t>[__]x</a:t>
            </a:r>
          </a:p>
        </p:txBody>
      </p:sp>
      <p:sp>
        <p:nvSpPr>
          <p:cNvPr id="157" name="Rectangle 156"/>
          <p:cNvSpPr/>
          <p:nvPr/>
        </p:nvSpPr>
        <p:spPr>
          <a:xfrm>
            <a:off x="6910251" y="3950208"/>
            <a:ext cx="1640694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TextBox 157"/>
          <p:cNvSpPr txBox="1"/>
          <p:nvPr/>
        </p:nvSpPr>
        <p:spPr>
          <a:xfrm>
            <a:off x="6946827" y="3977640"/>
            <a:ext cx="158583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718096"/>
                </a:solidFill>
                <a:latin typeface="Calibri"/>
              </a:rPr>
              <a:t>[__]x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8569234" y="3950208"/>
            <a:ext cx="1640694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8605810" y="3977640"/>
            <a:ext cx="158583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718096"/>
                </a:solidFill>
                <a:latin typeface="Calibri"/>
              </a:rPr>
              <a:t>[__]x</a:t>
            </a:r>
          </a:p>
        </p:txBody>
      </p:sp>
      <p:sp>
        <p:nvSpPr>
          <p:cNvPr id="161" name="Rectangle 160"/>
          <p:cNvSpPr/>
          <p:nvPr/>
        </p:nvSpPr>
        <p:spPr>
          <a:xfrm>
            <a:off x="10228217" y="3950208"/>
            <a:ext cx="1640694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TextBox 161"/>
          <p:cNvSpPr txBox="1"/>
          <p:nvPr/>
        </p:nvSpPr>
        <p:spPr>
          <a:xfrm>
            <a:off x="10264793" y="3977640"/>
            <a:ext cx="158583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718096"/>
                </a:solidFill>
                <a:latin typeface="Calibri"/>
              </a:rPr>
              <a:t>[__]x</a:t>
            </a:r>
          </a:p>
        </p:txBody>
      </p:sp>
      <p:sp>
        <p:nvSpPr>
          <p:cNvPr id="163" name="Rectangle 162"/>
          <p:cNvSpPr/>
          <p:nvPr/>
        </p:nvSpPr>
        <p:spPr>
          <a:xfrm>
            <a:off x="274320" y="4242816"/>
            <a:ext cx="1640694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TextBox 163"/>
          <p:cNvSpPr txBox="1"/>
          <p:nvPr/>
        </p:nvSpPr>
        <p:spPr>
          <a:xfrm>
            <a:off x="310896" y="4270248"/>
            <a:ext cx="158583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2D3748"/>
                </a:solidFill>
                <a:latin typeface="Calibri"/>
              </a:rPr>
              <a:t>Div.Liq./EBITDA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1933302" y="4242816"/>
            <a:ext cx="1640694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1969878" y="4270248"/>
            <a:ext cx="158583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2D3748"/>
                </a:solidFill>
                <a:latin typeface="Calibri"/>
              </a:rPr>
              <a:t>[__]x</a:t>
            </a:r>
          </a:p>
        </p:txBody>
      </p:sp>
      <p:sp>
        <p:nvSpPr>
          <p:cNvPr id="167" name="Rectangle 166"/>
          <p:cNvSpPr/>
          <p:nvPr/>
        </p:nvSpPr>
        <p:spPr>
          <a:xfrm>
            <a:off x="3592285" y="4242816"/>
            <a:ext cx="1640694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TextBox 167"/>
          <p:cNvSpPr txBox="1"/>
          <p:nvPr/>
        </p:nvSpPr>
        <p:spPr>
          <a:xfrm>
            <a:off x="3628861" y="4270248"/>
            <a:ext cx="158583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2D3748"/>
                </a:solidFill>
                <a:latin typeface="Calibri"/>
              </a:rPr>
              <a:t>[__]x</a:t>
            </a:r>
          </a:p>
        </p:txBody>
      </p:sp>
      <p:sp>
        <p:nvSpPr>
          <p:cNvPr id="169" name="Rectangle 168"/>
          <p:cNvSpPr/>
          <p:nvPr/>
        </p:nvSpPr>
        <p:spPr>
          <a:xfrm>
            <a:off x="5251268" y="4242816"/>
            <a:ext cx="1640694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TextBox 169"/>
          <p:cNvSpPr txBox="1"/>
          <p:nvPr/>
        </p:nvSpPr>
        <p:spPr>
          <a:xfrm>
            <a:off x="5287844" y="4270248"/>
            <a:ext cx="158583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2D3748"/>
                </a:solidFill>
                <a:latin typeface="Calibri"/>
              </a:rPr>
              <a:t>[__]x</a:t>
            </a:r>
          </a:p>
        </p:txBody>
      </p:sp>
      <p:sp>
        <p:nvSpPr>
          <p:cNvPr id="171" name="Rectangle 170"/>
          <p:cNvSpPr/>
          <p:nvPr/>
        </p:nvSpPr>
        <p:spPr>
          <a:xfrm>
            <a:off x="6910251" y="4242816"/>
            <a:ext cx="1640694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TextBox 171"/>
          <p:cNvSpPr txBox="1"/>
          <p:nvPr/>
        </p:nvSpPr>
        <p:spPr>
          <a:xfrm>
            <a:off x="6946827" y="4270248"/>
            <a:ext cx="158583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2D3748"/>
                </a:solidFill>
                <a:latin typeface="Calibri"/>
              </a:rPr>
              <a:t>[__]x</a:t>
            </a:r>
          </a:p>
        </p:txBody>
      </p:sp>
      <p:sp>
        <p:nvSpPr>
          <p:cNvPr id="173" name="Rectangle 172"/>
          <p:cNvSpPr/>
          <p:nvPr/>
        </p:nvSpPr>
        <p:spPr>
          <a:xfrm>
            <a:off x="8569234" y="4242816"/>
            <a:ext cx="1640694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TextBox 173"/>
          <p:cNvSpPr txBox="1"/>
          <p:nvPr/>
        </p:nvSpPr>
        <p:spPr>
          <a:xfrm>
            <a:off x="8605810" y="4270248"/>
            <a:ext cx="158583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2D3748"/>
                </a:solidFill>
                <a:latin typeface="Calibri"/>
              </a:rPr>
              <a:t>[__]x</a:t>
            </a:r>
          </a:p>
        </p:txBody>
      </p:sp>
      <p:sp>
        <p:nvSpPr>
          <p:cNvPr id="175" name="Rectangle 174"/>
          <p:cNvSpPr/>
          <p:nvPr/>
        </p:nvSpPr>
        <p:spPr>
          <a:xfrm>
            <a:off x="10228217" y="4242816"/>
            <a:ext cx="1640694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TextBox 175"/>
          <p:cNvSpPr txBox="1"/>
          <p:nvPr/>
        </p:nvSpPr>
        <p:spPr>
          <a:xfrm>
            <a:off x="10264793" y="4270248"/>
            <a:ext cx="158583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2D3748"/>
                </a:solidFill>
                <a:latin typeface="Calibri"/>
              </a:rPr>
              <a:t>[__]x</a:t>
            </a:r>
          </a:p>
        </p:txBody>
      </p:sp>
      <p:sp>
        <p:nvSpPr>
          <p:cNvPr id="177" name="Rectangle 176"/>
          <p:cNvSpPr/>
          <p:nvPr/>
        </p:nvSpPr>
        <p:spPr>
          <a:xfrm>
            <a:off x="274320" y="4645152"/>
            <a:ext cx="11612880" cy="210312"/>
          </a:xfrm>
          <a:prstGeom prst="rect">
            <a:avLst/>
          </a:prstGeom>
          <a:solidFill>
            <a:srgbClr val="0F1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TextBox 177"/>
          <p:cNvSpPr txBox="1"/>
          <p:nvPr/>
        </p:nvSpPr>
        <p:spPr>
          <a:xfrm>
            <a:off x="347472" y="4672584"/>
            <a:ext cx="1150315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KPIs OPERACIONAIS DO SETOR (Manual Sec. 7.3)</a:t>
            </a:r>
          </a:p>
        </p:txBody>
      </p:sp>
      <p:sp>
        <p:nvSpPr>
          <p:cNvPr id="179" name="Rectangle 178"/>
          <p:cNvSpPr/>
          <p:nvPr/>
        </p:nvSpPr>
        <p:spPr>
          <a:xfrm>
            <a:off x="274320" y="4882896"/>
            <a:ext cx="2743200" cy="78638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TextBox 179"/>
          <p:cNvSpPr txBox="1"/>
          <p:nvPr/>
        </p:nvSpPr>
        <p:spPr>
          <a:xfrm>
            <a:off x="365760" y="4919472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F1F3D"/>
                </a:solidFill>
                <a:latin typeface="Calibri"/>
              </a:rPr>
              <a:t>[KPI 1 — ex: SSS / CAGR vol. / vidas cobertas]</a:t>
            </a:r>
          </a:p>
        </p:txBody>
      </p:sp>
      <p:sp>
        <p:nvSpPr>
          <p:cNvPr id="181" name="TextBox 180"/>
          <p:cNvSpPr txBox="1"/>
          <p:nvPr/>
        </p:nvSpPr>
        <p:spPr>
          <a:xfrm>
            <a:off x="365760" y="5175504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F1F3D"/>
                </a:solidFill>
                <a:latin typeface="Calibri"/>
              </a:rPr>
              <a:t>[Valor] [Un]</a:t>
            </a:r>
          </a:p>
        </p:txBody>
      </p:sp>
      <p:sp>
        <p:nvSpPr>
          <p:cNvPr id="182" name="TextBox 181"/>
          <p:cNvSpPr txBox="1"/>
          <p:nvPr/>
        </p:nvSpPr>
        <p:spPr>
          <a:xfrm>
            <a:off x="365760" y="5449824"/>
            <a:ext cx="2560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718096"/>
                </a:solidFill>
                <a:latin typeface="Calibri"/>
              </a:rPr>
              <a:t>Bench: [___]</a:t>
            </a:r>
          </a:p>
        </p:txBody>
      </p:sp>
      <p:sp>
        <p:nvSpPr>
          <p:cNvPr id="183" name="Rectangle 182"/>
          <p:cNvSpPr/>
          <p:nvPr/>
        </p:nvSpPr>
        <p:spPr>
          <a:xfrm>
            <a:off x="3154679" y="4882896"/>
            <a:ext cx="2743200" cy="78638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TextBox 183"/>
          <p:cNvSpPr txBox="1"/>
          <p:nvPr/>
        </p:nvSpPr>
        <p:spPr>
          <a:xfrm>
            <a:off x="3246120" y="4919472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F1F3D"/>
                </a:solidFill>
                <a:latin typeface="Calibri"/>
              </a:rPr>
              <a:t>[KPI 2 — ex: Ticket medio / NPS / Market share]</a:t>
            </a:r>
          </a:p>
        </p:txBody>
      </p:sp>
      <p:sp>
        <p:nvSpPr>
          <p:cNvPr id="185" name="TextBox 184"/>
          <p:cNvSpPr txBox="1"/>
          <p:nvPr/>
        </p:nvSpPr>
        <p:spPr>
          <a:xfrm>
            <a:off x="3246120" y="5175504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F1F3D"/>
                </a:solidFill>
                <a:latin typeface="Calibri"/>
              </a:rPr>
              <a:t>[Valor] [Un]</a:t>
            </a:r>
          </a:p>
        </p:txBody>
      </p:sp>
      <p:sp>
        <p:nvSpPr>
          <p:cNvPr id="186" name="TextBox 185"/>
          <p:cNvSpPr txBox="1"/>
          <p:nvPr/>
        </p:nvSpPr>
        <p:spPr>
          <a:xfrm>
            <a:off x="3246120" y="5449824"/>
            <a:ext cx="2560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718096"/>
                </a:solidFill>
                <a:latin typeface="Calibri"/>
              </a:rPr>
              <a:t>Bench: [___]</a:t>
            </a:r>
          </a:p>
        </p:txBody>
      </p:sp>
      <p:sp>
        <p:nvSpPr>
          <p:cNvPr id="187" name="Rectangle 186"/>
          <p:cNvSpPr/>
          <p:nvPr/>
        </p:nvSpPr>
        <p:spPr>
          <a:xfrm>
            <a:off x="6035040" y="4882896"/>
            <a:ext cx="2743200" cy="78638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TextBox 187"/>
          <p:cNvSpPr txBox="1"/>
          <p:nvPr/>
        </p:nvSpPr>
        <p:spPr>
          <a:xfrm>
            <a:off x="6126479" y="4919472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F1F3D"/>
                </a:solidFill>
                <a:latin typeface="Calibri"/>
              </a:rPr>
              <a:t>[KPI 3 — ex: Sinistralidade / Churn / DSO]</a:t>
            </a:r>
          </a:p>
        </p:txBody>
      </p:sp>
      <p:sp>
        <p:nvSpPr>
          <p:cNvPr id="189" name="TextBox 188"/>
          <p:cNvSpPr txBox="1"/>
          <p:nvPr/>
        </p:nvSpPr>
        <p:spPr>
          <a:xfrm>
            <a:off x="6126479" y="5175504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F1F3D"/>
                </a:solidFill>
                <a:latin typeface="Calibri"/>
              </a:rPr>
              <a:t>[Valor] [Un]</a:t>
            </a:r>
          </a:p>
        </p:txBody>
      </p:sp>
      <p:sp>
        <p:nvSpPr>
          <p:cNvPr id="190" name="TextBox 189"/>
          <p:cNvSpPr txBox="1"/>
          <p:nvPr/>
        </p:nvSpPr>
        <p:spPr>
          <a:xfrm>
            <a:off x="6126479" y="5449824"/>
            <a:ext cx="2560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718096"/>
                </a:solidFill>
                <a:latin typeface="Calibri"/>
              </a:rPr>
              <a:t>Bench: [___]</a:t>
            </a:r>
          </a:p>
        </p:txBody>
      </p:sp>
      <p:sp>
        <p:nvSpPr>
          <p:cNvPr id="191" name="Rectangle 190"/>
          <p:cNvSpPr/>
          <p:nvPr/>
        </p:nvSpPr>
        <p:spPr>
          <a:xfrm>
            <a:off x="8915400" y="4882896"/>
            <a:ext cx="2743200" cy="78638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TextBox 191"/>
          <p:cNvSpPr txBox="1"/>
          <p:nvPr/>
        </p:nvSpPr>
        <p:spPr>
          <a:xfrm>
            <a:off x="9006840" y="4919472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F1F3D"/>
                </a:solidFill>
                <a:latin typeface="Calibri"/>
              </a:rPr>
              <a:t>[KPI 4 — ex: ROIC / Giro ativo / CAPEX/Receita]</a:t>
            </a:r>
          </a:p>
        </p:txBody>
      </p:sp>
      <p:sp>
        <p:nvSpPr>
          <p:cNvPr id="193" name="TextBox 192"/>
          <p:cNvSpPr txBox="1"/>
          <p:nvPr/>
        </p:nvSpPr>
        <p:spPr>
          <a:xfrm>
            <a:off x="9006840" y="5175504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F1F3D"/>
                </a:solidFill>
                <a:latin typeface="Calibri"/>
              </a:rPr>
              <a:t>[Valor] [Un]</a:t>
            </a:r>
          </a:p>
        </p:txBody>
      </p:sp>
      <p:sp>
        <p:nvSpPr>
          <p:cNvPr id="194" name="TextBox 193"/>
          <p:cNvSpPr txBox="1"/>
          <p:nvPr/>
        </p:nvSpPr>
        <p:spPr>
          <a:xfrm>
            <a:off x="9006840" y="5449824"/>
            <a:ext cx="2560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718096"/>
                </a:solidFill>
                <a:latin typeface="Calibri"/>
              </a:rPr>
              <a:t>Bench: [___]</a:t>
            </a:r>
          </a:p>
        </p:txBody>
      </p:sp>
      <p:sp>
        <p:nvSpPr>
          <p:cNvPr id="195" name="TextBox 194"/>
          <p:cNvSpPr txBox="1"/>
          <p:nvPr/>
        </p:nvSpPr>
        <p:spPr>
          <a:xfrm>
            <a:off x="274320" y="5742432"/>
            <a:ext cx="11430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1">
                <a:solidFill>
                  <a:srgbClr val="718096"/>
                </a:solidFill>
                <a:latin typeface="Calibri"/>
              </a:rPr>
              <a:t>Premissas projecoes: Repositorio Base v1.0 Modulo 1 (IPCA/CDI/cambio) + Modulo 4 (setoriais) | IQL=FCO/LL: avalia qualidade do lucro (Manual Sec. 7.2) | CAPEX/D&amp;A &lt;1,0x = desinvestimento (Manual Sec. 12.2)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F1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116128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Georgia"/>
              </a:rPr>
              <a:t>IV. Valuation — DCF, Multiplos, DDM e Analise de Sensibilidade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94944"/>
            <a:ext cx="11612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E2E8F0"/>
                </a:solidFill>
                <a:latin typeface="Calibri"/>
              </a:rPr>
              <a:t>Manual Sec. 5.2 (DCF) + 5.3 (Multiplos) + 5.5 (DDM) | Modelo Excel Abas 5.WACC + 6.DCF + 7.MULTIPLOS + 10.SENSIBILIDADE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960120"/>
            <a:ext cx="12188952" cy="18288"/>
          </a:xfrm>
          <a:prstGeom prst="rect">
            <a:avLst/>
          </a:prstGeom>
          <a:solidFill>
            <a:srgbClr val="A0AE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56248"/>
            <a:ext cx="114300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1">
                <a:solidFill>
                  <a:srgbClr val="718096"/>
                </a:solidFill>
                <a:latin typeface="Calibri"/>
              </a:rPr>
              <a:t>Equity Opinion ECM | Manual ECM IB v1.0 (Secoes 1-13) | Repositorio Premissas Base v1.0 (Mar/2026)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078992"/>
            <a:ext cx="5669280" cy="210312"/>
          </a:xfrm>
          <a:prstGeom prst="rect">
            <a:avLst/>
          </a:prstGeom>
          <a:solidFill>
            <a:srgbClr val="0F1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7472" y="1106424"/>
            <a:ext cx="555955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DCF — WACC E COMPONENTES (Manual Sec. 5.2.1 | Aba 5)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325880"/>
            <a:ext cx="2377440" cy="29260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7472" y="1380744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0F1F3D"/>
                </a:solidFill>
                <a:latin typeface="Calibri"/>
              </a:rPr>
              <a:t>Taxa livre de risco (Rf)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88336" y="1380744"/>
            <a:ext cx="318211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2D3748"/>
                </a:solidFill>
                <a:latin typeface="Calibri"/>
              </a:rPr>
              <a:t>NTN-B [prazo] = IPCA + [__]% (Modulo 1.4 Repos. Base)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1655064"/>
            <a:ext cx="2377440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7472" y="1709928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0F1F3D"/>
                </a:solidFill>
                <a:latin typeface="Calibri"/>
              </a:rPr>
              <a:t>Premio risco mercado (ERP)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88336" y="1709928"/>
            <a:ext cx="318211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2D3748"/>
                </a:solidFill>
                <a:latin typeface="Calibri"/>
              </a:rPr>
              <a:t>[__]% (Damodaran Emerging Markets Jan/2026)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1984248"/>
            <a:ext cx="2377440" cy="29260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47472" y="2039112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0F1F3D"/>
                </a:solidFill>
                <a:latin typeface="Calibri"/>
              </a:rPr>
              <a:t>Premio pais (CDS Brasil 5a)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88336" y="2039112"/>
            <a:ext cx="318211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2D3748"/>
                </a:solidFill>
                <a:latin typeface="Calibri"/>
              </a:rPr>
              <a:t>[__]% (Bloomberg [data])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2313432"/>
            <a:ext cx="2377440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47472" y="2368296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0F1F3D"/>
                </a:solidFill>
                <a:latin typeface="Calibri"/>
              </a:rPr>
              <a:t>Beta desalavancado (βU)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688336" y="2368296"/>
            <a:ext cx="318211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2D3748"/>
                </a:solidFill>
                <a:latin typeface="Calibri"/>
              </a:rPr>
              <a:t>[__] (Damodaran setor [___] Jan/2026)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" y="2642615"/>
            <a:ext cx="2377440" cy="29260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47472" y="2697479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0F1F3D"/>
                </a:solidFill>
                <a:latin typeface="Calibri"/>
              </a:rPr>
              <a:t>Beta alavancado (βL)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688336" y="2697479"/>
            <a:ext cx="318211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2D3748"/>
                </a:solidFill>
                <a:latin typeface="Calibri"/>
              </a:rPr>
              <a:t>[__] (ajustado pela estrutura de capital alvo [D/E])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4320" y="2971800"/>
            <a:ext cx="2377440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47472" y="3026664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0F1F3D"/>
                </a:solidFill>
                <a:latin typeface="Calibri"/>
              </a:rPr>
              <a:t>Ke (Custo Equity)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88336" y="3026664"/>
            <a:ext cx="318211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2D3748"/>
                </a:solidFill>
                <a:latin typeface="Calibri"/>
              </a:rPr>
              <a:t>[__]% a.a. (nominal BRL) = Rf + βL x ERP + Pais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74320" y="3300984"/>
            <a:ext cx="2377440" cy="29260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47472" y="3355848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0F1F3D"/>
                </a:solidFill>
                <a:latin typeface="Calibri"/>
              </a:rPr>
              <a:t>Kd (Custo Divida pre-IR)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88336" y="3355848"/>
            <a:ext cx="318211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2D3748"/>
                </a:solidFill>
                <a:latin typeface="Calibri"/>
              </a:rPr>
              <a:t>[__]% a.a. (taxa captacao atual da empresa)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3630168"/>
            <a:ext cx="2377440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47472" y="3685031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0F1F3D"/>
                </a:solidFill>
                <a:latin typeface="Calibri"/>
              </a:rPr>
              <a:t>Aliquota IR/CSLL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688336" y="3685031"/>
            <a:ext cx="318211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2D3748"/>
                </a:solidFill>
                <a:latin typeface="Calibri"/>
              </a:rPr>
              <a:t>34% (padrao) | [__]% se regime especial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74320" y="3959352"/>
            <a:ext cx="2377440" cy="292608"/>
          </a:xfrm>
          <a:prstGeom prst="rect">
            <a:avLst/>
          </a:prstGeom>
          <a:solidFill>
            <a:srgbClr val="E8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47472" y="4014215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0F1F3D"/>
                </a:solidFill>
                <a:latin typeface="Calibri"/>
              </a:rPr>
              <a:t>WACC Nominal BRL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688336" y="4014215"/>
            <a:ext cx="318211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F1F3D"/>
                </a:solidFill>
                <a:latin typeface="Calibri"/>
              </a:rPr>
              <a:t>[__]% a.a. (Bench. setor: Repositorio Base Modulo 5.2)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74320" y="4288536"/>
            <a:ext cx="2377440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47472" y="4343399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0F1F3D"/>
                </a:solidFill>
                <a:latin typeface="Calibri"/>
              </a:rPr>
              <a:t>Taxa g (perpetuidade)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688336" y="4343399"/>
            <a:ext cx="318211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2D3748"/>
                </a:solidFill>
                <a:latin typeface="Calibri"/>
              </a:rPr>
              <a:t>[__]% a.a. (Repositorio Base Modulo 5.3 — max 4,5%)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74320" y="4617720"/>
            <a:ext cx="2377440" cy="29260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47472" y="4672583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0F1F3D"/>
                </a:solidFill>
                <a:latin typeface="Calibri"/>
              </a:rPr>
              <a:t>Terminal Value / EV total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688336" y="4672583"/>
            <a:ext cx="318211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2D3748"/>
                </a:solidFill>
                <a:latin typeface="Calibri"/>
              </a:rPr>
              <a:t>[__]% do EV (&gt;80% = baixa visibilidade — rever premissas)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74320" y="4946904"/>
            <a:ext cx="2377440" cy="292608"/>
          </a:xfrm>
          <a:prstGeom prst="rect">
            <a:avLst/>
          </a:prstGeom>
          <a:solidFill>
            <a:srgbClr val="E8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47472" y="5001768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0F1F3D"/>
                </a:solidFill>
                <a:latin typeface="Calibri"/>
              </a:rPr>
              <a:t>Equity Value DCF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688336" y="5001768"/>
            <a:ext cx="318211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F1F3D"/>
                </a:solidFill>
                <a:latin typeface="Calibri"/>
              </a:rPr>
              <a:t>R$[__]Bi  |  Preco/acao implicito: R$[__]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080760" y="1078992"/>
            <a:ext cx="5833872" cy="210312"/>
          </a:xfrm>
          <a:prstGeom prst="rect">
            <a:avLst/>
          </a:prstGeom>
          <a:solidFill>
            <a:srgbClr val="0F1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153912" y="1106424"/>
            <a:ext cx="5724144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ANALISE DE MULTIPLOS — PEERS LISTADOS (Manual Sec. 5.3 | Aba 7)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080760" y="1316736"/>
            <a:ext cx="954023" cy="228600"/>
          </a:xfrm>
          <a:prstGeom prst="rect">
            <a:avLst/>
          </a:prstGeom>
          <a:solidFill>
            <a:srgbClr val="0F1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117336" y="1353312"/>
            <a:ext cx="89916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  <a:latin typeface="Calibri"/>
              </a:rPr>
              <a:t>Empresa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053072" y="1316736"/>
            <a:ext cx="954023" cy="228600"/>
          </a:xfrm>
          <a:prstGeom prst="rect">
            <a:avLst/>
          </a:prstGeom>
          <a:solidFill>
            <a:srgbClr val="0F1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089648" y="1353312"/>
            <a:ext cx="89916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  <a:latin typeface="Calibri"/>
              </a:rPr>
              <a:t>Mkt Cap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025384" y="1316736"/>
            <a:ext cx="954023" cy="228600"/>
          </a:xfrm>
          <a:prstGeom prst="rect">
            <a:avLst/>
          </a:prstGeom>
          <a:solidFill>
            <a:srgbClr val="0F1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061960" y="1353312"/>
            <a:ext cx="89916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  <a:latin typeface="Calibri"/>
              </a:rPr>
              <a:t>EV/EBITDA LTM</a:t>
            </a:r>
          </a:p>
        </p:txBody>
      </p:sp>
      <p:sp>
        <p:nvSpPr>
          <p:cNvPr id="55" name="Rectangle 54"/>
          <p:cNvSpPr/>
          <p:nvPr/>
        </p:nvSpPr>
        <p:spPr>
          <a:xfrm>
            <a:off x="8997696" y="1316736"/>
            <a:ext cx="954023" cy="228600"/>
          </a:xfrm>
          <a:prstGeom prst="rect">
            <a:avLst/>
          </a:prstGeom>
          <a:solidFill>
            <a:srgbClr val="0F1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034272" y="1353312"/>
            <a:ext cx="89916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  <a:latin typeface="Calibri"/>
              </a:rPr>
              <a:t>EV/EBITDA NTM</a:t>
            </a:r>
          </a:p>
        </p:txBody>
      </p:sp>
      <p:sp>
        <p:nvSpPr>
          <p:cNvPr id="57" name="Rectangle 56"/>
          <p:cNvSpPr/>
          <p:nvPr/>
        </p:nvSpPr>
        <p:spPr>
          <a:xfrm>
            <a:off x="9970008" y="1316736"/>
            <a:ext cx="954023" cy="228600"/>
          </a:xfrm>
          <a:prstGeom prst="rect">
            <a:avLst/>
          </a:prstGeom>
          <a:solidFill>
            <a:srgbClr val="0F1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0006583" y="1353312"/>
            <a:ext cx="89916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  <a:latin typeface="Calibri"/>
              </a:rPr>
              <a:t>P/E NTM</a:t>
            </a:r>
          </a:p>
        </p:txBody>
      </p:sp>
      <p:sp>
        <p:nvSpPr>
          <p:cNvPr id="59" name="Rectangle 58"/>
          <p:cNvSpPr/>
          <p:nvPr/>
        </p:nvSpPr>
        <p:spPr>
          <a:xfrm>
            <a:off x="10942320" y="1316736"/>
            <a:ext cx="954023" cy="228600"/>
          </a:xfrm>
          <a:prstGeom prst="rect">
            <a:avLst/>
          </a:prstGeom>
          <a:solidFill>
            <a:srgbClr val="0F1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10978896" y="1353312"/>
            <a:ext cx="89916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  <a:latin typeface="Calibri"/>
              </a:rPr>
              <a:t>EV/Rec.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080760" y="1545336"/>
            <a:ext cx="954023" cy="25603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117336" y="1572768"/>
            <a:ext cx="899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2D3748"/>
                </a:solidFill>
                <a:latin typeface="Calibri"/>
              </a:rPr>
              <a:t>[Peer 1]</a:t>
            </a:r>
          </a:p>
        </p:txBody>
      </p:sp>
      <p:sp>
        <p:nvSpPr>
          <p:cNvPr id="63" name="Rectangle 62"/>
          <p:cNvSpPr/>
          <p:nvPr/>
        </p:nvSpPr>
        <p:spPr>
          <a:xfrm>
            <a:off x="7053072" y="1545336"/>
            <a:ext cx="954023" cy="25603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7089648" y="1572768"/>
            <a:ext cx="899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2D3748"/>
                </a:solidFill>
                <a:latin typeface="Calibri"/>
              </a:rPr>
              <a:t>R$[__]Bi</a:t>
            </a:r>
          </a:p>
        </p:txBody>
      </p:sp>
      <p:sp>
        <p:nvSpPr>
          <p:cNvPr id="65" name="Rectangle 64"/>
          <p:cNvSpPr/>
          <p:nvPr/>
        </p:nvSpPr>
        <p:spPr>
          <a:xfrm>
            <a:off x="8025384" y="1545336"/>
            <a:ext cx="954023" cy="25603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8061960" y="1572768"/>
            <a:ext cx="899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2D3748"/>
                </a:solidFill>
                <a:latin typeface="Calibri"/>
              </a:rPr>
              <a:t>[__]x</a:t>
            </a:r>
          </a:p>
        </p:txBody>
      </p:sp>
      <p:sp>
        <p:nvSpPr>
          <p:cNvPr id="67" name="Rectangle 66"/>
          <p:cNvSpPr/>
          <p:nvPr/>
        </p:nvSpPr>
        <p:spPr>
          <a:xfrm>
            <a:off x="8997696" y="1545336"/>
            <a:ext cx="954023" cy="25603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9034272" y="1572768"/>
            <a:ext cx="899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2D3748"/>
                </a:solidFill>
                <a:latin typeface="Calibri"/>
              </a:rPr>
              <a:t>[__]x</a:t>
            </a:r>
          </a:p>
        </p:txBody>
      </p:sp>
      <p:sp>
        <p:nvSpPr>
          <p:cNvPr id="69" name="Rectangle 68"/>
          <p:cNvSpPr/>
          <p:nvPr/>
        </p:nvSpPr>
        <p:spPr>
          <a:xfrm>
            <a:off x="9970008" y="1545336"/>
            <a:ext cx="954023" cy="25603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10006583" y="1572768"/>
            <a:ext cx="899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2D3748"/>
                </a:solidFill>
                <a:latin typeface="Calibri"/>
              </a:rPr>
              <a:t>[__]x</a:t>
            </a:r>
          </a:p>
        </p:txBody>
      </p:sp>
      <p:sp>
        <p:nvSpPr>
          <p:cNvPr id="71" name="Rectangle 70"/>
          <p:cNvSpPr/>
          <p:nvPr/>
        </p:nvSpPr>
        <p:spPr>
          <a:xfrm>
            <a:off x="10942320" y="1545336"/>
            <a:ext cx="954023" cy="25603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10978896" y="1572768"/>
            <a:ext cx="899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2D3748"/>
                </a:solidFill>
                <a:latin typeface="Calibri"/>
              </a:rPr>
              <a:t>[__]x</a:t>
            </a:r>
          </a:p>
        </p:txBody>
      </p:sp>
      <p:sp>
        <p:nvSpPr>
          <p:cNvPr id="73" name="Rectangle 72"/>
          <p:cNvSpPr/>
          <p:nvPr/>
        </p:nvSpPr>
        <p:spPr>
          <a:xfrm>
            <a:off x="6080760" y="1819656"/>
            <a:ext cx="954023" cy="2560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6117336" y="1847088"/>
            <a:ext cx="899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2D3748"/>
                </a:solidFill>
                <a:latin typeface="Calibri"/>
              </a:rPr>
              <a:t>[Peer 2]</a:t>
            </a:r>
          </a:p>
        </p:txBody>
      </p:sp>
      <p:sp>
        <p:nvSpPr>
          <p:cNvPr id="75" name="Rectangle 74"/>
          <p:cNvSpPr/>
          <p:nvPr/>
        </p:nvSpPr>
        <p:spPr>
          <a:xfrm>
            <a:off x="7053072" y="1819656"/>
            <a:ext cx="954023" cy="2560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7089648" y="1847088"/>
            <a:ext cx="899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2D3748"/>
                </a:solidFill>
                <a:latin typeface="Calibri"/>
              </a:rPr>
              <a:t>R$[__]Bi</a:t>
            </a:r>
          </a:p>
        </p:txBody>
      </p:sp>
      <p:sp>
        <p:nvSpPr>
          <p:cNvPr id="77" name="Rectangle 76"/>
          <p:cNvSpPr/>
          <p:nvPr/>
        </p:nvSpPr>
        <p:spPr>
          <a:xfrm>
            <a:off x="8025384" y="1819656"/>
            <a:ext cx="954023" cy="2560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8061960" y="1847088"/>
            <a:ext cx="899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2D3748"/>
                </a:solidFill>
                <a:latin typeface="Calibri"/>
              </a:rPr>
              <a:t>[__]x</a:t>
            </a:r>
          </a:p>
        </p:txBody>
      </p:sp>
      <p:sp>
        <p:nvSpPr>
          <p:cNvPr id="79" name="Rectangle 78"/>
          <p:cNvSpPr/>
          <p:nvPr/>
        </p:nvSpPr>
        <p:spPr>
          <a:xfrm>
            <a:off x="8997696" y="1819656"/>
            <a:ext cx="954023" cy="2560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9034272" y="1847088"/>
            <a:ext cx="899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2D3748"/>
                </a:solidFill>
                <a:latin typeface="Calibri"/>
              </a:rPr>
              <a:t>[__]x</a:t>
            </a:r>
          </a:p>
        </p:txBody>
      </p:sp>
      <p:sp>
        <p:nvSpPr>
          <p:cNvPr id="81" name="Rectangle 80"/>
          <p:cNvSpPr/>
          <p:nvPr/>
        </p:nvSpPr>
        <p:spPr>
          <a:xfrm>
            <a:off x="9970008" y="1819656"/>
            <a:ext cx="954023" cy="2560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10006583" y="1847088"/>
            <a:ext cx="899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2D3748"/>
                </a:solidFill>
                <a:latin typeface="Calibri"/>
              </a:rPr>
              <a:t>[__]x</a:t>
            </a:r>
          </a:p>
        </p:txBody>
      </p:sp>
      <p:sp>
        <p:nvSpPr>
          <p:cNvPr id="83" name="Rectangle 82"/>
          <p:cNvSpPr/>
          <p:nvPr/>
        </p:nvSpPr>
        <p:spPr>
          <a:xfrm>
            <a:off x="10942320" y="1819656"/>
            <a:ext cx="954023" cy="2560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10978896" y="1847088"/>
            <a:ext cx="899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2D3748"/>
                </a:solidFill>
                <a:latin typeface="Calibri"/>
              </a:rPr>
              <a:t>[__]x</a:t>
            </a:r>
          </a:p>
        </p:txBody>
      </p:sp>
      <p:sp>
        <p:nvSpPr>
          <p:cNvPr id="85" name="Rectangle 84"/>
          <p:cNvSpPr/>
          <p:nvPr/>
        </p:nvSpPr>
        <p:spPr>
          <a:xfrm>
            <a:off x="6080760" y="2093976"/>
            <a:ext cx="954023" cy="25603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6117336" y="2121408"/>
            <a:ext cx="899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2D3748"/>
                </a:solidFill>
                <a:latin typeface="Calibri"/>
              </a:rPr>
              <a:t>[Peer 3]</a:t>
            </a:r>
          </a:p>
        </p:txBody>
      </p:sp>
      <p:sp>
        <p:nvSpPr>
          <p:cNvPr id="87" name="Rectangle 86"/>
          <p:cNvSpPr/>
          <p:nvPr/>
        </p:nvSpPr>
        <p:spPr>
          <a:xfrm>
            <a:off x="7053072" y="2093976"/>
            <a:ext cx="954023" cy="25603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7089648" y="2121408"/>
            <a:ext cx="899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2D3748"/>
                </a:solidFill>
                <a:latin typeface="Calibri"/>
              </a:rPr>
              <a:t>R$[__]Bi</a:t>
            </a:r>
          </a:p>
        </p:txBody>
      </p:sp>
      <p:sp>
        <p:nvSpPr>
          <p:cNvPr id="89" name="Rectangle 88"/>
          <p:cNvSpPr/>
          <p:nvPr/>
        </p:nvSpPr>
        <p:spPr>
          <a:xfrm>
            <a:off x="8025384" y="2093976"/>
            <a:ext cx="954023" cy="25603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8061960" y="2121408"/>
            <a:ext cx="899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2D3748"/>
                </a:solidFill>
                <a:latin typeface="Calibri"/>
              </a:rPr>
              <a:t>[__]x</a:t>
            </a:r>
          </a:p>
        </p:txBody>
      </p:sp>
      <p:sp>
        <p:nvSpPr>
          <p:cNvPr id="91" name="Rectangle 90"/>
          <p:cNvSpPr/>
          <p:nvPr/>
        </p:nvSpPr>
        <p:spPr>
          <a:xfrm>
            <a:off x="8997696" y="2093976"/>
            <a:ext cx="954023" cy="25603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9034272" y="2121408"/>
            <a:ext cx="899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2D3748"/>
                </a:solidFill>
                <a:latin typeface="Calibri"/>
              </a:rPr>
              <a:t>[__]x</a:t>
            </a:r>
          </a:p>
        </p:txBody>
      </p:sp>
      <p:sp>
        <p:nvSpPr>
          <p:cNvPr id="93" name="Rectangle 92"/>
          <p:cNvSpPr/>
          <p:nvPr/>
        </p:nvSpPr>
        <p:spPr>
          <a:xfrm>
            <a:off x="9970008" y="2093976"/>
            <a:ext cx="954023" cy="25603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10006583" y="2121408"/>
            <a:ext cx="899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2D3748"/>
                </a:solidFill>
                <a:latin typeface="Calibri"/>
              </a:rPr>
              <a:t>[__]x</a:t>
            </a:r>
          </a:p>
        </p:txBody>
      </p:sp>
      <p:sp>
        <p:nvSpPr>
          <p:cNvPr id="95" name="Rectangle 94"/>
          <p:cNvSpPr/>
          <p:nvPr/>
        </p:nvSpPr>
        <p:spPr>
          <a:xfrm>
            <a:off x="10942320" y="2093976"/>
            <a:ext cx="954023" cy="25603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10978896" y="2121408"/>
            <a:ext cx="899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2D3748"/>
                </a:solidFill>
                <a:latin typeface="Calibri"/>
              </a:rPr>
              <a:t>[__]x</a:t>
            </a:r>
          </a:p>
        </p:txBody>
      </p:sp>
      <p:sp>
        <p:nvSpPr>
          <p:cNvPr id="97" name="Rectangle 96"/>
          <p:cNvSpPr/>
          <p:nvPr/>
        </p:nvSpPr>
        <p:spPr>
          <a:xfrm>
            <a:off x="6080760" y="2368296"/>
            <a:ext cx="954023" cy="2560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6117336" y="2395727"/>
            <a:ext cx="899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2D3748"/>
                </a:solidFill>
                <a:latin typeface="Calibri"/>
              </a:rPr>
              <a:t>[Peer 4]</a:t>
            </a:r>
          </a:p>
        </p:txBody>
      </p:sp>
      <p:sp>
        <p:nvSpPr>
          <p:cNvPr id="99" name="Rectangle 98"/>
          <p:cNvSpPr/>
          <p:nvPr/>
        </p:nvSpPr>
        <p:spPr>
          <a:xfrm>
            <a:off x="7053072" y="2368296"/>
            <a:ext cx="954023" cy="2560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7089648" y="2395727"/>
            <a:ext cx="899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2D3748"/>
                </a:solidFill>
                <a:latin typeface="Calibri"/>
              </a:rPr>
              <a:t>R$[__]Bi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8025384" y="2368296"/>
            <a:ext cx="954023" cy="2560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8061960" y="2395727"/>
            <a:ext cx="899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2D3748"/>
                </a:solidFill>
                <a:latin typeface="Calibri"/>
              </a:rPr>
              <a:t>[__]x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8997696" y="2368296"/>
            <a:ext cx="954023" cy="2560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9034272" y="2395727"/>
            <a:ext cx="899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2D3748"/>
                </a:solidFill>
                <a:latin typeface="Calibri"/>
              </a:rPr>
              <a:t>[__]x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9970008" y="2368296"/>
            <a:ext cx="954023" cy="2560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10006583" y="2395727"/>
            <a:ext cx="899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2D3748"/>
                </a:solidFill>
                <a:latin typeface="Calibri"/>
              </a:rPr>
              <a:t>[__]x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10942320" y="2368296"/>
            <a:ext cx="954023" cy="2560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10978896" y="2395727"/>
            <a:ext cx="899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2D3748"/>
                </a:solidFill>
                <a:latin typeface="Calibri"/>
              </a:rPr>
              <a:t>[__]x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6080760" y="2642615"/>
            <a:ext cx="954023" cy="25603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6117336" y="2670047"/>
            <a:ext cx="899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2D3748"/>
                </a:solidFill>
                <a:latin typeface="Calibri"/>
              </a:rPr>
              <a:t>P25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7053072" y="2642615"/>
            <a:ext cx="954023" cy="25603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7089648" y="2670047"/>
            <a:ext cx="899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2D3748"/>
                </a:solidFill>
                <a:latin typeface="Calibri"/>
              </a:rPr>
              <a:t>—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8025384" y="2642615"/>
            <a:ext cx="954023" cy="25603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8061960" y="2670047"/>
            <a:ext cx="899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2D3748"/>
                </a:solidFill>
                <a:latin typeface="Calibri"/>
              </a:rPr>
              <a:t>[__]x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8997696" y="2642615"/>
            <a:ext cx="954023" cy="25603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9034272" y="2670047"/>
            <a:ext cx="899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2D3748"/>
                </a:solidFill>
                <a:latin typeface="Calibri"/>
              </a:rPr>
              <a:t>[__]x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9970008" y="2642615"/>
            <a:ext cx="954023" cy="25603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10006583" y="2670047"/>
            <a:ext cx="899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2D3748"/>
                </a:solidFill>
                <a:latin typeface="Calibri"/>
              </a:rPr>
              <a:t>[__]x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10942320" y="2642615"/>
            <a:ext cx="954023" cy="25603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10978896" y="2670047"/>
            <a:ext cx="899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2D3748"/>
                </a:solidFill>
                <a:latin typeface="Calibri"/>
              </a:rPr>
              <a:t>[__]x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6080760" y="2916936"/>
            <a:ext cx="954023" cy="256032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>
            <a:off x="6117336" y="2944368"/>
            <a:ext cx="899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Mediana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7053072" y="2916936"/>
            <a:ext cx="954023" cy="256032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7089648" y="2944368"/>
            <a:ext cx="899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—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8025384" y="2916936"/>
            <a:ext cx="954023" cy="256032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TextBox 125"/>
          <p:cNvSpPr txBox="1"/>
          <p:nvPr/>
        </p:nvSpPr>
        <p:spPr>
          <a:xfrm>
            <a:off x="8061960" y="2944368"/>
            <a:ext cx="899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[__]x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8997696" y="2916936"/>
            <a:ext cx="954023" cy="256032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TextBox 127"/>
          <p:cNvSpPr txBox="1"/>
          <p:nvPr/>
        </p:nvSpPr>
        <p:spPr>
          <a:xfrm>
            <a:off x="9034272" y="2944368"/>
            <a:ext cx="899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[__]x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9970008" y="2916936"/>
            <a:ext cx="954023" cy="256032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10006583" y="2944368"/>
            <a:ext cx="899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[__]x</a:t>
            </a:r>
          </a:p>
        </p:txBody>
      </p:sp>
      <p:sp>
        <p:nvSpPr>
          <p:cNvPr id="131" name="Rectangle 130"/>
          <p:cNvSpPr/>
          <p:nvPr/>
        </p:nvSpPr>
        <p:spPr>
          <a:xfrm>
            <a:off x="10942320" y="2916936"/>
            <a:ext cx="954023" cy="256032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TextBox 131"/>
          <p:cNvSpPr txBox="1"/>
          <p:nvPr/>
        </p:nvSpPr>
        <p:spPr>
          <a:xfrm>
            <a:off x="10978896" y="2944368"/>
            <a:ext cx="899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[__]x</a:t>
            </a:r>
          </a:p>
        </p:txBody>
      </p:sp>
      <p:sp>
        <p:nvSpPr>
          <p:cNvPr id="133" name="Rectangle 132"/>
          <p:cNvSpPr/>
          <p:nvPr/>
        </p:nvSpPr>
        <p:spPr>
          <a:xfrm>
            <a:off x="6080760" y="3191256"/>
            <a:ext cx="954023" cy="25603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TextBox 133"/>
          <p:cNvSpPr txBox="1"/>
          <p:nvPr/>
        </p:nvSpPr>
        <p:spPr>
          <a:xfrm>
            <a:off x="6117336" y="3218687"/>
            <a:ext cx="899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2D3748"/>
                </a:solidFill>
                <a:latin typeface="Calibri"/>
              </a:rPr>
              <a:t>P75</a:t>
            </a:r>
          </a:p>
        </p:txBody>
      </p:sp>
      <p:sp>
        <p:nvSpPr>
          <p:cNvPr id="135" name="Rectangle 134"/>
          <p:cNvSpPr/>
          <p:nvPr/>
        </p:nvSpPr>
        <p:spPr>
          <a:xfrm>
            <a:off x="7053072" y="3191256"/>
            <a:ext cx="954023" cy="25603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TextBox 135"/>
          <p:cNvSpPr txBox="1"/>
          <p:nvPr/>
        </p:nvSpPr>
        <p:spPr>
          <a:xfrm>
            <a:off x="7089648" y="3218687"/>
            <a:ext cx="899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2D3748"/>
                </a:solidFill>
                <a:latin typeface="Calibri"/>
              </a:rPr>
              <a:t>—</a:t>
            </a:r>
          </a:p>
        </p:txBody>
      </p:sp>
      <p:sp>
        <p:nvSpPr>
          <p:cNvPr id="137" name="Rectangle 136"/>
          <p:cNvSpPr/>
          <p:nvPr/>
        </p:nvSpPr>
        <p:spPr>
          <a:xfrm>
            <a:off x="8025384" y="3191256"/>
            <a:ext cx="954023" cy="25603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TextBox 137"/>
          <p:cNvSpPr txBox="1"/>
          <p:nvPr/>
        </p:nvSpPr>
        <p:spPr>
          <a:xfrm>
            <a:off x="8061960" y="3218687"/>
            <a:ext cx="899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2D3748"/>
                </a:solidFill>
                <a:latin typeface="Calibri"/>
              </a:rPr>
              <a:t>[__]x</a:t>
            </a:r>
          </a:p>
        </p:txBody>
      </p:sp>
      <p:sp>
        <p:nvSpPr>
          <p:cNvPr id="139" name="Rectangle 138"/>
          <p:cNvSpPr/>
          <p:nvPr/>
        </p:nvSpPr>
        <p:spPr>
          <a:xfrm>
            <a:off x="8997696" y="3191256"/>
            <a:ext cx="954023" cy="25603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TextBox 139"/>
          <p:cNvSpPr txBox="1"/>
          <p:nvPr/>
        </p:nvSpPr>
        <p:spPr>
          <a:xfrm>
            <a:off x="9034272" y="3218687"/>
            <a:ext cx="899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2D3748"/>
                </a:solidFill>
                <a:latin typeface="Calibri"/>
              </a:rPr>
              <a:t>[__]x</a:t>
            </a:r>
          </a:p>
        </p:txBody>
      </p:sp>
      <p:sp>
        <p:nvSpPr>
          <p:cNvPr id="141" name="Rectangle 140"/>
          <p:cNvSpPr/>
          <p:nvPr/>
        </p:nvSpPr>
        <p:spPr>
          <a:xfrm>
            <a:off x="9970008" y="3191256"/>
            <a:ext cx="954023" cy="25603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TextBox 141"/>
          <p:cNvSpPr txBox="1"/>
          <p:nvPr/>
        </p:nvSpPr>
        <p:spPr>
          <a:xfrm>
            <a:off x="10006583" y="3218687"/>
            <a:ext cx="899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2D3748"/>
                </a:solidFill>
                <a:latin typeface="Calibri"/>
              </a:rPr>
              <a:t>[__]x</a:t>
            </a:r>
          </a:p>
        </p:txBody>
      </p:sp>
      <p:sp>
        <p:nvSpPr>
          <p:cNvPr id="143" name="Rectangle 142"/>
          <p:cNvSpPr/>
          <p:nvPr/>
        </p:nvSpPr>
        <p:spPr>
          <a:xfrm>
            <a:off x="10942320" y="3191256"/>
            <a:ext cx="954023" cy="25603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TextBox 143"/>
          <p:cNvSpPr txBox="1"/>
          <p:nvPr/>
        </p:nvSpPr>
        <p:spPr>
          <a:xfrm>
            <a:off x="10978896" y="3218687"/>
            <a:ext cx="899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2D3748"/>
                </a:solidFill>
                <a:latin typeface="Calibri"/>
              </a:rPr>
              <a:t>[__]x</a:t>
            </a:r>
          </a:p>
        </p:txBody>
      </p:sp>
      <p:sp>
        <p:nvSpPr>
          <p:cNvPr id="145" name="Rectangle 144"/>
          <p:cNvSpPr/>
          <p:nvPr/>
        </p:nvSpPr>
        <p:spPr>
          <a:xfrm>
            <a:off x="6080760" y="3465576"/>
            <a:ext cx="954023" cy="256032"/>
          </a:xfrm>
          <a:prstGeom prst="rect">
            <a:avLst/>
          </a:prstGeom>
          <a:solidFill>
            <a:srgbClr val="E8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TextBox 145"/>
          <p:cNvSpPr txBox="1"/>
          <p:nvPr/>
        </p:nvSpPr>
        <p:spPr>
          <a:xfrm>
            <a:off x="6117336" y="3493008"/>
            <a:ext cx="899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0F1F3D"/>
                </a:solidFill>
                <a:latin typeface="Calibri"/>
              </a:rPr>
              <a:t>[EMPRESA ALVO]</a:t>
            </a:r>
          </a:p>
        </p:txBody>
      </p:sp>
      <p:sp>
        <p:nvSpPr>
          <p:cNvPr id="147" name="Rectangle 146"/>
          <p:cNvSpPr/>
          <p:nvPr/>
        </p:nvSpPr>
        <p:spPr>
          <a:xfrm>
            <a:off x="7053072" y="3465576"/>
            <a:ext cx="954023" cy="256032"/>
          </a:xfrm>
          <a:prstGeom prst="rect">
            <a:avLst/>
          </a:prstGeom>
          <a:solidFill>
            <a:srgbClr val="E8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TextBox 147"/>
          <p:cNvSpPr txBox="1"/>
          <p:nvPr/>
        </p:nvSpPr>
        <p:spPr>
          <a:xfrm>
            <a:off x="7089648" y="3493008"/>
            <a:ext cx="899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0F1F3D"/>
                </a:solidFill>
                <a:latin typeface="Calibri"/>
              </a:rPr>
              <a:t>N/A</a:t>
            </a:r>
          </a:p>
        </p:txBody>
      </p:sp>
      <p:sp>
        <p:nvSpPr>
          <p:cNvPr id="149" name="Rectangle 148"/>
          <p:cNvSpPr/>
          <p:nvPr/>
        </p:nvSpPr>
        <p:spPr>
          <a:xfrm>
            <a:off x="8025384" y="3465576"/>
            <a:ext cx="954023" cy="256032"/>
          </a:xfrm>
          <a:prstGeom prst="rect">
            <a:avLst/>
          </a:prstGeom>
          <a:solidFill>
            <a:srgbClr val="E8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TextBox 149"/>
          <p:cNvSpPr txBox="1"/>
          <p:nvPr/>
        </p:nvSpPr>
        <p:spPr>
          <a:xfrm>
            <a:off x="8061960" y="3493008"/>
            <a:ext cx="899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0F1F3D"/>
                </a:solidFill>
                <a:latin typeface="Calibri"/>
              </a:rPr>
              <a:t>[__]x</a:t>
            </a:r>
          </a:p>
        </p:txBody>
      </p:sp>
      <p:sp>
        <p:nvSpPr>
          <p:cNvPr id="151" name="Rectangle 150"/>
          <p:cNvSpPr/>
          <p:nvPr/>
        </p:nvSpPr>
        <p:spPr>
          <a:xfrm>
            <a:off x="8997696" y="3465576"/>
            <a:ext cx="954023" cy="256032"/>
          </a:xfrm>
          <a:prstGeom prst="rect">
            <a:avLst/>
          </a:prstGeom>
          <a:solidFill>
            <a:srgbClr val="E8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TextBox 151"/>
          <p:cNvSpPr txBox="1"/>
          <p:nvPr/>
        </p:nvSpPr>
        <p:spPr>
          <a:xfrm>
            <a:off x="9034272" y="3493008"/>
            <a:ext cx="899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0F1F3D"/>
                </a:solidFill>
                <a:latin typeface="Calibri"/>
              </a:rPr>
              <a:t>[__]x</a:t>
            </a:r>
          </a:p>
        </p:txBody>
      </p:sp>
      <p:sp>
        <p:nvSpPr>
          <p:cNvPr id="153" name="Rectangle 152"/>
          <p:cNvSpPr/>
          <p:nvPr/>
        </p:nvSpPr>
        <p:spPr>
          <a:xfrm>
            <a:off x="9970008" y="3465576"/>
            <a:ext cx="954023" cy="256032"/>
          </a:xfrm>
          <a:prstGeom prst="rect">
            <a:avLst/>
          </a:prstGeom>
          <a:solidFill>
            <a:srgbClr val="E8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TextBox 153"/>
          <p:cNvSpPr txBox="1"/>
          <p:nvPr/>
        </p:nvSpPr>
        <p:spPr>
          <a:xfrm>
            <a:off x="10006583" y="3493008"/>
            <a:ext cx="899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0F1F3D"/>
                </a:solidFill>
                <a:latin typeface="Calibri"/>
              </a:rPr>
              <a:t>[__]x</a:t>
            </a:r>
          </a:p>
        </p:txBody>
      </p:sp>
      <p:sp>
        <p:nvSpPr>
          <p:cNvPr id="155" name="Rectangle 154"/>
          <p:cNvSpPr/>
          <p:nvPr/>
        </p:nvSpPr>
        <p:spPr>
          <a:xfrm>
            <a:off x="10942320" y="3465576"/>
            <a:ext cx="954023" cy="256032"/>
          </a:xfrm>
          <a:prstGeom prst="rect">
            <a:avLst/>
          </a:prstGeom>
          <a:solidFill>
            <a:srgbClr val="E8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TextBox 155"/>
          <p:cNvSpPr txBox="1"/>
          <p:nvPr/>
        </p:nvSpPr>
        <p:spPr>
          <a:xfrm>
            <a:off x="10978896" y="3493008"/>
            <a:ext cx="899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0F1F3D"/>
                </a:solidFill>
                <a:latin typeface="Calibri"/>
              </a:rPr>
              <a:t>[__]x</a:t>
            </a:r>
          </a:p>
        </p:txBody>
      </p:sp>
      <p:sp>
        <p:nvSpPr>
          <p:cNvPr id="157" name="Rectangle 156"/>
          <p:cNvSpPr/>
          <p:nvPr/>
        </p:nvSpPr>
        <p:spPr>
          <a:xfrm>
            <a:off x="6080760" y="3785615"/>
            <a:ext cx="5833872" cy="210312"/>
          </a:xfrm>
          <a:prstGeom prst="rect">
            <a:avLst/>
          </a:prstGeom>
          <a:solidFill>
            <a:srgbClr val="0F1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TextBox 157"/>
          <p:cNvSpPr txBox="1"/>
          <p:nvPr/>
        </p:nvSpPr>
        <p:spPr>
          <a:xfrm>
            <a:off x="6153912" y="3813048"/>
            <a:ext cx="5724144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DDM (Manual Sec. 5.5) — aplicavel se empresa com historico de dividendos</a:t>
            </a:r>
          </a:p>
        </p:txBody>
      </p:sp>
      <p:sp>
        <p:nvSpPr>
          <p:cNvPr id="159" name="TextBox 158"/>
          <p:cNvSpPr txBox="1"/>
          <p:nvPr/>
        </p:nvSpPr>
        <p:spPr>
          <a:xfrm>
            <a:off x="6080760" y="4023360"/>
            <a:ext cx="5760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D3748"/>
                </a:solidFill>
                <a:latin typeface="Calibri"/>
              </a:rPr>
              <a:t>Formula Gordon: P = D1 / (Ke - g)  |  D1 = proximo dividendo anual esperado
Ke = [__]%  |  D1 = R$[__]/acao  |  g = [__]% (taxa crescimento sustentavel dividendos)
Preco DDM implicito: R$[__]/acao  |  [Aplicavel / N/A para este emissor]</a:t>
            </a:r>
          </a:p>
        </p:txBody>
      </p:sp>
      <p:sp>
        <p:nvSpPr>
          <p:cNvPr id="160" name="Rectangle 159"/>
          <p:cNvSpPr/>
          <p:nvPr/>
        </p:nvSpPr>
        <p:spPr>
          <a:xfrm>
            <a:off x="274320" y="4261104"/>
            <a:ext cx="5669280" cy="210312"/>
          </a:xfrm>
          <a:prstGeom prst="rect">
            <a:avLst/>
          </a:prstGeom>
          <a:solidFill>
            <a:srgbClr val="0F1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TextBox 160"/>
          <p:cNvSpPr txBox="1"/>
          <p:nvPr/>
        </p:nvSpPr>
        <p:spPr>
          <a:xfrm>
            <a:off x="347472" y="4288536"/>
            <a:ext cx="555955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SENSIBILIDADE DCF — WACC x g (Aba 10 Excel)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274320" y="4498848"/>
            <a:ext cx="777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F1F3D"/>
                </a:solidFill>
                <a:latin typeface="Calibri"/>
              </a:rPr>
              <a:t>WACC →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1097280" y="4498848"/>
            <a:ext cx="135331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0F1F3D"/>
                </a:solidFill>
                <a:latin typeface="Calibri"/>
              </a:rPr>
              <a:t>[W-1%]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2514600" y="4498848"/>
            <a:ext cx="135331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0F1F3D"/>
                </a:solidFill>
                <a:latin typeface="Calibri"/>
              </a:rPr>
              <a:t>[W base]</a:t>
            </a:r>
          </a:p>
        </p:txBody>
      </p:sp>
      <p:sp>
        <p:nvSpPr>
          <p:cNvPr id="165" name="TextBox 164"/>
          <p:cNvSpPr txBox="1"/>
          <p:nvPr/>
        </p:nvSpPr>
        <p:spPr>
          <a:xfrm>
            <a:off x="3931920" y="4498848"/>
            <a:ext cx="135331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0F1F3D"/>
                </a:solidFill>
                <a:latin typeface="Calibri"/>
              </a:rPr>
              <a:t>[W+1%]</a:t>
            </a:r>
          </a:p>
        </p:txBody>
      </p:sp>
      <p:sp>
        <p:nvSpPr>
          <p:cNvPr id="166" name="TextBox 165"/>
          <p:cNvSpPr txBox="1"/>
          <p:nvPr/>
        </p:nvSpPr>
        <p:spPr>
          <a:xfrm>
            <a:off x="274320" y="4736592"/>
            <a:ext cx="4572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F1F3D"/>
                </a:solidFill>
                <a:latin typeface="Calibri"/>
              </a:rPr>
              <a:t>g ↓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274320" y="4754880"/>
            <a:ext cx="914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F1F3D"/>
                </a:solidFill>
                <a:latin typeface="Calibri"/>
              </a:rPr>
              <a:t>[g-0,5%]</a:t>
            </a:r>
          </a:p>
        </p:txBody>
      </p:sp>
      <p:sp>
        <p:nvSpPr>
          <p:cNvPr id="168" name="Rectangle 167"/>
          <p:cNvSpPr/>
          <p:nvPr/>
        </p:nvSpPr>
        <p:spPr>
          <a:xfrm>
            <a:off x="1097280" y="4736592"/>
            <a:ext cx="1353312" cy="237744"/>
          </a:xfrm>
          <a:prstGeom prst="rect">
            <a:avLst/>
          </a:prstGeom>
          <a:solidFill>
            <a:srgbClr val="2767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TextBox 168"/>
          <p:cNvSpPr txBox="1"/>
          <p:nvPr/>
        </p:nvSpPr>
        <p:spPr>
          <a:xfrm>
            <a:off x="1097280" y="4754880"/>
            <a:ext cx="135331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  <a:latin typeface="Calibri"/>
              </a:rPr>
              <a:t>R$[__]</a:t>
            </a:r>
          </a:p>
        </p:txBody>
      </p:sp>
      <p:sp>
        <p:nvSpPr>
          <p:cNvPr id="170" name="Rectangle 169"/>
          <p:cNvSpPr/>
          <p:nvPr/>
        </p:nvSpPr>
        <p:spPr>
          <a:xfrm>
            <a:off x="2514600" y="4736592"/>
            <a:ext cx="1353312" cy="237744"/>
          </a:xfrm>
          <a:prstGeom prst="rect">
            <a:avLst/>
          </a:prstGeom>
          <a:solidFill>
            <a:srgbClr val="E8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TextBox 170"/>
          <p:cNvSpPr txBox="1"/>
          <p:nvPr/>
        </p:nvSpPr>
        <p:spPr>
          <a:xfrm>
            <a:off x="2514600" y="4754880"/>
            <a:ext cx="135331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F1F3D"/>
                </a:solidFill>
                <a:latin typeface="Calibri"/>
              </a:rPr>
              <a:t>R$[__]</a:t>
            </a:r>
          </a:p>
        </p:txBody>
      </p:sp>
      <p:sp>
        <p:nvSpPr>
          <p:cNvPr id="172" name="Rectangle 171"/>
          <p:cNvSpPr/>
          <p:nvPr/>
        </p:nvSpPr>
        <p:spPr>
          <a:xfrm>
            <a:off x="3931920" y="4736592"/>
            <a:ext cx="1353312" cy="237744"/>
          </a:xfrm>
          <a:prstGeom prst="rect">
            <a:avLst/>
          </a:prstGeom>
          <a:solidFill>
            <a:srgbClr val="E8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TextBox 172"/>
          <p:cNvSpPr txBox="1"/>
          <p:nvPr/>
        </p:nvSpPr>
        <p:spPr>
          <a:xfrm>
            <a:off x="3931920" y="4754880"/>
            <a:ext cx="135331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F1F3D"/>
                </a:solidFill>
                <a:latin typeface="Calibri"/>
              </a:rPr>
              <a:t>R$[__]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274320" y="5010912"/>
            <a:ext cx="914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F1F3D"/>
                </a:solidFill>
                <a:latin typeface="Calibri"/>
              </a:rPr>
              <a:t>[g base]</a:t>
            </a:r>
          </a:p>
        </p:txBody>
      </p:sp>
      <p:sp>
        <p:nvSpPr>
          <p:cNvPr id="175" name="Rectangle 174"/>
          <p:cNvSpPr/>
          <p:nvPr/>
        </p:nvSpPr>
        <p:spPr>
          <a:xfrm>
            <a:off x="1097280" y="4992624"/>
            <a:ext cx="1353312" cy="237744"/>
          </a:xfrm>
          <a:prstGeom prst="rect">
            <a:avLst/>
          </a:prstGeom>
          <a:solidFill>
            <a:srgbClr val="E8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TextBox 175"/>
          <p:cNvSpPr txBox="1"/>
          <p:nvPr/>
        </p:nvSpPr>
        <p:spPr>
          <a:xfrm>
            <a:off x="1097280" y="5010912"/>
            <a:ext cx="135331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F1F3D"/>
                </a:solidFill>
                <a:latin typeface="Calibri"/>
              </a:rPr>
              <a:t>R$[__]</a:t>
            </a:r>
          </a:p>
        </p:txBody>
      </p:sp>
      <p:sp>
        <p:nvSpPr>
          <p:cNvPr id="177" name="Rectangle 176"/>
          <p:cNvSpPr/>
          <p:nvPr/>
        </p:nvSpPr>
        <p:spPr>
          <a:xfrm>
            <a:off x="2514600" y="4992624"/>
            <a:ext cx="1353312" cy="2377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TextBox 177"/>
          <p:cNvSpPr txBox="1"/>
          <p:nvPr/>
        </p:nvSpPr>
        <p:spPr>
          <a:xfrm>
            <a:off x="2514600" y="5010912"/>
            <a:ext cx="135331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F1F3D"/>
                </a:solidFill>
                <a:latin typeface="Calibri"/>
              </a:rPr>
              <a:t>R$[__]</a:t>
            </a:r>
          </a:p>
        </p:txBody>
      </p:sp>
      <p:sp>
        <p:nvSpPr>
          <p:cNvPr id="179" name="Rectangle 178"/>
          <p:cNvSpPr/>
          <p:nvPr/>
        </p:nvSpPr>
        <p:spPr>
          <a:xfrm>
            <a:off x="3931920" y="4992624"/>
            <a:ext cx="1353312" cy="237744"/>
          </a:xfrm>
          <a:prstGeom prst="rect">
            <a:avLst/>
          </a:prstGeom>
          <a:solidFill>
            <a:srgbClr val="FF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TextBox 179"/>
          <p:cNvSpPr txBox="1"/>
          <p:nvPr/>
        </p:nvSpPr>
        <p:spPr>
          <a:xfrm>
            <a:off x="3931920" y="5010912"/>
            <a:ext cx="135331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F1F3D"/>
                </a:solidFill>
                <a:latin typeface="Calibri"/>
              </a:rPr>
              <a:t>R$[__]</a:t>
            </a:r>
          </a:p>
        </p:txBody>
      </p:sp>
      <p:sp>
        <p:nvSpPr>
          <p:cNvPr id="181" name="TextBox 180"/>
          <p:cNvSpPr txBox="1"/>
          <p:nvPr/>
        </p:nvSpPr>
        <p:spPr>
          <a:xfrm>
            <a:off x="274320" y="5266944"/>
            <a:ext cx="914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F1F3D"/>
                </a:solidFill>
                <a:latin typeface="Calibri"/>
              </a:rPr>
              <a:t>[g+0,5%]</a:t>
            </a:r>
          </a:p>
        </p:txBody>
      </p:sp>
      <p:sp>
        <p:nvSpPr>
          <p:cNvPr id="182" name="Rectangle 181"/>
          <p:cNvSpPr/>
          <p:nvPr/>
        </p:nvSpPr>
        <p:spPr>
          <a:xfrm>
            <a:off x="1097280" y="5248656"/>
            <a:ext cx="1353312" cy="237744"/>
          </a:xfrm>
          <a:prstGeom prst="rect">
            <a:avLst/>
          </a:prstGeom>
          <a:solidFill>
            <a:srgbClr val="E8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TextBox 182"/>
          <p:cNvSpPr txBox="1"/>
          <p:nvPr/>
        </p:nvSpPr>
        <p:spPr>
          <a:xfrm>
            <a:off x="1097280" y="5266944"/>
            <a:ext cx="135331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F1F3D"/>
                </a:solidFill>
                <a:latin typeface="Calibri"/>
              </a:rPr>
              <a:t>R$[__]</a:t>
            </a:r>
          </a:p>
        </p:txBody>
      </p:sp>
      <p:sp>
        <p:nvSpPr>
          <p:cNvPr id="184" name="Rectangle 183"/>
          <p:cNvSpPr/>
          <p:nvPr/>
        </p:nvSpPr>
        <p:spPr>
          <a:xfrm>
            <a:off x="2514600" y="5248656"/>
            <a:ext cx="1353312" cy="237744"/>
          </a:xfrm>
          <a:prstGeom prst="rect">
            <a:avLst/>
          </a:prstGeom>
          <a:solidFill>
            <a:srgbClr val="FF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TextBox 184"/>
          <p:cNvSpPr txBox="1"/>
          <p:nvPr/>
        </p:nvSpPr>
        <p:spPr>
          <a:xfrm>
            <a:off x="2514600" y="5266944"/>
            <a:ext cx="135331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F1F3D"/>
                </a:solidFill>
                <a:latin typeface="Calibri"/>
              </a:rPr>
              <a:t>R$[__]</a:t>
            </a:r>
          </a:p>
        </p:txBody>
      </p:sp>
      <p:sp>
        <p:nvSpPr>
          <p:cNvPr id="186" name="Rectangle 185"/>
          <p:cNvSpPr/>
          <p:nvPr/>
        </p:nvSpPr>
        <p:spPr>
          <a:xfrm>
            <a:off x="3931920" y="5248656"/>
            <a:ext cx="1353312" cy="237744"/>
          </a:xfrm>
          <a:prstGeom prst="rect">
            <a:avLst/>
          </a:prstGeom>
          <a:solidFill>
            <a:srgbClr val="FF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TextBox 186"/>
          <p:cNvSpPr txBox="1"/>
          <p:nvPr/>
        </p:nvSpPr>
        <p:spPr>
          <a:xfrm>
            <a:off x="3931920" y="5266944"/>
            <a:ext cx="135331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F1F3D"/>
                </a:solidFill>
                <a:latin typeface="Calibri"/>
              </a:rPr>
              <a:t>R$[__]</a:t>
            </a:r>
          </a:p>
        </p:txBody>
      </p:sp>
      <p:sp>
        <p:nvSpPr>
          <p:cNvPr id="188" name="TextBox 187"/>
          <p:cNvSpPr txBox="1"/>
          <p:nvPr/>
        </p:nvSpPr>
        <p:spPr>
          <a:xfrm>
            <a:off x="274320" y="5504688"/>
            <a:ext cx="5669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718096"/>
                </a:solidFill>
                <a:latin typeface="Calibri"/>
              </a:rPr>
              <a:t>Fontes: Damodaran Jan/2026 | Bloomberg [data] | BACEN Focus | Repositorio Base v1.0 Modulo 5 | Pares: B3 + Research BTG/XP/Itau</a:t>
            </a:r>
          </a:p>
        </p:txBody>
      </p:sp>
      <p:sp>
        <p:nvSpPr>
          <p:cNvPr id="189" name="Rectangle 188"/>
          <p:cNvSpPr/>
          <p:nvPr/>
        </p:nvSpPr>
        <p:spPr>
          <a:xfrm>
            <a:off x="6080760" y="4352544"/>
            <a:ext cx="5833872" cy="210312"/>
          </a:xfrm>
          <a:prstGeom prst="rect">
            <a:avLst/>
          </a:prstGeom>
          <a:solidFill>
            <a:srgbClr val="0F1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TextBox 189"/>
          <p:cNvSpPr txBox="1"/>
          <p:nvPr/>
        </p:nvSpPr>
        <p:spPr>
          <a:xfrm>
            <a:off x="6153912" y="4379976"/>
            <a:ext cx="5724144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RETORNO AO INVESTIDOR (Manual Sec. 11 | Aba 9)</a:t>
            </a:r>
          </a:p>
        </p:txBody>
      </p:sp>
      <p:sp>
        <p:nvSpPr>
          <p:cNvPr id="191" name="Rectangle 190"/>
          <p:cNvSpPr/>
          <p:nvPr/>
        </p:nvSpPr>
        <p:spPr>
          <a:xfrm>
            <a:off x="6080760" y="4590288"/>
            <a:ext cx="2286000" cy="31089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TextBox 191"/>
          <p:cNvSpPr txBox="1"/>
          <p:nvPr/>
        </p:nvSpPr>
        <p:spPr>
          <a:xfrm>
            <a:off x="6153912" y="4645151"/>
            <a:ext cx="21762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0F1F3D"/>
                </a:solidFill>
                <a:latin typeface="Calibri"/>
              </a:rPr>
              <a:t>Retorno Base (1 ano)</a:t>
            </a:r>
          </a:p>
        </p:txBody>
      </p:sp>
      <p:sp>
        <p:nvSpPr>
          <p:cNvPr id="193" name="TextBox 192"/>
          <p:cNvSpPr txBox="1"/>
          <p:nvPr/>
        </p:nvSpPr>
        <p:spPr>
          <a:xfrm>
            <a:off x="8394192" y="4645151"/>
            <a:ext cx="349300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D3748"/>
                </a:solidFill>
                <a:latin typeface="Calibri"/>
              </a:rPr>
              <a:t>[__]% | P/E saida: [__]x</a:t>
            </a:r>
          </a:p>
        </p:txBody>
      </p:sp>
      <p:sp>
        <p:nvSpPr>
          <p:cNvPr id="194" name="Rectangle 193"/>
          <p:cNvSpPr/>
          <p:nvPr/>
        </p:nvSpPr>
        <p:spPr>
          <a:xfrm>
            <a:off x="6080760" y="4937759"/>
            <a:ext cx="2286000" cy="3108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TextBox 194"/>
          <p:cNvSpPr txBox="1"/>
          <p:nvPr/>
        </p:nvSpPr>
        <p:spPr>
          <a:xfrm>
            <a:off x="6153912" y="4992623"/>
            <a:ext cx="21762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0F1F3D"/>
                </a:solidFill>
                <a:latin typeface="Calibri"/>
              </a:rPr>
              <a:t>Retorno Otimista</a:t>
            </a:r>
          </a:p>
        </p:txBody>
      </p:sp>
      <p:sp>
        <p:nvSpPr>
          <p:cNvPr id="196" name="TextBox 195"/>
          <p:cNvSpPr txBox="1"/>
          <p:nvPr/>
        </p:nvSpPr>
        <p:spPr>
          <a:xfrm>
            <a:off x="8394192" y="4992623"/>
            <a:ext cx="349300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D3748"/>
                </a:solidFill>
                <a:latin typeface="Calibri"/>
              </a:rPr>
              <a:t>[__]% | Multiplo re-rating: +[__]x</a:t>
            </a:r>
          </a:p>
        </p:txBody>
      </p:sp>
      <p:sp>
        <p:nvSpPr>
          <p:cNvPr id="197" name="Rectangle 196"/>
          <p:cNvSpPr/>
          <p:nvPr/>
        </p:nvSpPr>
        <p:spPr>
          <a:xfrm>
            <a:off x="6080760" y="5285231"/>
            <a:ext cx="2286000" cy="31089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TextBox 197"/>
          <p:cNvSpPr txBox="1"/>
          <p:nvPr/>
        </p:nvSpPr>
        <p:spPr>
          <a:xfrm>
            <a:off x="6153912" y="5340095"/>
            <a:ext cx="21762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0F1F3D"/>
                </a:solidFill>
                <a:latin typeface="Calibri"/>
              </a:rPr>
              <a:t>Retorno Downside</a:t>
            </a:r>
          </a:p>
        </p:txBody>
      </p:sp>
      <p:sp>
        <p:nvSpPr>
          <p:cNvPr id="199" name="TextBox 198"/>
          <p:cNvSpPr txBox="1"/>
          <p:nvPr/>
        </p:nvSpPr>
        <p:spPr>
          <a:xfrm>
            <a:off x="8394192" y="5340095"/>
            <a:ext cx="349300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D3748"/>
                </a:solidFill>
                <a:latin typeface="Calibri"/>
              </a:rPr>
              <a:t>[__]% | Protecao: dividendo [__]%</a:t>
            </a:r>
          </a:p>
        </p:txBody>
      </p:sp>
      <p:sp>
        <p:nvSpPr>
          <p:cNvPr id="200" name="Rectangle 199"/>
          <p:cNvSpPr/>
          <p:nvPr/>
        </p:nvSpPr>
        <p:spPr>
          <a:xfrm>
            <a:off x="6080760" y="5632704"/>
            <a:ext cx="2286000" cy="3108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TextBox 200"/>
          <p:cNvSpPr txBox="1"/>
          <p:nvPr/>
        </p:nvSpPr>
        <p:spPr>
          <a:xfrm>
            <a:off x="6153912" y="5687568"/>
            <a:ext cx="21762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0F1F3D"/>
                </a:solidFill>
                <a:latin typeface="Calibri"/>
              </a:rPr>
              <a:t>Payback (anos)</a:t>
            </a:r>
          </a:p>
        </p:txBody>
      </p:sp>
      <p:sp>
        <p:nvSpPr>
          <p:cNvPr id="202" name="TextBox 201"/>
          <p:cNvSpPr txBox="1"/>
          <p:nvPr/>
        </p:nvSpPr>
        <p:spPr>
          <a:xfrm>
            <a:off x="8394192" y="5687568"/>
            <a:ext cx="349300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D3748"/>
                </a:solidFill>
                <a:latin typeface="Calibri"/>
              </a:rPr>
              <a:t>[__] anos</a:t>
            </a:r>
          </a:p>
        </p:txBody>
      </p:sp>
      <p:sp>
        <p:nvSpPr>
          <p:cNvPr id="203" name="Rectangle 202"/>
          <p:cNvSpPr/>
          <p:nvPr/>
        </p:nvSpPr>
        <p:spPr>
          <a:xfrm>
            <a:off x="6080760" y="5980175"/>
            <a:ext cx="2286000" cy="31089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TextBox 203"/>
          <p:cNvSpPr txBox="1"/>
          <p:nvPr/>
        </p:nvSpPr>
        <p:spPr>
          <a:xfrm>
            <a:off x="6153912" y="6035039"/>
            <a:ext cx="21762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0F1F3D"/>
                </a:solidFill>
                <a:latin typeface="Calibri"/>
              </a:rPr>
              <a:t>Eficiencia tributaria</a:t>
            </a:r>
          </a:p>
        </p:txBody>
      </p:sp>
      <p:sp>
        <p:nvSpPr>
          <p:cNvPr id="205" name="TextBox 204"/>
          <p:cNvSpPr txBox="1"/>
          <p:nvPr/>
        </p:nvSpPr>
        <p:spPr>
          <a:xfrm>
            <a:off x="8394192" y="6035039"/>
            <a:ext cx="349300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D3748"/>
                </a:solidFill>
                <a:latin typeface="Calibri"/>
              </a:rPr>
              <a:t>JCP: [__]% do payout | IR dividendo: [isento/tributavel]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F1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116128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Georgia"/>
              </a:rPr>
              <a:t>V. Due Diligence — Financeira, Negocios e Legal/Regulatoria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94944"/>
            <a:ext cx="11612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E2E8F0"/>
                </a:solidFill>
                <a:latin typeface="Calibri"/>
              </a:rPr>
              <a:t>Manual Sec. 7 (3 tipos de DD) — pre-requisito para avanco ao bookbuilding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960120"/>
            <a:ext cx="12188952" cy="18288"/>
          </a:xfrm>
          <a:prstGeom prst="rect">
            <a:avLst/>
          </a:prstGeom>
          <a:solidFill>
            <a:srgbClr val="A0AE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56248"/>
            <a:ext cx="114300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1">
                <a:solidFill>
                  <a:srgbClr val="718096"/>
                </a:solidFill>
                <a:latin typeface="Calibri"/>
              </a:rPr>
              <a:t>Equity Opinion ECM | Manual ECM IB v1.0 (Secoes 1-13) | Repositorio Premissas Base v1.0 (Mar/2026)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078992"/>
            <a:ext cx="5669280" cy="210312"/>
          </a:xfrm>
          <a:prstGeom prst="rect">
            <a:avLst/>
          </a:prstGeom>
          <a:solidFill>
            <a:srgbClr val="0F1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7472" y="1106424"/>
            <a:ext cx="555955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7.2 DUE DILIGENCE FINANCEIRA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1335024"/>
            <a:ext cx="5394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D3748"/>
                </a:solidFill>
                <a:latin typeface="Calibri"/>
              </a:rPr>
              <a:t>  ✓  DFs auditadas 3-5 anos — auditor independente registrado CVM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" y="1664207"/>
            <a:ext cx="5394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D3748"/>
                </a:solidFill>
                <a:latin typeface="Calibri"/>
              </a:rPr>
              <a:t>  ✓  Reconciliacao GAAP vs. IFRS vs. metricas gerenciais (Adjusted EBITDA)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" y="1993391"/>
            <a:ext cx="5394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D3748"/>
                </a:solidFill>
                <a:latin typeface="Calibri"/>
              </a:rPr>
              <a:t>  ✓  IQL = FCO/LL: avalia qualidade dos lucros — alerta se &lt;0,7x por 2 anos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" y="2322576"/>
            <a:ext cx="5394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D3748"/>
                </a:solidFill>
                <a:latin typeface="Calibri"/>
              </a:rPr>
              <a:t>  ✓  Accruals = LL - FCO: positivos e crescentes = risco contabil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" y="2651760"/>
            <a:ext cx="5394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D3748"/>
                </a:solidFill>
                <a:latin typeface="Calibri"/>
              </a:rPr>
              <a:t>  ✓  Analise de working capital: variacao vs. crescimento da receita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4320" y="2980944"/>
            <a:ext cx="5394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D3748"/>
                </a:solidFill>
                <a:latin typeface="Calibri"/>
              </a:rPr>
              <a:t>  ✓  CAPEX: manutencao vs. crescimento | CAPEX/D&amp;A vs. benchmark setorial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" y="3310128"/>
            <a:ext cx="5394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D3748"/>
                </a:solidFill>
                <a:latin typeface="Calibri"/>
              </a:rPr>
              <a:t>  ✓  Analise de divida: covenants, vencimentos, moeda, taxa fixa vs. flutuante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4320" y="3639312"/>
            <a:ext cx="5394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D3748"/>
                </a:solidFill>
                <a:latin typeface="Calibri"/>
              </a:rPr>
              <a:t>  ✓  Partes relacionadas: arm's length, disclosure, management fee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20" y="3968496"/>
            <a:ext cx="5394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D3748"/>
                </a:solidFill>
                <a:latin typeface="Calibri"/>
              </a:rPr>
              <a:t>  ✓  Provisoes e contingencias: PCLD, trabalhistas, fiscais, ambientais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4320" y="4297679"/>
            <a:ext cx="5394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D3748"/>
                </a:solidFill>
                <a:latin typeface="Calibri"/>
              </a:rPr>
              <a:t>  ✓  Reconhecimento de receita: politica, mudancas recentes, agressividade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080760" y="1078992"/>
            <a:ext cx="5833872" cy="210312"/>
          </a:xfrm>
          <a:prstGeom prst="rect">
            <a:avLst/>
          </a:prstGeom>
          <a:solidFill>
            <a:srgbClr val="0F1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153912" y="1106424"/>
            <a:ext cx="5724144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7.3 DUE DILIGENCE DE NEGOCIOS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80760" y="1335024"/>
            <a:ext cx="574243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D3748"/>
                </a:solidFill>
                <a:latin typeface="Calibri"/>
              </a:rPr>
              <a:t>  ✓  Posicionamento competitivo: market share, barreiras de entrada, moat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80760" y="1682495"/>
            <a:ext cx="574243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D3748"/>
                </a:solidFill>
                <a:latin typeface="Calibri"/>
              </a:rPr>
              <a:t>  ✓  Modelo de receita: recorrente vs. pontual, concentracao clientes, ticket medio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080760" y="2029967"/>
            <a:ext cx="574243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D3748"/>
                </a:solidFill>
                <a:latin typeface="Calibri"/>
              </a:rPr>
              <a:t>  ✓  Churn rate: [__]%  |  NPS: [__]  |  LTV/CAC: [__]x (min 3x)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80760" y="2377440"/>
            <a:ext cx="574243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D3748"/>
                </a:solidFill>
                <a:latin typeface="Calibri"/>
              </a:rPr>
              <a:t>  ✓  Analise operacional: capacidade instalada, eficiencia, CAPEX manutencao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80760" y="2724912"/>
            <a:ext cx="574243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D3748"/>
                </a:solidFill>
                <a:latin typeface="Calibri"/>
              </a:rPr>
              <a:t>  ✓  Gestao e governanca: track record, incentivos LP, estrutura de conselho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080760" y="3072384"/>
            <a:ext cx="574243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D3748"/>
                </a:solidFill>
                <a:latin typeface="Calibri"/>
              </a:rPr>
              <a:t>  ✓  Analise setorial: ciclo, regulacao, pressao de precos, commoditizacao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080760" y="3419856"/>
            <a:ext cx="574243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D3748"/>
                </a:solidFill>
                <a:latin typeface="Calibri"/>
              </a:rPr>
              <a:t>  ✓  Pipeline de produtos/servicos/expansao — cronograma e investimentos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080760" y="3767328"/>
            <a:ext cx="574243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D3748"/>
                </a:solidFill>
                <a:latin typeface="Calibri"/>
              </a:rPr>
              <a:t>  ✓  Principais riscos do negocio: [Risco 1] | [Risco 2] | [Risco 3]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74320" y="4572000"/>
            <a:ext cx="5669280" cy="210312"/>
          </a:xfrm>
          <a:prstGeom prst="rect">
            <a:avLst/>
          </a:prstGeom>
          <a:solidFill>
            <a:srgbClr val="0F1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47472" y="4599432"/>
            <a:ext cx="555955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7.4 DUE DILIGENCE LEGAL E REGULATORIA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74320" y="4818888"/>
            <a:ext cx="53949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D3748"/>
                </a:solidFill>
                <a:latin typeface="Calibri"/>
              </a:rPr>
              <a:t>  ✓  Estrutura societaria: ON/PN, tag-along, poison pill, direitos controladores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74320" y="5166359"/>
            <a:ext cx="53949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D3748"/>
                </a:solidFill>
                <a:latin typeface="Calibri"/>
              </a:rPr>
              <a:t>  ✓  Contingencias: provisoes vs. riscos possiveis (trabalhistas, fiscais, ambientais, civeis)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74320" y="5513831"/>
            <a:ext cx="53949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D3748"/>
                </a:solidFill>
                <a:latin typeface="Calibri"/>
              </a:rPr>
              <a:t>  ✓  Propriedade intelectual: patentes, marcas, licencas — risco expiração/litígio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74320" y="5861304"/>
            <a:ext cx="53949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D3748"/>
                </a:solidFill>
                <a:latin typeface="Calibri"/>
              </a:rPr>
              <a:t>  ✓  Contratos relevantes: change of control, exclusividade, take-or-pay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74320" y="6208775"/>
            <a:ext cx="53949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D3748"/>
                </a:solidFill>
                <a:latin typeface="Calibri"/>
              </a:rPr>
              <a:t>  ✓  Compliance: LGPD, ANTT, ANVISA, BACEN — autorizacoes e licencas em vigor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080760" y="4572000"/>
            <a:ext cx="5833872" cy="210312"/>
          </a:xfrm>
          <a:prstGeom prst="rect">
            <a:avLst/>
          </a:prstGeom>
          <a:solidFill>
            <a:srgbClr val="0F1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153912" y="4599432"/>
            <a:ext cx="5724144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STATUS DA DUE DILIGENCE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080760" y="4818888"/>
            <a:ext cx="1440180" cy="228600"/>
          </a:xfrm>
          <a:prstGeom prst="rect">
            <a:avLst/>
          </a:prstGeom>
          <a:solidFill>
            <a:srgbClr val="0F1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117336" y="4855464"/>
            <a:ext cx="1385316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  <a:latin typeface="Calibri"/>
              </a:rPr>
              <a:t>Area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539228" y="4818888"/>
            <a:ext cx="1440180" cy="228600"/>
          </a:xfrm>
          <a:prstGeom prst="rect">
            <a:avLst/>
          </a:prstGeom>
          <a:solidFill>
            <a:srgbClr val="0F1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575804" y="4855464"/>
            <a:ext cx="1385316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  <a:latin typeface="Calibri"/>
              </a:rPr>
              <a:t>Status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997696" y="4818888"/>
            <a:ext cx="1440180" cy="228600"/>
          </a:xfrm>
          <a:prstGeom prst="rect">
            <a:avLst/>
          </a:prstGeom>
          <a:solidFill>
            <a:srgbClr val="0F1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034272" y="4855464"/>
            <a:ext cx="1385316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  <a:latin typeface="Calibri"/>
              </a:rPr>
              <a:t>Responsavel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0456164" y="4818888"/>
            <a:ext cx="1440180" cy="228600"/>
          </a:xfrm>
          <a:prstGeom prst="rect">
            <a:avLst/>
          </a:prstGeom>
          <a:solidFill>
            <a:srgbClr val="0F1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0492740" y="4855464"/>
            <a:ext cx="1385316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  <a:latin typeface="Calibri"/>
              </a:rPr>
              <a:t>Prazo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080760" y="5047488"/>
            <a:ext cx="1440180" cy="25603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117336" y="5074920"/>
            <a:ext cx="138531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2D3748"/>
                </a:solidFill>
                <a:latin typeface="Calibri"/>
              </a:rPr>
              <a:t>Financeira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539228" y="5047488"/>
            <a:ext cx="1440180" cy="25603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575804" y="5074920"/>
            <a:ext cx="138531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2D3748"/>
                </a:solidFill>
                <a:latin typeface="Calibri"/>
              </a:rPr>
              <a:t>[ ] Completa  [ ] Em andamento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997696" y="5047488"/>
            <a:ext cx="1440180" cy="25603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034272" y="5074920"/>
            <a:ext cx="138531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2D3748"/>
                </a:solidFill>
                <a:latin typeface="Calibri"/>
              </a:rPr>
              <a:t>[Nome]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0456164" y="5047488"/>
            <a:ext cx="1440180" cy="25603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0492740" y="5074920"/>
            <a:ext cx="138531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2D3748"/>
                </a:solidFill>
                <a:latin typeface="Calibri"/>
              </a:rPr>
              <a:t>[Data]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080760" y="5321807"/>
            <a:ext cx="1440180" cy="2560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117336" y="5349240"/>
            <a:ext cx="138531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2D3748"/>
                </a:solidFill>
                <a:latin typeface="Calibri"/>
              </a:rPr>
              <a:t>Negocios</a:t>
            </a:r>
          </a:p>
        </p:txBody>
      </p:sp>
      <p:sp>
        <p:nvSpPr>
          <p:cNvPr id="58" name="Rectangle 57"/>
          <p:cNvSpPr/>
          <p:nvPr/>
        </p:nvSpPr>
        <p:spPr>
          <a:xfrm>
            <a:off x="7539228" y="5321807"/>
            <a:ext cx="1440180" cy="2560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575804" y="5349240"/>
            <a:ext cx="138531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2D3748"/>
                </a:solidFill>
                <a:latin typeface="Calibri"/>
              </a:rPr>
              <a:t>[ ] Completa  [ ] Em andamento</a:t>
            </a:r>
          </a:p>
        </p:txBody>
      </p:sp>
      <p:sp>
        <p:nvSpPr>
          <p:cNvPr id="60" name="Rectangle 59"/>
          <p:cNvSpPr/>
          <p:nvPr/>
        </p:nvSpPr>
        <p:spPr>
          <a:xfrm>
            <a:off x="8997696" y="5321807"/>
            <a:ext cx="1440180" cy="2560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9034272" y="5349240"/>
            <a:ext cx="138531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2D3748"/>
                </a:solidFill>
                <a:latin typeface="Calibri"/>
              </a:rPr>
              <a:t>[Nome]</a:t>
            </a:r>
          </a:p>
        </p:txBody>
      </p:sp>
      <p:sp>
        <p:nvSpPr>
          <p:cNvPr id="62" name="Rectangle 61"/>
          <p:cNvSpPr/>
          <p:nvPr/>
        </p:nvSpPr>
        <p:spPr>
          <a:xfrm>
            <a:off x="10456164" y="5321807"/>
            <a:ext cx="1440180" cy="2560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0492740" y="5349240"/>
            <a:ext cx="138531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2D3748"/>
                </a:solidFill>
                <a:latin typeface="Calibri"/>
              </a:rPr>
              <a:t>[Data]</a:t>
            </a:r>
          </a:p>
        </p:txBody>
      </p:sp>
      <p:sp>
        <p:nvSpPr>
          <p:cNvPr id="64" name="Rectangle 63"/>
          <p:cNvSpPr/>
          <p:nvPr/>
        </p:nvSpPr>
        <p:spPr>
          <a:xfrm>
            <a:off x="6080760" y="5596127"/>
            <a:ext cx="1440180" cy="25603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6117336" y="5623559"/>
            <a:ext cx="138531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2D3748"/>
                </a:solidFill>
                <a:latin typeface="Calibri"/>
              </a:rPr>
              <a:t>Legal</a:t>
            </a:r>
          </a:p>
        </p:txBody>
      </p:sp>
      <p:sp>
        <p:nvSpPr>
          <p:cNvPr id="66" name="Rectangle 65"/>
          <p:cNvSpPr/>
          <p:nvPr/>
        </p:nvSpPr>
        <p:spPr>
          <a:xfrm>
            <a:off x="7539228" y="5596127"/>
            <a:ext cx="1440180" cy="25603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7575804" y="5623559"/>
            <a:ext cx="138531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2D3748"/>
                </a:solidFill>
                <a:latin typeface="Calibri"/>
              </a:rPr>
              <a:t>[ ] Completa  [ ] Em andamento</a:t>
            </a:r>
          </a:p>
        </p:txBody>
      </p:sp>
      <p:sp>
        <p:nvSpPr>
          <p:cNvPr id="68" name="Rectangle 67"/>
          <p:cNvSpPr/>
          <p:nvPr/>
        </p:nvSpPr>
        <p:spPr>
          <a:xfrm>
            <a:off x="8997696" y="5596127"/>
            <a:ext cx="1440180" cy="25603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9034272" y="5623559"/>
            <a:ext cx="138531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2D3748"/>
                </a:solidFill>
                <a:latin typeface="Calibri"/>
              </a:rPr>
              <a:t>[Advogados]</a:t>
            </a:r>
          </a:p>
        </p:txBody>
      </p:sp>
      <p:sp>
        <p:nvSpPr>
          <p:cNvPr id="70" name="Rectangle 69"/>
          <p:cNvSpPr/>
          <p:nvPr/>
        </p:nvSpPr>
        <p:spPr>
          <a:xfrm>
            <a:off x="10456164" y="5596127"/>
            <a:ext cx="1440180" cy="25603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10492740" y="5623559"/>
            <a:ext cx="138531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2D3748"/>
                </a:solidFill>
                <a:latin typeface="Calibri"/>
              </a:rPr>
              <a:t>[Data]</a:t>
            </a:r>
          </a:p>
        </p:txBody>
      </p:sp>
      <p:sp>
        <p:nvSpPr>
          <p:cNvPr id="72" name="Rectangle 71"/>
          <p:cNvSpPr/>
          <p:nvPr/>
        </p:nvSpPr>
        <p:spPr>
          <a:xfrm>
            <a:off x="6080760" y="5870448"/>
            <a:ext cx="1440180" cy="2560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6117336" y="5897880"/>
            <a:ext cx="138531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2D3748"/>
                </a:solidFill>
                <a:latin typeface="Calibri"/>
              </a:rPr>
              <a:t>Tributaria</a:t>
            </a:r>
          </a:p>
        </p:txBody>
      </p:sp>
      <p:sp>
        <p:nvSpPr>
          <p:cNvPr id="74" name="Rectangle 73"/>
          <p:cNvSpPr/>
          <p:nvPr/>
        </p:nvSpPr>
        <p:spPr>
          <a:xfrm>
            <a:off x="7539228" y="5870448"/>
            <a:ext cx="1440180" cy="2560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7575804" y="5897880"/>
            <a:ext cx="138531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2D3748"/>
                </a:solidFill>
                <a:latin typeface="Calibri"/>
              </a:rPr>
              <a:t>[ ] Completa  [ ] Em andamento</a:t>
            </a:r>
          </a:p>
        </p:txBody>
      </p:sp>
      <p:sp>
        <p:nvSpPr>
          <p:cNvPr id="76" name="Rectangle 75"/>
          <p:cNvSpPr/>
          <p:nvPr/>
        </p:nvSpPr>
        <p:spPr>
          <a:xfrm>
            <a:off x="8997696" y="5870448"/>
            <a:ext cx="1440180" cy="2560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9034272" y="5897880"/>
            <a:ext cx="138531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2D3748"/>
                </a:solidFill>
                <a:latin typeface="Calibri"/>
              </a:rPr>
              <a:t>[Advogados]</a:t>
            </a:r>
          </a:p>
        </p:txBody>
      </p:sp>
      <p:sp>
        <p:nvSpPr>
          <p:cNvPr id="78" name="Rectangle 77"/>
          <p:cNvSpPr/>
          <p:nvPr/>
        </p:nvSpPr>
        <p:spPr>
          <a:xfrm>
            <a:off x="10456164" y="5870448"/>
            <a:ext cx="1440180" cy="2560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10492740" y="5897880"/>
            <a:ext cx="138531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2D3748"/>
                </a:solidFill>
                <a:latin typeface="Calibri"/>
              </a:rPr>
              <a:t>[Data]</a:t>
            </a:r>
          </a:p>
        </p:txBody>
      </p:sp>
      <p:sp>
        <p:nvSpPr>
          <p:cNvPr id="80" name="Rectangle 79"/>
          <p:cNvSpPr/>
          <p:nvPr/>
        </p:nvSpPr>
        <p:spPr>
          <a:xfrm>
            <a:off x="6080760" y="6144768"/>
            <a:ext cx="1440180" cy="25603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6117336" y="6172200"/>
            <a:ext cx="138531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2D3748"/>
                </a:solidFill>
                <a:latin typeface="Calibri"/>
              </a:rPr>
              <a:t>Ambiental</a:t>
            </a:r>
          </a:p>
        </p:txBody>
      </p:sp>
      <p:sp>
        <p:nvSpPr>
          <p:cNvPr id="82" name="Rectangle 81"/>
          <p:cNvSpPr/>
          <p:nvPr/>
        </p:nvSpPr>
        <p:spPr>
          <a:xfrm>
            <a:off x="7539228" y="6144768"/>
            <a:ext cx="1440180" cy="25603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7575804" y="6172200"/>
            <a:ext cx="138531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2D3748"/>
                </a:solidFill>
                <a:latin typeface="Calibri"/>
              </a:rPr>
              <a:t>[ ] Completa  [ ] N/A</a:t>
            </a:r>
          </a:p>
        </p:txBody>
      </p:sp>
      <p:sp>
        <p:nvSpPr>
          <p:cNvPr id="84" name="Rectangle 83"/>
          <p:cNvSpPr/>
          <p:nvPr/>
        </p:nvSpPr>
        <p:spPr>
          <a:xfrm>
            <a:off x="8997696" y="6144768"/>
            <a:ext cx="1440180" cy="25603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9034272" y="6172200"/>
            <a:ext cx="138531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2D3748"/>
                </a:solidFill>
                <a:latin typeface="Calibri"/>
              </a:rPr>
              <a:t>[Consultor]</a:t>
            </a:r>
          </a:p>
        </p:txBody>
      </p:sp>
      <p:sp>
        <p:nvSpPr>
          <p:cNvPr id="86" name="Rectangle 85"/>
          <p:cNvSpPr/>
          <p:nvPr/>
        </p:nvSpPr>
        <p:spPr>
          <a:xfrm>
            <a:off x="10456164" y="6144768"/>
            <a:ext cx="1440180" cy="25603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10492740" y="6172200"/>
            <a:ext cx="138531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2D3748"/>
                </a:solidFill>
                <a:latin typeface="Calibri"/>
              </a:rPr>
              <a:t>[Data]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F1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116128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Georgia"/>
              </a:rPr>
              <a:t>VI. Estrutura da Oferta, Bookbuilding e Timing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94944"/>
            <a:ext cx="11612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E2E8F0"/>
                </a:solidFill>
                <a:latin typeface="Calibri"/>
              </a:rPr>
              <a:t>Manual Sec. 4 (8 Fases) + Sec. 6 (Precificacao e Bookbuilding) + Sec. 11 (Timing e Otimizacao)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960120"/>
            <a:ext cx="12188952" cy="18288"/>
          </a:xfrm>
          <a:prstGeom prst="rect">
            <a:avLst/>
          </a:prstGeom>
          <a:solidFill>
            <a:srgbClr val="A0AE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56248"/>
            <a:ext cx="114300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1">
                <a:solidFill>
                  <a:srgbClr val="718096"/>
                </a:solidFill>
                <a:latin typeface="Calibri"/>
              </a:rPr>
              <a:t>Equity Opinion ECM | Manual ECM IB v1.0 (Secoes 1-13) | Repositorio Premissas Base v1.0 (Mar/2026)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078992"/>
            <a:ext cx="5669280" cy="210312"/>
          </a:xfrm>
          <a:prstGeom prst="rect">
            <a:avLst/>
          </a:prstGeom>
          <a:solidFill>
            <a:srgbClr val="0F1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7472" y="1106424"/>
            <a:ext cx="555955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ESTRUTURA FORMAL (Manual Sec. 3 e 4)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325880"/>
            <a:ext cx="1828800" cy="29260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7472" y="1380744"/>
            <a:ext cx="17190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0F1F3D"/>
                </a:solidFill>
                <a:latin typeface="Calibri"/>
              </a:rPr>
              <a:t>Tipo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39696" y="1380744"/>
            <a:ext cx="345643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D3748"/>
                </a:solidFill>
                <a:latin typeface="Calibri"/>
              </a:rPr>
              <a:t>[IPO / Follow-on / Block Trade]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1655064"/>
            <a:ext cx="1828800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7472" y="1709928"/>
            <a:ext cx="17190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0F1F3D"/>
                </a:solidFill>
                <a:latin typeface="Calibri"/>
              </a:rPr>
              <a:t>Regime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39696" y="1709928"/>
            <a:ext cx="345643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D3748"/>
                </a:solidFill>
                <a:latin typeface="Calibri"/>
              </a:rPr>
              <a:t>[RCVM 160 art.3o / CVM 400]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1984248"/>
            <a:ext cx="1828800" cy="29260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47472" y="2039112"/>
            <a:ext cx="17190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0F1F3D"/>
                </a:solidFill>
                <a:latin typeface="Calibri"/>
              </a:rPr>
              <a:t>Segmento B3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39696" y="2039112"/>
            <a:ext cx="345643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D3748"/>
                </a:solidFill>
                <a:latin typeface="Calibri"/>
              </a:rPr>
              <a:t>[Novo Mercado / Nivel 2 / Nivel 1 / EGEM]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2313432"/>
            <a:ext cx="1828800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47472" y="2368296"/>
            <a:ext cx="17190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0F1F3D"/>
                </a:solidFill>
                <a:latin typeface="Calibri"/>
              </a:rPr>
              <a:t>Volume Base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139696" y="2368296"/>
            <a:ext cx="345643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D3748"/>
                </a:solidFill>
                <a:latin typeface="Calibri"/>
              </a:rPr>
              <a:t>R$[__]Bi — [__]M acoes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" y="2642615"/>
            <a:ext cx="1828800" cy="29260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47472" y="2697479"/>
            <a:ext cx="17190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0F1F3D"/>
                </a:solidFill>
                <a:latin typeface="Calibri"/>
              </a:rPr>
              <a:t>Primaria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139696" y="2697479"/>
            <a:ext cx="345643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D3748"/>
                </a:solidFill>
                <a:latin typeface="Calibri"/>
              </a:rPr>
              <a:t>R$[__]M — [__]M acoes novas emitidas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4320" y="2971800"/>
            <a:ext cx="1828800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47472" y="3026664"/>
            <a:ext cx="17190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0F1F3D"/>
                </a:solidFill>
                <a:latin typeface="Calibri"/>
              </a:rPr>
              <a:t>Secundaria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139696" y="3026664"/>
            <a:ext cx="345643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D3748"/>
                </a:solidFill>
                <a:latin typeface="Calibri"/>
              </a:rPr>
              <a:t>R$[__]M — [__]M acoes dos vendedores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74320" y="3300984"/>
            <a:ext cx="1828800" cy="29260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47472" y="3355848"/>
            <a:ext cx="17190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0F1F3D"/>
                </a:solidFill>
                <a:latin typeface="Calibri"/>
              </a:rPr>
              <a:t>Greenshoe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139696" y="3355848"/>
            <a:ext cx="345643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D3748"/>
                </a:solidFill>
                <a:latin typeface="Calibri"/>
              </a:rPr>
              <a:t>Ate 15% — R$[__]M | Agente: [Nome] | Prazo: 30d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3630168"/>
            <a:ext cx="1828800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47472" y="3685031"/>
            <a:ext cx="17190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0F1F3D"/>
                </a:solidFill>
                <a:latin typeface="Calibri"/>
              </a:rPr>
              <a:t>Lote Adicional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139696" y="3685031"/>
            <a:ext cx="345643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D3748"/>
                </a:solidFill>
                <a:latin typeface="Calibri"/>
              </a:rPr>
              <a:t>Ate 20% — R$[__]M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74320" y="3959352"/>
            <a:ext cx="1828800" cy="29260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47472" y="4014215"/>
            <a:ext cx="17190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0F1F3D"/>
                </a:solidFill>
                <a:latin typeface="Calibri"/>
              </a:rPr>
              <a:t>Free Float base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139696" y="4014215"/>
            <a:ext cx="345643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D3748"/>
                </a:solidFill>
                <a:latin typeface="Calibri"/>
              </a:rPr>
              <a:t>[__]%  |  c/ Greenshoe: [__]%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74320" y="4288536"/>
            <a:ext cx="1828800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47472" y="4343399"/>
            <a:ext cx="17190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0F1F3D"/>
                </a:solidFill>
                <a:latin typeface="Calibri"/>
              </a:rPr>
              <a:t>Lock-up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139696" y="4343399"/>
            <a:ext cx="345643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D3748"/>
                </a:solidFill>
                <a:latin typeface="Calibri"/>
              </a:rPr>
              <a:t>Controladores: 180d | Adm.: 90d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080760" y="1078992"/>
            <a:ext cx="5833872" cy="210312"/>
          </a:xfrm>
          <a:prstGeom prst="rect">
            <a:avLst/>
          </a:prstGeom>
          <a:solidFill>
            <a:srgbClr val="0F1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153912" y="1106424"/>
            <a:ext cx="5724144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BOOKBUILDING — MECÂNICA E QUALIDADE (Manual Sec. 6.2-6.4)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080760" y="1325880"/>
            <a:ext cx="5833872" cy="54864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153912" y="1362456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F1F3D"/>
                </a:solidFill>
                <a:latin typeface="Calibri"/>
              </a:rPr>
              <a:t>Definicao da Faixa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845552" y="1362456"/>
            <a:ext cx="400507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D3748"/>
                </a:solidFill>
                <a:latin typeface="Calibri"/>
              </a:rPr>
              <a:t>Football Field + pre-marketing com [__] anchor investors | Desconto [10-15%] vs. fair value para garantir upside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080760" y="1938528"/>
            <a:ext cx="5833872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153912" y="1975104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F1F3D"/>
                </a:solidFill>
                <a:latin typeface="Calibri"/>
              </a:rPr>
              <a:t>Coleta de Ordens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845552" y="1975104"/>
            <a:ext cx="400507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D3748"/>
                </a:solidFill>
                <a:latin typeface="Calibri"/>
              </a:rPr>
              <a:t>Strike bids = prioridade maxima | Limit bids = proporcional | Meta: &gt;3x oversubscribed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080760" y="2551176"/>
            <a:ext cx="5833872" cy="54864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153912" y="2587752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F1F3D"/>
                </a:solidFill>
                <a:latin typeface="Calibri"/>
              </a:rPr>
              <a:t>Criterios Alocacao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845552" y="2587752"/>
            <a:ext cx="400507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D3748"/>
                </a:solidFill>
                <a:latin typeface="Calibri"/>
              </a:rPr>
              <a:t>Qualidade (long-only &gt; momentum) | Relacao banco | Geo: [__]% local / [__]% estrangeiro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080760" y="3163824"/>
            <a:ext cx="5833872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153912" y="3200400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F1F3D"/>
                </a:solidFill>
                <a:latin typeface="Calibri"/>
              </a:rPr>
              <a:t>Sinais Qualidade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845552" y="3200400"/>
            <a:ext cx="400507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D3748"/>
                </a:solidFill>
                <a:latin typeface="Calibri"/>
              </a:rPr>
              <a:t>Livro &gt;5x = muito forte | &gt;3x = bom | &lt;2x = atencao | &lt;1,5x = reavaliar pricing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080760" y="3776472"/>
            <a:ext cx="5833872" cy="54864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153912" y="3813048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F1F3D"/>
                </a:solidFill>
                <a:latin typeface="Calibri"/>
              </a:rPr>
              <a:t>Greenshoe / Estabilizacao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845552" y="3813048"/>
            <a:ext cx="400507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D3748"/>
                </a:solidFill>
                <a:latin typeface="Calibri"/>
              </a:rPr>
              <a:t>Coordenador compra no secundario se preco cair | Limite: at 15% / 30 dias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080760" y="4389120"/>
            <a:ext cx="5833872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153912" y="4425696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F1F3D"/>
                </a:solidFill>
                <a:latin typeface="Calibri"/>
              </a:rPr>
              <a:t>Pricing Final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845552" y="4425696"/>
            <a:ext cx="400507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D3748"/>
                </a:solidFill>
                <a:latin typeface="Calibri"/>
              </a:rPr>
              <a:t>Comite de Pricing: [__] membros | Criterio: demanda + perfil investidores + condicoes macro</a:t>
            </a:r>
          </a:p>
        </p:txBody>
      </p:sp>
      <p:sp>
        <p:nvSpPr>
          <p:cNvPr id="61" name="Rectangle 60"/>
          <p:cNvSpPr/>
          <p:nvPr/>
        </p:nvSpPr>
        <p:spPr>
          <a:xfrm>
            <a:off x="274320" y="4782312"/>
            <a:ext cx="5669280" cy="210312"/>
          </a:xfrm>
          <a:prstGeom prst="rect">
            <a:avLst/>
          </a:prstGeom>
          <a:solidFill>
            <a:srgbClr val="0F1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47472" y="4809744"/>
            <a:ext cx="555955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TIMING DA OFERTA — INDICADORES DE JANELA (Manual Sec. 11.1)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274320" y="5029200"/>
            <a:ext cx="5394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76749"/>
                </a:solidFill>
                <a:latin typeface="Calibri"/>
              </a:rPr>
              <a:t>  ✓  Ibovespa em alta com volatilidade (VIX local) abaixo de 20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74320" y="5358384"/>
            <a:ext cx="5394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76749"/>
                </a:solidFill>
                <a:latin typeface="Calibri"/>
              </a:rPr>
              <a:t>  ✓  IPOs recentes precificados acima do meio da faixa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274320" y="5687568"/>
            <a:ext cx="5394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76749"/>
                </a:solidFill>
                <a:latin typeface="Calibri"/>
              </a:rPr>
              <a:t>  ✓  Fluxo estrangeiro positivo (EMBI+ comprimindo)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274320" y="6016752"/>
            <a:ext cx="5394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97B06"/>
                </a:solidFill>
                <a:latin typeface="Calibri"/>
              </a:rPr>
              <a:t>  ⚠  Ausencia de COPOM, eleicoes ou eventos geopoliticos nos 30 dias seguintes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274320" y="6345936"/>
            <a:ext cx="5394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53030"/>
                </a:solidFill>
                <a:latin typeface="Calibri"/>
              </a:rPr>
              <a:t>  ✗  VIX local &gt;25 ou EMBI+ &gt;250bps = FECHAR janela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080760" y="4782312"/>
            <a:ext cx="5833872" cy="210312"/>
          </a:xfrm>
          <a:prstGeom prst="rect">
            <a:avLst/>
          </a:prstGeom>
          <a:solidFill>
            <a:srgbClr val="0F1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153912" y="4809744"/>
            <a:ext cx="5724144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CRONOGRAMA (8 FASES — Manual Sec. 4)</a:t>
            </a:r>
          </a:p>
        </p:txBody>
      </p:sp>
      <p:sp>
        <p:nvSpPr>
          <p:cNvPr id="70" name="Rectangle 69"/>
          <p:cNvSpPr/>
          <p:nvPr/>
        </p:nvSpPr>
        <p:spPr>
          <a:xfrm>
            <a:off x="6080760" y="5029200"/>
            <a:ext cx="2834640" cy="329184"/>
          </a:xfrm>
          <a:prstGeom prst="rect">
            <a:avLst/>
          </a:prstGeom>
          <a:solidFill>
            <a:srgbClr val="0F1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6153912" y="5084064"/>
            <a:ext cx="2011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FFFFF"/>
                </a:solidFill>
                <a:latin typeface="Calibri"/>
              </a:rPr>
              <a:t>Fase 1: Mandato + Kick-off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202168" y="5102352"/>
            <a:ext cx="65836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D4A853"/>
                </a:solidFill>
                <a:latin typeface="Calibri"/>
              </a:rPr>
              <a:t>[Data]</a:t>
            </a:r>
          </a:p>
        </p:txBody>
      </p:sp>
      <p:sp>
        <p:nvSpPr>
          <p:cNvPr id="73" name="Rectangle 72"/>
          <p:cNvSpPr/>
          <p:nvPr/>
        </p:nvSpPr>
        <p:spPr>
          <a:xfrm>
            <a:off x="9052560" y="5029200"/>
            <a:ext cx="2834640" cy="329184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9125712" y="5084064"/>
            <a:ext cx="2011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FFFFF"/>
                </a:solidFill>
                <a:latin typeface="Calibri"/>
              </a:rPr>
              <a:t>Fase 2: Pre-marketing + Due Diligence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1173968" y="5102352"/>
            <a:ext cx="65836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D4A853"/>
                </a:solidFill>
                <a:latin typeface="Calibri"/>
              </a:rPr>
              <a:t>[Data]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080760" y="5394960"/>
            <a:ext cx="2834640" cy="329184"/>
          </a:xfrm>
          <a:prstGeom prst="rect">
            <a:avLst/>
          </a:prstGeom>
          <a:solidFill>
            <a:srgbClr val="0F1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153912" y="5449824"/>
            <a:ext cx="2011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FFFFF"/>
                </a:solidFill>
                <a:latin typeface="Calibri"/>
              </a:rPr>
              <a:t>Fase 3: Protocolo CVM + Prospecto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8202168" y="5468112"/>
            <a:ext cx="65836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D4A853"/>
                </a:solidFill>
                <a:latin typeface="Calibri"/>
              </a:rPr>
              <a:t>[Data]</a:t>
            </a:r>
          </a:p>
        </p:txBody>
      </p:sp>
      <p:sp>
        <p:nvSpPr>
          <p:cNvPr id="79" name="Rectangle 78"/>
          <p:cNvSpPr/>
          <p:nvPr/>
        </p:nvSpPr>
        <p:spPr>
          <a:xfrm>
            <a:off x="9052560" y="5394960"/>
            <a:ext cx="2834640" cy="329184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9125712" y="5449824"/>
            <a:ext cx="2011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FFFFF"/>
                </a:solidFill>
                <a:latin typeface="Calibri"/>
              </a:rPr>
              <a:t>Fase 4: Roadshow ([__] cidades)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11173968" y="5468112"/>
            <a:ext cx="65836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D4A853"/>
                </a:solidFill>
                <a:latin typeface="Calibri"/>
              </a:rPr>
              <a:t>[Data]</a:t>
            </a:r>
          </a:p>
        </p:txBody>
      </p:sp>
      <p:sp>
        <p:nvSpPr>
          <p:cNvPr id="82" name="Rectangle 81"/>
          <p:cNvSpPr/>
          <p:nvPr/>
        </p:nvSpPr>
        <p:spPr>
          <a:xfrm>
            <a:off x="6080760" y="5760720"/>
            <a:ext cx="2834640" cy="329184"/>
          </a:xfrm>
          <a:prstGeom prst="rect">
            <a:avLst/>
          </a:prstGeom>
          <a:solidFill>
            <a:srgbClr val="0F1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6153912" y="5815583"/>
            <a:ext cx="2011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FFFFF"/>
                </a:solidFill>
                <a:latin typeface="Calibri"/>
              </a:rPr>
              <a:t>Fase 5: Bookbuilding ([__] dias)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8202168" y="5833872"/>
            <a:ext cx="65836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D4A853"/>
                </a:solidFill>
                <a:latin typeface="Calibri"/>
              </a:rPr>
              <a:t>[Data]</a:t>
            </a:r>
          </a:p>
        </p:txBody>
      </p:sp>
      <p:sp>
        <p:nvSpPr>
          <p:cNvPr id="85" name="Rectangle 84"/>
          <p:cNvSpPr/>
          <p:nvPr/>
        </p:nvSpPr>
        <p:spPr>
          <a:xfrm>
            <a:off x="9052560" y="5760720"/>
            <a:ext cx="2834640" cy="329184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9125712" y="5815583"/>
            <a:ext cx="2011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FFFFF"/>
                </a:solidFill>
                <a:latin typeface="Calibri"/>
              </a:rPr>
              <a:t>Fase 6: Pricing + Alocacao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11173968" y="5833872"/>
            <a:ext cx="65836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D4A853"/>
                </a:solidFill>
                <a:latin typeface="Calibri"/>
              </a:rPr>
              <a:t>[Data]</a:t>
            </a:r>
          </a:p>
        </p:txBody>
      </p:sp>
      <p:sp>
        <p:nvSpPr>
          <p:cNvPr id="88" name="Rectangle 87"/>
          <p:cNvSpPr/>
          <p:nvPr/>
        </p:nvSpPr>
        <p:spPr>
          <a:xfrm>
            <a:off x="6080760" y="6126480"/>
            <a:ext cx="2834640" cy="329184"/>
          </a:xfrm>
          <a:prstGeom prst="rect">
            <a:avLst/>
          </a:prstGeom>
          <a:solidFill>
            <a:srgbClr val="0F1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6153912" y="6181344"/>
            <a:ext cx="2011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FFFFF"/>
                </a:solidFill>
                <a:latin typeface="Calibri"/>
              </a:rPr>
              <a:t>Fase 7: Liquidacao (D+2)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8202168" y="6199632"/>
            <a:ext cx="65836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D4A853"/>
                </a:solidFill>
                <a:latin typeface="Calibri"/>
              </a:rPr>
              <a:t>[Data]</a:t>
            </a:r>
          </a:p>
        </p:txBody>
      </p:sp>
      <p:sp>
        <p:nvSpPr>
          <p:cNvPr id="91" name="Rectangle 90"/>
          <p:cNvSpPr/>
          <p:nvPr/>
        </p:nvSpPr>
        <p:spPr>
          <a:xfrm>
            <a:off x="9052560" y="6126480"/>
            <a:ext cx="2834640" cy="329184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9125712" y="6181344"/>
            <a:ext cx="2011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FFFFF"/>
                </a:solidFill>
                <a:latin typeface="Calibri"/>
              </a:rPr>
              <a:t>Fase 8: Pos-oferta + Pesquisa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11173968" y="6199632"/>
            <a:ext cx="65836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D4A853"/>
                </a:solidFill>
                <a:latin typeface="Calibri"/>
              </a:rPr>
              <a:t>D+40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F1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116128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Georgia"/>
              </a:rPr>
              <a:t>VII. Red Flags, Yellow Flags e Recomendacao Final de Pricing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94944"/>
            <a:ext cx="11612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E2E8F0"/>
                </a:solidFill>
                <a:latin typeface="Calibri"/>
              </a:rPr>
              <a:t>Manual Sec. 12.1 (Red Flags — nao esta pronta) + Sec. 12.2 (Yellow Flags — disclosure) + Comite de Pricing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960120"/>
            <a:ext cx="12188952" cy="18288"/>
          </a:xfrm>
          <a:prstGeom prst="rect">
            <a:avLst/>
          </a:prstGeom>
          <a:solidFill>
            <a:srgbClr val="A0AE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56248"/>
            <a:ext cx="114300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1">
                <a:solidFill>
                  <a:srgbClr val="718096"/>
                </a:solidFill>
                <a:latin typeface="Calibri"/>
              </a:rPr>
              <a:t>Equity Opinion ECM | Manual ECM IB v1.0 (Secoes 1-13) | Repositorio Premissas Base v1.0 (Mar/2026)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078992"/>
            <a:ext cx="11612880" cy="210312"/>
          </a:xfrm>
          <a:prstGeom prst="rect">
            <a:avLst/>
          </a:prstGeom>
          <a:solidFill>
            <a:srgbClr val="0F1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7472" y="1106424"/>
            <a:ext cx="1150315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RED FLAGS — EMPRESA NAO ESTA PRONTA (&gt;=2 flags = comunicar MD) — Manual Sec. 12.1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1316736"/>
            <a:ext cx="11430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C53030"/>
                </a:solidFill>
                <a:latin typeface="Calibri"/>
              </a:rPr>
              <a:t>Presenca de 2 ou mais red flags DEVE ser comunicada ao MD antes de avancar para o protocolo CVM.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1536192"/>
            <a:ext cx="256032" cy="274320"/>
          </a:xfrm>
          <a:prstGeom prst="rect">
            <a:avLst/>
          </a:prstGeom>
          <a:solidFill>
            <a:srgbClr val="C53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4320" y="1563624"/>
            <a:ext cx="25603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!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6072" y="1591056"/>
            <a:ext cx="3794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D3748"/>
                </a:solidFill>
                <a:latin typeface="Calibri"/>
              </a:rPr>
              <a:t>FCO/LL &lt; 0,7x por 2 anos (lucros sem caixa)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407407" y="1536192"/>
            <a:ext cx="1691640" cy="27432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53128" y="1591056"/>
            <a:ext cx="162763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F1F3D"/>
                </a:solidFill>
                <a:latin typeface="Calibri"/>
              </a:rPr>
              <a:t>[ ] Presente  [ ] Ausente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72200" y="1536192"/>
            <a:ext cx="256032" cy="274320"/>
          </a:xfrm>
          <a:prstGeom prst="rect">
            <a:avLst/>
          </a:prstGeom>
          <a:solidFill>
            <a:srgbClr val="C53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72200" y="1563624"/>
            <a:ext cx="25603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!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73952" y="1591056"/>
            <a:ext cx="3794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D3748"/>
                </a:solidFill>
                <a:latin typeface="Calibri"/>
              </a:rPr>
              <a:t>EBITDA Adjusted &gt;20% vs. EBITDA IFRS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305288" y="1536192"/>
            <a:ext cx="1691640" cy="27432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351008" y="1591056"/>
            <a:ext cx="162763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F1F3D"/>
                </a:solidFill>
                <a:latin typeface="Calibri"/>
              </a:rPr>
              <a:t>[ ] Presente  [ ] Ausente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4320" y="1883664"/>
            <a:ext cx="256032" cy="274320"/>
          </a:xfrm>
          <a:prstGeom prst="rect">
            <a:avLst/>
          </a:prstGeom>
          <a:solidFill>
            <a:srgbClr val="C53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74320" y="1911095"/>
            <a:ext cx="25603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!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76072" y="1938528"/>
            <a:ext cx="3794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D3748"/>
                </a:solidFill>
                <a:latin typeface="Calibri"/>
              </a:rPr>
              <a:t>Litigio material &gt;10% do PL nao provisionado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407407" y="1883664"/>
            <a:ext cx="1691640" cy="27432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453128" y="1938528"/>
            <a:ext cx="162763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F1F3D"/>
                </a:solidFill>
                <a:latin typeface="Calibri"/>
              </a:rPr>
              <a:t>[ ] Presente  [ ] Ausente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172200" y="1883664"/>
            <a:ext cx="256032" cy="274320"/>
          </a:xfrm>
          <a:prstGeom prst="rect">
            <a:avLst/>
          </a:prstGeom>
          <a:solidFill>
            <a:srgbClr val="C53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172200" y="1911095"/>
            <a:ext cx="25603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!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73952" y="1938528"/>
            <a:ext cx="3794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D3748"/>
                </a:solidFill>
                <a:latin typeface="Calibri"/>
              </a:rPr>
              <a:t>Concentracao de cliente &gt;30% da receita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0305288" y="1883664"/>
            <a:ext cx="1691640" cy="27432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351008" y="1938528"/>
            <a:ext cx="162763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F1F3D"/>
                </a:solidFill>
                <a:latin typeface="Calibri"/>
              </a:rPr>
              <a:t>[ ] Presente  [ ] Ausente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2231136"/>
            <a:ext cx="256032" cy="274320"/>
          </a:xfrm>
          <a:prstGeom prst="rect">
            <a:avLst/>
          </a:prstGeom>
          <a:solidFill>
            <a:srgbClr val="C53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74320" y="2258568"/>
            <a:ext cx="25603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!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76072" y="2286000"/>
            <a:ext cx="3794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D3748"/>
                </a:solidFill>
                <a:latin typeface="Calibri"/>
              </a:rPr>
              <a:t>Mudanca de auditor ou politica contabil em 12m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407407" y="2231136"/>
            <a:ext cx="1691640" cy="27432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453128" y="2286000"/>
            <a:ext cx="162763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F1F3D"/>
                </a:solidFill>
                <a:latin typeface="Calibri"/>
              </a:rPr>
              <a:t>[ ] Presente  [ ] Ausente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172200" y="2231136"/>
            <a:ext cx="256032" cy="274320"/>
          </a:xfrm>
          <a:prstGeom prst="rect">
            <a:avLst/>
          </a:prstGeom>
          <a:solidFill>
            <a:srgbClr val="C53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172200" y="2258568"/>
            <a:ext cx="25603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!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73952" y="2286000"/>
            <a:ext cx="3794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D3748"/>
                </a:solidFill>
                <a:latin typeface="Calibri"/>
              </a:rPr>
              <a:t>CAPEX &lt; D&amp;A por &gt;2 anos (desinvestimento)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0305288" y="2231136"/>
            <a:ext cx="1691640" cy="27432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351008" y="2286000"/>
            <a:ext cx="162763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F1F3D"/>
                </a:solidFill>
                <a:latin typeface="Calibri"/>
              </a:rPr>
              <a:t>[ ] Presente  [ ] Ausente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74320" y="2578608"/>
            <a:ext cx="256032" cy="274320"/>
          </a:xfrm>
          <a:prstGeom prst="rect">
            <a:avLst/>
          </a:prstGeom>
          <a:solidFill>
            <a:srgbClr val="C53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74320" y="2606040"/>
            <a:ext cx="25603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!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76072" y="2633472"/>
            <a:ext cx="3794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D3748"/>
                </a:solidFill>
                <a:latin typeface="Calibri"/>
              </a:rPr>
              <a:t>Partes relacionadas &gt;15% do ativo sem disclosure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407407" y="2578608"/>
            <a:ext cx="1691640" cy="27432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453128" y="2633472"/>
            <a:ext cx="162763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F1F3D"/>
                </a:solidFill>
                <a:latin typeface="Calibri"/>
              </a:rPr>
              <a:t>[ ] Presente  [ ] Ausente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172200" y="2578608"/>
            <a:ext cx="256032" cy="274320"/>
          </a:xfrm>
          <a:prstGeom prst="rect">
            <a:avLst/>
          </a:prstGeom>
          <a:solidFill>
            <a:srgbClr val="C53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172200" y="2606040"/>
            <a:ext cx="25603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!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473952" y="2633472"/>
            <a:ext cx="3794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D3748"/>
                </a:solidFill>
                <a:latin typeface="Calibri"/>
              </a:rPr>
              <a:t>Oferta &gt;60% secundaria sem plano de uso de recursos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0305288" y="2578608"/>
            <a:ext cx="1691640" cy="27432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0351008" y="2633472"/>
            <a:ext cx="162763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F1F3D"/>
                </a:solidFill>
                <a:latin typeface="Calibri"/>
              </a:rPr>
              <a:t>[ ] Presente  [ ] Ausente</a:t>
            </a:r>
          </a:p>
        </p:txBody>
      </p:sp>
      <p:sp>
        <p:nvSpPr>
          <p:cNvPr id="52" name="Rectangle 51"/>
          <p:cNvSpPr/>
          <p:nvPr/>
        </p:nvSpPr>
        <p:spPr>
          <a:xfrm>
            <a:off x="274320" y="2926080"/>
            <a:ext cx="256032" cy="274320"/>
          </a:xfrm>
          <a:prstGeom prst="rect">
            <a:avLst/>
          </a:prstGeom>
          <a:solidFill>
            <a:srgbClr val="C53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274320" y="2953512"/>
            <a:ext cx="25603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!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76072" y="2980944"/>
            <a:ext cx="3794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D3748"/>
                </a:solidFill>
                <a:latin typeface="Calibri"/>
              </a:rPr>
              <a:t>Ebitda TV &gt;80% do EV (baixa visibilidade)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407407" y="2926080"/>
            <a:ext cx="1691640" cy="27432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453128" y="2980944"/>
            <a:ext cx="162763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F1F3D"/>
                </a:solidFill>
                <a:latin typeface="Calibri"/>
              </a:rPr>
              <a:t>[ ] Presente  [ ] Ausente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172200" y="2926080"/>
            <a:ext cx="256032" cy="274320"/>
          </a:xfrm>
          <a:prstGeom prst="rect">
            <a:avLst/>
          </a:prstGeom>
          <a:solidFill>
            <a:srgbClr val="C53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172200" y="2953512"/>
            <a:ext cx="25603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!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473952" y="2980944"/>
            <a:ext cx="3794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D3748"/>
                </a:solidFill>
                <a:latin typeface="Calibri"/>
              </a:rPr>
              <a:t>Peers inadequados (risco/crescimento muito diferente)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0305288" y="2926080"/>
            <a:ext cx="1691640" cy="27432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10351008" y="2980944"/>
            <a:ext cx="162763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F1F3D"/>
                </a:solidFill>
                <a:latin typeface="Calibri"/>
              </a:rPr>
              <a:t>[ ] Presente  [ ] Ausente</a:t>
            </a:r>
          </a:p>
        </p:txBody>
      </p:sp>
      <p:sp>
        <p:nvSpPr>
          <p:cNvPr id="62" name="Rectangle 61"/>
          <p:cNvSpPr/>
          <p:nvPr/>
        </p:nvSpPr>
        <p:spPr>
          <a:xfrm>
            <a:off x="274320" y="3364992"/>
            <a:ext cx="11612880" cy="210312"/>
          </a:xfrm>
          <a:prstGeom prst="rect">
            <a:avLst/>
          </a:prstGeom>
          <a:solidFill>
            <a:srgbClr val="0F1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347472" y="3392424"/>
            <a:ext cx="1150315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YELLOW FLAGS — PONTOS DE ATENCAO PARA DISCLOSURE NO PROSPECTO (Manual Sec. 12.2)</a:t>
            </a:r>
          </a:p>
        </p:txBody>
      </p:sp>
      <p:sp>
        <p:nvSpPr>
          <p:cNvPr id="64" name="Rectangle 63"/>
          <p:cNvSpPr/>
          <p:nvPr/>
        </p:nvSpPr>
        <p:spPr>
          <a:xfrm>
            <a:off x="274320" y="3611880"/>
            <a:ext cx="256032" cy="310896"/>
          </a:xfrm>
          <a:prstGeom prst="rect">
            <a:avLst/>
          </a:prstGeom>
          <a:solidFill>
            <a:srgbClr val="D97B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274320" y="3657600"/>
            <a:ext cx="25603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~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576072" y="3666744"/>
            <a:ext cx="5669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2D3748"/>
                </a:solidFill>
                <a:latin typeface="Calibri"/>
              </a:rPr>
              <a:t>Margem EBITDA abaixo da mediana do peer group por &gt;2 anos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291072" y="3666744"/>
            <a:ext cx="5577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76749"/>
                </a:solidFill>
                <a:latin typeface="Calibri"/>
              </a:rPr>
              <a:t>→  Incluir no Fator de Risco com texto especifico e quantificado</a:t>
            </a:r>
          </a:p>
        </p:txBody>
      </p:sp>
      <p:sp>
        <p:nvSpPr>
          <p:cNvPr id="68" name="Rectangle 67"/>
          <p:cNvSpPr/>
          <p:nvPr/>
        </p:nvSpPr>
        <p:spPr>
          <a:xfrm>
            <a:off x="274320" y="3995928"/>
            <a:ext cx="256032" cy="310896"/>
          </a:xfrm>
          <a:prstGeom prst="rect">
            <a:avLst/>
          </a:prstGeom>
          <a:solidFill>
            <a:srgbClr val="D97B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274320" y="4041648"/>
            <a:ext cx="25603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~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576072" y="4050791"/>
            <a:ext cx="5669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2D3748"/>
                </a:solidFill>
                <a:latin typeface="Calibri"/>
              </a:rPr>
              <a:t>Crescimento receita acima do setor sem explicacao clara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291072" y="4050791"/>
            <a:ext cx="5577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76749"/>
                </a:solidFill>
                <a:latin typeface="Calibri"/>
              </a:rPr>
              <a:t>→  Risk de market share artificial — disclosure de premissas</a:t>
            </a:r>
          </a:p>
        </p:txBody>
      </p:sp>
      <p:sp>
        <p:nvSpPr>
          <p:cNvPr id="72" name="Rectangle 71"/>
          <p:cNvSpPr/>
          <p:nvPr/>
        </p:nvSpPr>
        <p:spPr>
          <a:xfrm>
            <a:off x="274320" y="4379976"/>
            <a:ext cx="256032" cy="310896"/>
          </a:xfrm>
          <a:prstGeom prst="rect">
            <a:avLst/>
          </a:prstGeom>
          <a:solidFill>
            <a:srgbClr val="D97B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274320" y="4425696"/>
            <a:ext cx="25603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~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576072" y="4434840"/>
            <a:ext cx="5669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2D3748"/>
                </a:solidFill>
                <a:latin typeface="Calibri"/>
              </a:rPr>
              <a:t>SG&amp;A como % receita crescendo mais rapido que receita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291072" y="4434840"/>
            <a:ext cx="5577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76749"/>
                </a:solidFill>
                <a:latin typeface="Calibri"/>
              </a:rPr>
              <a:t>→  Deseconomias de escala — incluir plano de eficiencia</a:t>
            </a:r>
          </a:p>
        </p:txBody>
      </p:sp>
      <p:sp>
        <p:nvSpPr>
          <p:cNvPr id="76" name="Rectangle 75"/>
          <p:cNvSpPr/>
          <p:nvPr/>
        </p:nvSpPr>
        <p:spPr>
          <a:xfrm>
            <a:off x="274320" y="4764024"/>
            <a:ext cx="256032" cy="310896"/>
          </a:xfrm>
          <a:prstGeom prst="rect">
            <a:avLst/>
          </a:prstGeom>
          <a:solidFill>
            <a:srgbClr val="D97B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274320" y="4809744"/>
            <a:ext cx="25603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~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576072" y="4818888"/>
            <a:ext cx="5669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2D3748"/>
                </a:solidFill>
                <a:latin typeface="Calibri"/>
              </a:rPr>
              <a:t>CAPEX historico &lt;D&amp;A — subinvestimento no negocio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291072" y="4818888"/>
            <a:ext cx="5577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76749"/>
                </a:solidFill>
                <a:latin typeface="Calibri"/>
              </a:rPr>
              <a:t>→  Risco de deterioracao operacional futura — quantificar CAPEX requerido</a:t>
            </a:r>
          </a:p>
        </p:txBody>
      </p:sp>
      <p:sp>
        <p:nvSpPr>
          <p:cNvPr id="80" name="Rectangle 79"/>
          <p:cNvSpPr/>
          <p:nvPr/>
        </p:nvSpPr>
        <p:spPr>
          <a:xfrm>
            <a:off x="274320" y="5148072"/>
            <a:ext cx="256032" cy="310896"/>
          </a:xfrm>
          <a:prstGeom prst="rect">
            <a:avLst/>
          </a:prstGeom>
          <a:solidFill>
            <a:srgbClr val="D97B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274320" y="5193792"/>
            <a:ext cx="25603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~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576072" y="5202936"/>
            <a:ext cx="5669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2D3748"/>
                </a:solidFill>
                <a:latin typeface="Calibri"/>
              </a:rPr>
              <a:t>NRR (Net Revenue Retention) &lt;100% em SaaS/recorrente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6291072" y="5202936"/>
            <a:ext cx="5577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76749"/>
                </a:solidFill>
                <a:latin typeface="Calibri"/>
              </a:rPr>
              <a:t>→  Churn implicito — disclosure com dados historicos de cohorte</a:t>
            </a:r>
          </a:p>
        </p:txBody>
      </p:sp>
      <p:sp>
        <p:nvSpPr>
          <p:cNvPr id="84" name="Rectangle 83"/>
          <p:cNvSpPr/>
          <p:nvPr/>
        </p:nvSpPr>
        <p:spPr>
          <a:xfrm>
            <a:off x="274320" y="5449824"/>
            <a:ext cx="11612880" cy="210312"/>
          </a:xfrm>
          <a:prstGeom prst="rect">
            <a:avLst/>
          </a:prstGeom>
          <a:solidFill>
            <a:srgbClr val="0F1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347472" y="5477256"/>
            <a:ext cx="1150315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RECOMENDACAO FINAL — COMITE DE PRICING (Manual Sec. 6.1)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274320" y="5687568"/>
            <a:ext cx="8229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1F3D"/>
                </a:solidFill>
                <a:latin typeface="Calibri"/>
              </a:rPr>
              <a:t>[ ]  AVANCAR — Faixa indicativa: R$[__] — R$[__] | Preco recomendado: R$[__] (midpoint) | EV/EBITDA NTM: [__]x | Upside: [__]%
[ ]  AVANCAR COM AJUSTE — [Descrever ajuste: reduzir faixa / resolver red flag / aguardar mercado]
[ ]  ADIAR — Janela de mercado desfavoravel ou red flags materiais identificados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686800" y="5687568"/>
            <a:ext cx="3200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D3748"/>
                </a:solidFill>
                <a:latin typeface="Calibri"/>
              </a:rPr>
              <a:t>Analista: ________________
MD Responsavel: ________________
Data: ___/___/______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