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GRUPO MERIDIAN ALIMENTOS S.A.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0D0E8"/>
                </a:solidFill>
                <a:latin typeface="Calibri"/>
              </a:defRPr>
            </a:pPr>
            <a:r>
              <a:t>Certificado de Recebiveis do Agronegocio — CRA  |  R$ 150.000.000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0AEC0"/>
                </a:solidFill>
                <a:latin typeface="Calibri"/>
              </a:defRPr>
            </a:pPr>
            <a:r>
              <a:t>IPCA + 7,25% a.a.  |  5 anos  |  Bullet  |  Rating AA- (Fitch)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Gennesys Capital Markets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Coordenador Lider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March 2026</a:t>
            </a:r>
          </a:p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Estritamente Privado e Confidencial — Investidores Qualificados (RCVM 160/2022)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Lider regional de proteinas com 18 anos de credito impecavel capta R$ 150M em CRA a IPCA+7,25%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Situacao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Grupo Meridian: 18 anos operando sem nenhum atraso &gt;30 dias — rating AA- (Fitch) ha 4 anos consecutivos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 de R$ 87M (+22% a.a. CAGR 3 anos) com margem de 12,8% e conversao FCO/EBITDA de 78%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Oportunidade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Setor de proteinas: Brasil e maior exportador mundial — mercado de R$ 380Bi/ano crescendo 8,5% a.a.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CRA isento de IR para PF — amplia base de investidores e comprime spread vs debenture equivalente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Recomendacao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R$ 150M em CRA bullet 5 anos, IPCA+7,25% — garantia tripla com cobertura de 3,2x o volume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Demanda estimada 1,3x (pre-marketing) — 28 instituicoes mapeadas com ticket medio de R$ 8M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91440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98755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R$ 150M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6276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Volume CRA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10312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17627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AA-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8163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Rating Fitch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29184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36499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3,2x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0050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Cobertura Garantias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48056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55371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1937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CAGR EBITDA 3a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Operacao integrada do campo ao porto — 2.800 cabecas/dia exportando para 42 paises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Grupo Meridian em Numeros (2025)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Fundacao: 2007 em Uberlandia-MG | 3 frigorificos (MG, GO, PA) | 1.840 colaboradores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Capacidade: 2.800 cabecas/dia | Habilitacao SIF/MAPA para 42 paises incl. China, EUA, Arabia Saudita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Receita 2025: R$ 680M (+22% YoY) | EBITDA: R$ 87M (margem 12,8%) | ROIC: 18,4%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Trajetoria de Crescimento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2007: fundacao (500 cab/dia) → 2012: inicio exportacoes → 2017: habilitacao China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2019: 1o CRA (R$ 80M, rating A+) → 2021: melhor ano pre-expansao (R$ 485M receita)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2023: 3o frigorifico (PA, suinos) → 2025: R$ 680M receita, 42 paises, rating AA-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Governanca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Conselho consultivo com 3 independentes | Auditoria: BDO | Compliance ativo desde 2020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91440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98755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R$ 680M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6276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Receita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10312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17627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8163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Paises de Exportacao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291840"/>
            <a:ext cx="25603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364992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18,4%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0050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ROIC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Brasil exportou USD 12,6Bi em carne bovina em 2025 (+8,5% a.a.) — Meridian cresce acima do mercado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6692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Drivers de Crescimento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Demanda global por proteinas: +50% ate 2050 (FAO)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China: maior importador, +12% a.a. (MDIC)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Real desvalorizado beneficia exportadores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Habilitacoes sanitarias expandindo mercados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Posicao Meridian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Share export: 3,3% (crescendo de 0,9% em 2020)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Meta 2027: 5% share (R$ 1,1Bi receita)</a:t>
            </a:r>
          </a:p>
          <a:p>
            <a:pPr>
              <a:spcBef>
                <a:spcPts val="200"/>
              </a:spcBef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ABPA, ABIEC, MDIC/SECEX, FAO]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EBITDA cresceu 22% a.a. nos ultimos 4 anos — margem estavel em 12,8% com conversao de caixa de 78%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6692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Destaques Financeiros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Receita CAGR 4a: 20,7%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 CAGR 4a: 23,0%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Margem estavel: 11,9% → 12,8%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FCO/EBITDA: 78% (2025)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Capex 2025: R$ 35M (expansao PA)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200"/>
              </a:spcBef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DFs auditadas — BDO]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4572000"/>
            <a:ext cx="228600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464515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2852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Conversao FCO/EBITDA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Todos os indicadores de credito em melhoria consistente — capacidade adicional de R$ 158M em divida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R$ Milhoes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Receita Liquida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EBITDA Ajustado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23,0%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Margem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11,9%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11,8%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+90bps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Lucro Liquido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36,8%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24,8%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FCO/EBITDA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Divida Liquida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DL/EBITDA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2,8x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2,6x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2,4x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2,1x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1,9x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EBITDA/Desp.Fin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ROIC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12,5%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14,0%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14,8%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16,2%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18,4%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Grupo Meridian — DFs consolidadas IFRS, auditadas por BDO Brasil. EBITDA ajustado exclui itens nao recorrentes.]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5120640"/>
            <a:ext cx="30175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5193792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R$ 158M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58338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Capacidade Adic. Divida (ate 3,5x)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Desalavancagem de 2,8x para 1,9x em 4 anos — folga de 1,6x no covenant com coverage crescente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66928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Metricas de Credito (2025)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DL/EBITDA: 1,9x (cov: &lt;=3,5x — folga 1,6x)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EBITDA/Desp.Fin: 4,2x (cov: &gt;=2,5x)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DSCR: 1,8x (cov: &gt;=1,2x)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Stress Test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Bear (-15%): DL/EBITDA 2,2x — OK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Stressed (-30%): 2,7x — OK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Breach: queda de -46% (-R$ 40M)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4572000"/>
            <a:ext cx="228600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464515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1,6x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2852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Folga no Covenant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CRA bullet 5 anos a IPCA+7,25% com isencao de IR para PF — custo efetivo 15-20% menor que debenture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Detalhe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Eco Securitizadora (cedente: Grupo Meridian Alimentos)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Instrumento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 — Certificado de Recebiveis do Agronegocio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Remuneracao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 + 7,25% a.a.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 (venc. Abr/2031)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Bullet (100% no vencimento)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Pagamento Juros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AA- (Fitch Ratings) — perspectiva estavel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Lastro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Recebiveis de exportacao de proteina animal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Garantias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Cessao fid. recebiveis + Alienacao fid. frigorifico + Aval socios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Isencao IR (PF)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Sim — Lei 11.076/2004 (CRA com lastro agro)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RCVM 160 — regime automatico via ANBIMA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Custodia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— Balcao B3 (CETIP21)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Garantia tripla totaliza R$ 485M — cobertura de 3,2x sobre o volume de R$ 150M da emissao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66928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914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Estrutura de Garantias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Cessao fid. recebiveis: R$ 210M (contratos com frigorificos e exportadores)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Alienacao fid. frigorifico GO: R$ 95M (laudo IBAPE mar/26)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Aval socios: PL declarado R$ 180M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Mecanismo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Conta vinculada Bradesco — fluxo segregado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Trigger se cobertura &lt; 1,5x por 2 periodos</a:t>
            </a:r>
          </a:p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200"/>
              </a:spcBef>
              <a:defRPr sz="700" i="1">
                <a:solidFill>
                  <a:srgbClr val="718096"/>
                </a:solidFill>
                <a:latin typeface="Calibri"/>
              </a:defRPr>
            </a:pPr>
            <a:r>
              <a:t>[Laudo de avaliacao: IBAPE-GO, marco/2026]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4389120"/>
            <a:ext cx="228600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446227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3,2x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102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Cobertura Total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Spread de IPCA+7,25% posiciona Meridian acima de peers AA — premio reflete porte e setor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Instrumento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BRF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IPCA+5,80%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R$ 500M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JBS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IPCA+6,10%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Minerva Foods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IPCA+6,80%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R$ 300M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Marfrig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Debenture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AA-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IPCA+7,00%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R$ 400M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Fev/25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Olfar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IPCA+7,50%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Mar/25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Expocaccer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IPCA+8,20%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Jan/25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MERIDIAN (proposta)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AA-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IPCA+7,25%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R$ 150M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Abr/26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718096"/>
                </a:solidFill>
                <a:latin typeface="Calibri"/>
              </a:defRPr>
            </a:pPr>
            <a:r>
              <a:t>[Fonte: ANBIMA — Boletim de Mercado Secundario + dados de emissao primaria, jan-mar/2025-2026]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572000"/>
            <a:ext cx="393192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645152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F3D"/>
                </a:solidFill>
                <a:latin typeface="Calibri"/>
              </a:defRPr>
            </a:pPr>
            <a:r>
              <a:t>IPCA+7,25%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2852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Em linha com AA- setor proteinas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28 instituicoes mapeadas geram demanda estimada de R$ 195M — oversubscription de 1,3x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 Est.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Justificativa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Kinea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agro, IPCA+, rating min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XP 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Fundo CP agro dedicado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Itau 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IPCA+ setor alimentos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Sul America Prev.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Seguradora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R$ 12M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ALM matching, duration 5y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BTG 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Credito privado high 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Verde 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R$ 8M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Alocacao tatica IPCA+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Outros (22)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Diversos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60-75%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Fundos agro + previdencia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R$ 195M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1,3x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0" y="4572000"/>
            <a:ext cx="228600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4645152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6749"/>
                </a:solidFill>
                <a:latin typeface="Calibri"/>
              </a:defRPr>
            </a:pPr>
            <a:r>
              <a:t>1,3x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528523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718096"/>
                </a:solidFill>
                <a:latin typeface="Calibri"/>
              </a:defRPr>
            </a:pPr>
            <a:r>
              <a:t>Oversubscription Estimada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Execucao em 6 semanas — liquidacao em abril posiciona antes da safra de investimentos do 2o semestre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Etapa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Responsavel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Mandato e kick-off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01/Mar/2026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Gennesys / Meridian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Due diligence + rating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01-15/Mar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 — AA-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Fitch / BDO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Laudo de avaliacao (IBAPE)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10/Mar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Concluido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IBAPE-GO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Termo de securitizacao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15-25/Mar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Em andamento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Eco Sec. / Pinheiro Neto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Registro CVM (RCVM 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28/Mar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Gennesys / CVM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Pre-marketing (ancoras)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01-05/Abr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Gennesys DCM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Bookbuilding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07-14/Abr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Gennesys DCM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14/Abr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Gennesys / Meridian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Liquidacao (D+2)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16/Abr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Bradesco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Inicio negociacao B3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17/Abr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B3 (CETIP21)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Cinco riscos principais mitigados por garantia tripla, diversificacao e hedge natural em USD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Risco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Mitigante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Residual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Preco commodities (boi/suino)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Hedge 45% producao + diversificacao bov/suino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Concentracao de clientes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Top 5 clientes = 28% receita (nenhum &gt; 8%)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Sanitario (embargo)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42 paises habilitados — diversificacao geografica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Cambial (BRL/USD)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70% receita em USD — hedge natural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Refinanciamento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FCO R$ 68M/ano vs servico divida R$ 28M — 2,4x cobertura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Baixo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40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>
                <a:latin typeface="Calibri"/>
              </a:defRPr>
            </a:pPr>
          </a:p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Parecer Global de Risco: BAIXO-MEDIO</a:t>
            </a:r>
          </a:p>
          <a:p>
            <a:pPr>
              <a:spcBef>
                <a:spcPts val="3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Rating AA- sustentado por: historico de credito impecavel (18 anos), garantia tripla (3,2x), setor com demanda estrutural crescente, diversificacao de mercados (42 paises) e gestao conservadora de alavancagem (1,9x).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00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718096"/>
                </a:solidFill>
                <a:latin typeface="Calibri"/>
              </a:defRPr>
            </a:pPr>
            <a:r>
              <a:t>Confidencial  |  Gennesys Capital Markets  |  Grupo Meridian Alimentos S.A.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1809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F3D"/>
                </a:solidFill>
                <a:latin typeface="Georgia"/>
              </a:defRPr>
            </a:pPr>
            <a:r>
              <a:t>Prestadores de Servico e Base Legal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74552" cy="4000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F1F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Coordenador 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Gennesys Capital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Securitizadora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Eco Securitizadora S.A.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Grupo Meridian Alimentos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Agente Fiduciario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Pentagonal S.A. DTVM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Escriturador / Liquidante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Banco Bradesco S.A.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Assessor Juridico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Pinheiro Neto Advogados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Agencia de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Fitch Ratings (AA- estavel)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Auditores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BDO Brasil Auditores Independentes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Avaliacao de Imoveis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IBAPE-GO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100" b="1">
                <a:solidFill>
                  <a:srgbClr val="0F1F3D"/>
                </a:solidFill>
                <a:latin typeface="Calibri"/>
              </a:defRPr>
            </a:pPr>
            <a:r>
              <a:t>Base Legal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Lei 11.076/2004 — CRA (isencao IR para PF)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RCVM 160/2022 — Ofertas Publicas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RCVM 30/2021 — Investidores Qualificados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Codigo ANBIMA de Ofertas Publicas</a:t>
            </a:r>
          </a:p>
          <a:p>
            <a:pPr>
              <a:spcBef>
                <a:spcPts val="200"/>
              </a:spcBef>
              <a:defRPr sz="900">
                <a:solidFill>
                  <a:srgbClr val="2D3748"/>
                </a:solidFill>
                <a:latin typeface="Calibri"/>
              </a:defRPr>
            </a:pPr>
            <a:r>
              <a:t>• Lei 6.404/1976 (Lei das S.A.)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