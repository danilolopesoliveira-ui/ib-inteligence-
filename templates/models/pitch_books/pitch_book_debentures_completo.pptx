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0175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Georgia"/>
              </a:defRPr>
            </a:pPr>
            <a:r>
              <a:t>ENEVA S.A.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0D0E8"/>
                </a:solidFill>
                <a:latin typeface="Calibri"/>
              </a:defRPr>
            </a:pPr>
            <a:r>
              <a:t>Emissao de Debentures Simples  |  1a e 2a Series  |  R$ 800.000.000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EC0"/>
                </a:solidFill>
                <a:latin typeface="Calibri"/>
              </a:defRPr>
            </a:pPr>
            <a:r>
              <a:t>Rating AA+ (Fitch Ratings)  |  Perspectiva Estavel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0F1F3D"/>
                </a:solidFill>
                <a:latin typeface="Calibri"/>
              </a:defRPr>
            </a:pPr>
            <a:r>
              <a:t>Coordenador Lider</a:t>
            </a:r>
          </a:p>
          <a:p>
            <a:pPr>
              <a:defRPr sz="1200">
                <a:solidFill>
                  <a:srgbClr val="1A202C"/>
                </a:solidFill>
                <a:latin typeface="Calibri"/>
              </a:defRPr>
            </a:pPr>
            <a:r>
              <a:t>IB-Agents Intelligence Platform</a:t>
            </a:r>
          </a:p>
          <a:p>
            <a:pPr>
              <a:defRPr sz="600">
                <a:solidFill>
                  <a:srgbClr val="718096"/>
                </a:solidFill>
                <a:latin typeface="Calibri"/>
              </a:defRPr>
            </a:pPr>
          </a:p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21 de March de 2026</a:t>
            </a:r>
          </a:p>
          <a:p>
            <a:pPr>
              <a:defRPr sz="800">
                <a:solidFill>
                  <a:srgbClr val="718096"/>
                </a:solidFill>
                <a:latin typeface="Calibri"/>
              </a:defRPr>
            </a:pPr>
            <a:r>
              <a:t>Strictly Private and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  |  Eneva S.A. — Debentures R$ 800M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Aviso Legal e Restricoes de Uso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Este material foi preparado pelo IB-Agents Intelligence Platform com finalidade exclusivamente informativa e nao constitui oferta, convite ou solicitacao para aquisicao de valores mobiliarios nos termos da Resolucao CVM no 160/2022.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As informacoes aqui contidas sao baseadas em fontes publicas consideradas confiaveis, porem nenhuma declaracao ou garantia, expressa ou implicita, e feita quanto a sua exatidao ou completude. Rendimentos passados nao sao garantia de resultados futuros.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Este documento e confidencial e destinado exclusivamente a investidores profissionais e qualificados conforme a Resolucao CVM no 30/2021. Sua reproducao, total ou parcial, sem autorizacao previa por escrito, e expressamente proibida.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Os potenciais investidores devem conduzir sua propria analise e consultar seus assessores juridicos, fiscais e financeiros antes de tomar qualquer decisao de investimento.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200"/>
              </a:spcBef>
              <a:defRPr sz="750" i="1">
                <a:solidFill>
                  <a:srgbClr val="718096"/>
                </a:solidFill>
                <a:latin typeface="Calibri"/>
              </a:defRPr>
            </a:pPr>
            <a:r>
              <a:t>[Resolucao CVM no 160/2022 | Codigo ANBIMA de Ofertas Publicas | Lei no 6.385/1976]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  |  Eneva S.A. — Debentures R$ 800M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Fluxo de caixa previsivel e alavancagem confortavel sustentam emissao de R$ 800M a spreads competitivos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Situacao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Eneva e a maior geradora termica privada a gas do Brasil (5,9 GW) com 92% da receita contratada via PPAs de 15+ anos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Net Debt/EBITDA de apenas 1,2x — ampla folga vs covenant de 3,5x e capacidade adicional de R$ 8,8Bi em divida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Oportunidade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Mercado de debentures em alta: R$ 320Bi emitidos em 2024 (+18% YoY) com compressao de spreads para emissores AA+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Janela ideal para captar R$ 800M a custo otimizado — CDI+1,85% (5y) e IPCA+6,20% (7y) estao em linha com mediana do setor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Recomendacao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Emissao de R$ 800M em duas series otimiza o perfil de divida: 1a serie (CDI+, bullet) para refi + 2a serie (IPCA+, linear) para capex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Cessao fiduciaria de recebiveis PPA garante cobertura de 2,7x o servico da divida — protecao robusta para investidores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Demanda estimada de R$ 1,4Bi (1,75x) por 42 instituicoes mapeadas — oversubscription praticamente garantida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03520"/>
            <a:ext cx="2057400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3492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F3D"/>
                </a:solidFill>
                <a:latin typeface="Calibri"/>
              </a:defRPr>
            </a:pPr>
            <a:r>
              <a:t>R$ 800M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8064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  <a:latin typeface="Calibri"/>
              </a:defRPr>
            </a:pPr>
            <a:r>
              <a:t>Volume da Emissao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5303520"/>
            <a:ext cx="2057400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79" y="53492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76749"/>
                </a:solidFill>
                <a:latin typeface="Calibri"/>
              </a:defRPr>
            </a:pPr>
            <a:r>
              <a:t>AA+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58064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  <a:latin typeface="Calibri"/>
              </a:defRPr>
            </a:pPr>
            <a:r>
              <a:t>Rating Fitch (estavel)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5303520"/>
            <a:ext cx="2057400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53492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76749"/>
                </a:solidFill>
                <a:latin typeface="Calibri"/>
              </a:defRPr>
            </a:pPr>
            <a:r>
              <a:t>1,2x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58064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  <a:latin typeface="Calibri"/>
              </a:defRPr>
            </a:pPr>
            <a:r>
              <a:t>Net Debt / EBITDA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59" y="5303520"/>
            <a:ext cx="2057400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53492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F3D"/>
                </a:solidFill>
                <a:latin typeface="Calibri"/>
              </a:defRPr>
            </a:pPr>
            <a:r>
              <a:t>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58064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  <a:latin typeface="Calibri"/>
              </a:defRPr>
            </a:pPr>
            <a:r>
              <a:t>Receita Contratada PPA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5303520"/>
            <a:ext cx="2057400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53492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F3D"/>
                </a:solidFill>
                <a:latin typeface="Calibri"/>
              </a:defRPr>
            </a:pPr>
            <a:r>
              <a:t>1,75x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58064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  <a:latin typeface="Calibri"/>
              </a:defRPr>
            </a:pPr>
            <a:r>
              <a:t>Oversubscription 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  |  Eneva S.A. — Debentures R$ 800M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Demanda por energia cresce 3,2% a.a. ate 2030 — gas natural ganha share como combustivel de transicao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Macro Brasil (marco/2025)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PIB 2024: +3,1% | 2025E: +2,5% (Focus BCB) | SELIC: 13,25% (pico do ciclo, cortes esperados no 2S25)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IPCA: 4,8% acum. 12m | Meta: 3,0% +/- 1,5pp | Expectativa de convergencia em 2026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Setor Eletrico — Geracao Termica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Capacidade instalada Brasil: 198 GW (2024) — termica responde por 28% da matriz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Crescimento de demanda: +3,2% a.a. (EPE 2025-2030) — acima do PIB projetado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Gas natural: menor emissao CO2 vs carvao (-50%) e oleo (-30%) — alinhado com metas climaticas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Novo Marco do Gas (Lei 14.134/2021): abertura do mercado, novos entrantes, beneficio para incumbentes integrados como Eneva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Contexto para Emissores de Debentures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Volume emitido em 2024: R$ 320Bi (+18% YoY) — recorde historico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Spread medio AA+ (5 anos): CDI+1,78% (ANBIMA mar/25) — comprimindo desde out/24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Fundos de credito privado com captacao liquida positiva: R$ 48Bi em 2024</a:t>
            </a:r>
          </a:p>
          <a:p>
            <a:pPr>
              <a:spcBef>
                <a:spcPts val="200"/>
              </a:spcBef>
              <a:defRPr sz="750" i="1">
                <a:solidFill>
                  <a:srgbClr val="718096"/>
                </a:solidFill>
                <a:latin typeface="Calibri"/>
              </a:defRPr>
            </a:pPr>
            <a:r>
              <a:t>[Fonte: EPE PDE 2030, ANEEL, BCB Focus 21/mar/2025, ANBIMA Mercado Secundario]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  |  Eneva S.A. — Debentures R$ 800M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Modelo integrado gas + energia gera custo 25% inferior ao de competidores nao-integrados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Eneva em Numeros (dez/2024)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Capacidade instalada: 5,9 GW | 100% gas natural e renovaveis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Operacao: Bacia do Parnaiba (MA) — 4 UTE com gas proprio + Roraima e Ceara em expansao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Colaboradores: 2.800+ | Listada B3: Novo Mercado (ENEV3) desde 2007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Vantagem Competitiva: Integracao Vertical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UNICA geradora termica com exploracao propria de gas no Brasil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Custo de geracao 25% abaixo de termoeletricas que compram gas de terceiros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Reservas certificadas (DeGolyer): 15+ anos de operacao ao ritmo atual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Estrutura Acionaria e Governanca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Free float: 72,3% | BTG Pactual (referencia): 12,5% | Adm./Colab.: 2,1% | Tesouraria: 3,1%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Conselho: 9 membros, 5 independentes (55,6%) — comites de Auditoria, Risco e Sustentabilidade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Novo Mercado B3: 100% ON, tag along integral, clausula arbitral, vedacao de acoes preferenciais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486400"/>
            <a:ext cx="2606040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532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F3D"/>
                </a:solidFill>
                <a:latin typeface="Calibri"/>
              </a:defRPr>
            </a:pPr>
            <a:r>
              <a:t>5,9 GW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893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  <a:latin typeface="Calibri"/>
              </a:defRPr>
            </a:pPr>
            <a:r>
              <a:t>Capacidade Instalada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5486400"/>
            <a:ext cx="2606040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5532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76749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9893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  <a:latin typeface="Calibri"/>
              </a:defRPr>
            </a:pPr>
            <a:r>
              <a:t>Custo Inferior vs Peers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5486400"/>
            <a:ext cx="2606040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5532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F3D"/>
                </a:solidFill>
                <a:latin typeface="Calibri"/>
              </a:defRPr>
            </a:pPr>
            <a:r>
              <a:t>15+ anos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9893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  <a:latin typeface="Calibri"/>
              </a:defRPr>
            </a:pPr>
            <a:r>
              <a:t>Reservas Certificadas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5486400"/>
            <a:ext cx="2606040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5532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F3D"/>
                </a:solidFill>
                <a:latin typeface="Calibri"/>
              </a:defRPr>
            </a:pPr>
            <a:r>
              <a:t>72,3%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59893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  <a:latin typeface="Calibri"/>
              </a:defRPr>
            </a:pPr>
            <a:r>
              <a:t>Free Float (Novo Mercado)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  |  Eneva S.A. — Debentures R$ 800M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EBITDA cresceu 20% a.a. nos ultimos 3 anos com margem expandindo de 44,9% para 46,3%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2743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R$ Milhoes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CAGR 3a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Receita Liquida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3.820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4.850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7.180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8.200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19,1%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Lucro Bruto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2.230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2.770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3.400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3.940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20,9%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Margem Bruta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39,3%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46,0%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46,8%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47,4%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48,0%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EBITDA Ajustado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1.580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2.180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2.650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3.320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3.800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20,3%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Margem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41,4%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44,9%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44,8%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46,2%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46,3%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+140bps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Lucro Liquido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383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673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858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1.241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1.518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31,3%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Margem Liquida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10,0%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13,9%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14,5%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17,3%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18,5%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FCF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Capex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1.100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1.200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1.800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2.100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Dividendos Pagos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718096"/>
                </a:solidFill>
                <a:latin typeface="Calibri"/>
              </a:defRPr>
            </a:pPr>
            <a:r>
              <a:t>[Fonte: Eneva S.A. — Demonstracoes Financeiras Consolidadas (IFRS), auditadas por PwC. EBITDA ajustado exclui itens nao recorrentes.]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  |  Eneva S.A. — Debentures R$ 800M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Desalavancagem de 2,8x para 1,2x em 4 anos — folga de 2,3x no covenant principal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2743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Metrica de Credito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Covenant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Divida Bruta (R$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6.200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7.100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Caixa (R$ M)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1.400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1.800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2.100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2.500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2.900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Divida Liquida (R$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4.700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4.600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Net Debt / EBITDA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2,78x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2,02x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1,77x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1,39x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1,18x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&lt;= 3,50x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EBITDA / Desp. Financeira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3,04x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3,76x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4,08x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5,72x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7,31x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&gt;= 2,50x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DSCR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1,25x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1,65x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1,85x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2,10x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2,45x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&gt;= 1,30x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Current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1,15x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1,28x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1,35x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1,52x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1,68x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FCF / Div. Liquida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15,5%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22,3%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24,5%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33,0%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37,8%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Rating Implicito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A-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AA-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Capacidade Adic. Divida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3.430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4.475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7.020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8.830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Ate 3,5x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718096"/>
                </a:solidFill>
                <a:latin typeface="Calibri"/>
              </a:defRPr>
            </a:pPr>
            <a:r>
              <a:t>[Capacidade adicional de divida = (EBITDA x 3,5) - Divida Liquida atual. Rating implicito baseado em modelo de credit scoring interno.]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  |  Eneva S.A. — Debentures R$ 800M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Duas series complementares otimizam custo e perfil de amortizacao da divida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Caracteristica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1a Serie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2a Serie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R$ 480.000.000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R$ 320.000.000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 (venc. Abr/2030)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 anos (venc. Abr/2032)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Remuneracao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 + 1,85% a.a.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 + 6,20% a.a.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Pagamento de Juros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Semestral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Semestral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Amortizacao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Bullet (100% no vencimento)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Linear anual (a partir do 5o ano)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Especie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Quirografaria c/ cessao fiduciaria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Quirografaria c/ cessao fiduciaria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Garantia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Cessao fid. recebiveis PPA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Cessao fid. recebiveis PPA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Rating (Fitch)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 (perspectiva estavel)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 (perspectiva estavel)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Publico-alvo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Investidores qualificados (RCVM 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Investidores qualificados (RCVM 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Regime de oferta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RCVM 160 — registro automatico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RCVM 160 — registro automatico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Agente Fiduciario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Pentagonal S.A. DTVM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Pentagonal S.A. DTVM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Escriturador / Liquidante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Banco Bradesco S.A.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Banco Bradesco S.A.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Custodia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B3 — Balcao B3 (CETIP21)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B3 — Balcao B3 (CETIP21)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  |  Eneva S.A. — Debentures R$ 800M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Spread de CDI+1,85% esta na mediana do setor eletrico AA+ — balanco ideal entre custo e demanda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Metodologia de Precificacao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Base: curva DI futura (B3) + premio de credito por rating, setor, prazo e garantia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Benchmark: 8 emissoes recentes do setor eletrico (jan-mar/2025) com rating AA ou superior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Ajuste de NIP (New Issue Premium): +5 a 10bps sobre mercado secundario para garantir demanda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37744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Emissor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Indexador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Spread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Volume (R$ M)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Coord. Lider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CPFL Energia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Jan/25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Itau BBA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Sabesp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1,70%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Mar/25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BTG Pactual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Neoenergia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Jan/25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Bradesco BBI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Equatorial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6,35%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2.000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Mar/25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XP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Taesa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 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Fev/25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Engie Brasil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10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5,80%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Fev/25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Itau BBA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 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6,50%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Fev/25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Bradesco BBI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Rumo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1,92%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Jan/25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Santander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ENEVA (proposta)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5+7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CDI+ / IPCA+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1,85% / 6,20%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Abr/25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IB-Agents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718096"/>
                </a:solidFill>
                <a:latin typeface="Calibri"/>
              </a:defRPr>
            </a:pPr>
            <a:r>
              <a:t>[Fonte: ANBIMA — Boletim de Mercado Secundario de Debentures, marco/2025. Spreads de emissao primaria no momento do bookbuilding.]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  |  Eneva S.A. — Debentures R$ 800M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Pacote de covenants com folga de 2,3x no principal indicador — robusto mesmo em cenario de stress -30%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Covenants Financeiros (teste semestral — base DFs auditadas / ITR)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Net Debt / EBITDA: &lt;= 3,5x (atual: 1,2x | folga: 2,3x | breach em queda de -66% no EBITDA)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EBITDA / Desp. Financeira Liq.: &gt;= 2,5x (atual: 4,8x | folga: 2,3x)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DSCR (Debt Service Coverage): &gt;= 1,3x (atual: 2,45x | grace period: 60 dias para cura)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Covenants Nao-Financeiros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Cross-default: vencimento antecipado se inadimplencia em dividas &gt; R$ 150 milhoes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Change of control: vencimento antecipado em mudanca de controle direto ou indireto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Restricted Payments: dividendos acima do minimo legal (25%) somente se DL/EBITDA &lt;= 3,0x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Alienacao de ativos essenciais: vedada sem anuencia se &gt; 10% do ativo total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Manutencao de seguros operacionais e envio trimestral de DFs ao agente fiduciario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Cenario de Stress (Bear -15% EBITDA / Stressed -30% EBITDA)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84632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Cenario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EBITDA (R$ M)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DL/EBITDA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Cov.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EBITDA/Fin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Cov.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Base (atual)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1,18x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OK (folga 2,3x)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4,8x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OK (folga 2,3x)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Bear (-15%)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3.230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1,39x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OK (folga 2,1x)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4,1x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Stressed (-30%)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2.660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1,69x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OK (folga 1,8x)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3,4x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Breach threshold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1.286 (-66%)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3,50x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BREACH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2,5x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BREACH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  |  Eneva S.A. — Debentures R$ 800M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Cessao fiduciaria de recebiveis PPA garante cobertura de 2,7x o servico mensal da divida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Estrutura de Garantia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Tipo: cessao fiduciaria de direitos creditorios decorrentes de PPAs (Power Purchase Agreements)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Receita mensal cedida: R$ 180 milhoes (media 12 meses — contratos com CCEE e distribuidoras)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Servico mensal estimado da divida: R$ 67 milhoes (juros + amortizacao media das 2 series)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Cobertura: 2,7x — significativamente acima do padrao de mercado para quirografarias AA+ (1,0x)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Mecanismo Operacional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Conta vinculada segregada no Banco Bradesco S.A. (escriturador)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Fluxo de recebiveis direcionado automaticamente antes de qualquer outra destinacao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Agente fiduciario (Pentagonal DTVM) monitora mensalmente o fluxo e a cobertura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Trigger de aceleracao se cobertura cair abaixo de 1,5x por 2 periodos consecutivos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Contratos de Suporte (PPAs)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12 contratos de fornecimento de energia com prazo medio remanescente de 15 anos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100% dos contratos com clausula de reajuste anual por IPCA + componente X (ANEEL)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Contraparte: distribuidoras reguladas (Equatorial MA, CEMAR, Eletrobras) — risco de credito soberano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Nenhum contrato representa mais de 18% do total — diversificacao de contraparte adequada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  |  Eneva S.A. — Debentures R$ 800M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Demanda estimada de R$ 1,4Bi por 42 instituicoes — oversubscription de 1,75x permite pricing otimizado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2743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Instituicao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AUM (R$ Bi)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Ticket Est.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Aderencia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Justificativa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Itau Asset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Mandato AA+ eletrico, historico em Eneva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BTG Pactual Asset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R$ 60M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Fundo CP com alocacao setor energia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Previ (BB)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F. Pensao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Mandato infra, rating min AA-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XP Investimentos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Banco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R$ 40M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Mesa RF ativa em debentures AA+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Kinea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R$ 30M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Infra + credito privado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Funcef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F. Pensao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R$ 50M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Mandato conservador, eletrico OK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Verde 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R$ 25M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Macro + credito, duration ate 7y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SPX Capital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R$ 20M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Alocacao tatica em credito AA+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Sul America Seguros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Seguradora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ALM matching, duration longa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Outros (33 instituicoes)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Diversos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R$ 480M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60-75%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TOTAL ESTIMADO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R$ 1.400M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1,75x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  |  Eneva S.A. — Debentures R$ 800M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60% para refinanciamento alongando o perfil + 40% para expansao com retorno de 18% ao ano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Refinanciamento (R$ 480M — 60%)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Substituicao de CCB bilateral com custo CDI+2,80% (venc. 2026) por 1a serie a CDI+1,85%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Economia anual estimada: R$ 4,6M em despesas financeiras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Alongamento do perfil: prazo medio da divida sobe de 3,2 anos para 4,8 anos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Eliminacao de concentracao de vencimento em 2026 (R$ 480M de amortizacao unica → bullet 2030)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Investimento em Expansao — Parnaiba VI (R$ 320M — 40%)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Projeto: UTE Parnaiba VI (380 MW de capacidade termica a gas natural)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Status: PPA firmado com CCEE por 25 anos | Licenca ambiental obtida | Gas proprio da Bacia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Capex total: R$ 2,1Bi (R$ 320M desta emissao + R$ 1,78Bi de fontes existentes/BNDES)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Inicio de operacao comercial: 1T2027 | Payback: 6 anos | TIR do projeto: 18,2% a.a.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Impacto projetado: +R$ 950M de receita anual e +R$ 440M de EBITDA apos ramp-up (2028)</a:t>
            </a:r>
          </a:p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200"/>
              </a:spcBef>
              <a:defRPr sz="750" i="1">
                <a:solidFill>
                  <a:srgbClr val="718096"/>
                </a:solidFill>
                <a:latin typeface="Calibri"/>
              </a:defRPr>
            </a:pPr>
            <a:r>
              <a:t>[A destinacao precisa dos recursos sera detalhada na escritura de emissao.]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  |  Eneva S.A. — Debentures R$ 800M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Execucao em 8 semanas — bookbuilding em abril abre janela antes do ciclo de corte de SELIC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Etapa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Periodo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Responsavel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Mandato e kick-off com Emissora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15/Fev/2025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Concluido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IB-Agents / Eneva 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Due diligence financeira e juridica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18/Fev — 10/Mar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Concluido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IB-Agents / Machado Meyer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Obtencao de rating (Fitch Ratings)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20/Fev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Concluido — AA+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Elaboracao da escritura de emissao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01 — 15/Mar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Em andamento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Pinheiro Neto / Pentagonal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Aprovacao do Conselho de Adm.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18/Mar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Pendente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Eneva (Secretaria 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Registro CVM (RCVM 160 automatico)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20/Mar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Pendente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IB-Agents / CVM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Periodo de bookbuilding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25/Mar — 02/Abr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IB-Agents (mesa DCM)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Definicao de taxa (pricing)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02/Abr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IB-Agents / Eneva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Liquidacao financeira (D+2)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04/Abr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Bradesco (liquidante)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Inicio negociacao mercado secundario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07/Abr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B3 (CETIP21)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  |  Eneva S.A. — Debentures R$ 800M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Tres riscos principais sao mitigados por protecoes estruturais — rating estavel sustentado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Risco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Descricao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Prob.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Mitigante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Risco Residual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Concentracao 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70% da capacidade na Bacia do Parnaiba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Diversificacao em andamento (RR, CE) + seguros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Reservas de Gas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Dependencia de reservas provadas/provaveis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Certificacao DeGolyer: 15+ anos de reserva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Regulatorio ANEEL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Alteracoes em regras de contratacao de energia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PPAs firmados nao retroativos; lobby setorial 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Liquidez Secundaria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Mercado de debentures pode ter periodos iliquidos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Base diversificada de 42 investidores + rating AA+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Variacao CDI/IPCA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Custo efetivo da divida pode subir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1a serie hedge natural (ativo CDI); 2a serie match IPCA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Refinanciamento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Risco de rolagem no vencimento das series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Perfil escalonado (2030+2032) + FCF de R$1,7Bi/ano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6749"/>
                </a:solidFill>
                <a:latin typeface="Calibri"/>
              </a:defRPr>
            </a:pPr>
            <a:r>
              <a:t>Avaliacao Global de Risco da Operacao: BAIXO</a:t>
            </a:r>
          </a:p>
          <a:p>
            <a:pPr>
              <a:spcBef>
                <a:spcPts val="6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A combinacao de fluxo de caixa previsivel (92% PPA), alavancagem confortavel (1,2x), garantia real (cessao fiduciaria 2,7x), rating AA+ e historico de 5 emissoes bem-sucedidas posiciona esta operacao no quadrante de menor risco do universo de debentures do setor eletrico brasileiro.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5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718096"/>
                </a:solidFill>
                <a:latin typeface="Calibri"/>
              </a:defRPr>
            </a:pPr>
            <a:r>
              <a:t>Confidencial  |  IB-Agents Intelligence Platform  |  Eneva S.A. — Debentures R$ 800M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50">
                <a:solidFill>
                  <a:srgbClr val="718096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D"/>
                </a:solidFill>
                <a:latin typeface="Georgia"/>
              </a:defRPr>
            </a:pPr>
            <a:r>
              <a:t>Prestadores de Servico e Contatos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94944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743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Funcao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Instituicao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Contato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Coordenador Lider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IB-Agents Intelligence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dcm@ib-agents.com.br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Emissora — RI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Eneva S.A.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ri@eneva.com.br | +55 21 3XXX-XXXX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Agente Fiduciario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Pentagonal S.A. DTVM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fiduciario@pentagonal.com.br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Escriturador / Liquidante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Banco Bradesco S.A.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escrituracao@bradesco.com.br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Assessor Juridico (Emissor)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Machado Meyer Sendacz e Opice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mm@machadomeyer.com.br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Assessor Juridico (Coord.)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Pinheiro Neto Advogados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pn@pinheironeto.com.br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Agencia de 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Fitch Ratings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brasil@fitchratings.com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7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Auditores Independentes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PricewaterhouseCoopers (PwC)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40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>
                <a:latin typeface="Calibri"/>
              </a:defRPr>
            </a:pPr>
          </a:p>
          <a:p>
            <a:pPr>
              <a:spcBef>
                <a:spcPts val="12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Base Legal Aplicavel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Resolucao CVM no 160/2022 — Ofertas Publicas de Distribuicao de Valores Mobiliarios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Resolucao CVM no 30/2021 — Investidores Qualificados e Profissionais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Codigo ANBIMA de Regulacao e Melhores Praticas para Ofertas Publicas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Lei no 6.404/1976 (Lei das S.A.) — Titulo III: Debentures (arts. 52 a 74)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Lei no 6.385/1976 — Disciplina do Mercado de Valores Mobiliarios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