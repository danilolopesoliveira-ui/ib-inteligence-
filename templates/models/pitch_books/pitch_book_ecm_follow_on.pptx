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SLC AGRICOLA S.A.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0D0E8"/>
                </a:solidFill>
                <a:latin typeface="Calibri"/>
              </a:defRPr>
            </a:pPr>
            <a:r>
              <a:t>R$ 1.200.000.000 | Primario + Secundario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Oferta Publica de Acoes — Follow-on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March 2026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IB-Agents Intelligence Platform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Investment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Equity Story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#1 em escala: 680.000 ha — maior produtora individual de graos do Brasil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Custo/ha 12% abaixo da media regional — escala gera vantagem competitiva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70% receita indexada USD — hedge cambial natural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FCF yield 8,5% | Dividend yield 4,2% | Payout 50%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Negocia 6,8x EV/EBITDA vs 7,5x mediana peers (-9% desconto)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Uso dos Recursos (Primario R$ 720M)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50% expansao area (+80.000 ha ate 2027)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30% tecnologia (agricultura de precisao, IA)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20% reducao divida (DL/EBITDA → 1,1x)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Valuation — Football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Price Range por Acao (R$)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EV/EBITDA LTM (7,5x): R$ 17,80 | NTM (6,5x): R$ 19,20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P/L NTM (12x): R$ 18,50 | DCF (WACC 13,2%, g 4%): R$ 21,30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Media ponderada: R$ 19,50 | Cotacao SLCE3: R$ 17,20 (+13% upside)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Offer Price Range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Floor: R$ 17,50 (desconto 10% vs fair value)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Mid: R$ 19,00 (desconto 5% — padrao follow-on)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Cap: R$ 20,50 (proximo ao DCF)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57600"/>
          <a:ext cx="10972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Metodologia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Peso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EV/EBITDA LTM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16,20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17,80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19,40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EV/EBITDA NTM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17,50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19,20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20,90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P/L NTM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16,80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DCF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18,50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21,30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24,10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Precedent M&amp;A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22,20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Ponderado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17,50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19,50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21,80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Estrutura da Oferta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051560"/>
          <a:ext cx="109728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2926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Detalhe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Follow-on (primario + secundario)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Volume 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R$ 1.200.000.000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Primario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R$ 720M (60%) — caixa empresa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Secundario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R$ 480M (40%) — acionistas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Acoes Ofertadas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63,2M (ao mid R$ 19,00)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Diluicao Primaria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8,2%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Free Float 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42,5% (atende NM 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Greenshoe (15%)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9,5M acoes (R$ 180M)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Lock-up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180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ANBIMA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Bookbuilding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Cronograma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Reservas: 25/Mar — 05/Abr (8 DU) | Pricing: 07/Abr | Liquidacao: D+2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Alocacao Sugerida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Institucional local: 45% (fundos, previdencia)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Institucional internacional: 30% (Reg S / 144A)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Varejo: 15% (reservas em corretoras)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Ancoras: 10% (GIC, Norges Bank, Capital Group)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4652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ESG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1064240" cy="6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Ambiental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32% area preservada (acima exigido) | 0,42 tCO2e/ton (-30% vs media)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100% rastreabilidade RTRS | Meta: -25% emissoes/ton ate 2030 (SBTi)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Social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8.500 diretos + 12.000 safristas | 1.200 jovens formados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Governanca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Novo Mercado (100% ON, tag along) | 55,6% conselheiros independentes</a:t>
            </a:r>
          </a:p>
          <a:p>
            <a:pPr lvl="1">
              <a:spcBef>
                <a:spcPts val="200"/>
              </a:spcBef>
              <a:defRPr sz="900">
                <a:solidFill>
                  <a:srgbClr val="4A5568"/>
                </a:solidFill>
                <a:latin typeface="Calibri"/>
              </a:defRPr>
            </a:pPr>
            <a:r>
              <a:t>• Comites: Auditoria, Remuneracao, Sustentabilidade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