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Georgia"/>
              </a:defRPr>
            </a:pPr>
            <a:r>
              <a:t>AGROVALE PARTICIPACOES S.A.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0D0E8"/>
                </a:solidFill>
                <a:latin typeface="Calibri"/>
              </a:defRPr>
            </a:pPr>
            <a:r>
              <a:t>Debentures Simples  |  R$ 500M  |  1ª Série: CDI + 1,65% | 2ª Série: IPCA + 6,00%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EC0"/>
                </a:solidFill>
                <a:latin typeface="Calibri"/>
              </a:defRPr>
            </a:pPr>
            <a:r>
              <a:t>Rating AA (Fitch)  |  RCVM 160 — Registro Automático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718096"/>
                </a:solidFill>
                <a:latin typeface="Calibri"/>
              </a:defRPr>
            </a:pPr>
            <a:r>
              <a:t>IB-Agents Intelligence Platform</a:t>
            </a:r>
          </a:p>
          <a:p>
            <a:pPr>
              <a:defRPr sz="1000">
                <a:solidFill>
                  <a:srgbClr val="718096"/>
                </a:solidFill>
                <a:latin typeface="Calibri"/>
              </a:defRPr>
            </a:pPr>
            <a:r>
              <a:t>Coordenador Lider</a:t>
            </a:r>
          </a:p>
          <a:p>
            <a:pPr>
              <a:defRPr sz="1000">
                <a:solidFill>
                  <a:srgbClr val="718096"/>
                </a:solidFill>
                <a:latin typeface="Calibri"/>
              </a:defRPr>
            </a:pPr>
          </a:p>
          <a:p>
            <a:pPr>
              <a:defRPr sz="1000">
                <a:solidFill>
                  <a:srgbClr val="718096"/>
                </a:solidFill>
                <a:latin typeface="Calibri"/>
              </a:defRPr>
            </a:pPr>
            <a:r>
              <a:t>March 2026</a:t>
            </a:r>
          </a:p>
          <a:p>
            <a:pPr>
              <a:defRPr sz="1000">
                <a:solidFill>
                  <a:srgbClr val="718096"/>
                </a:solidFill>
                <a:latin typeface="Calibri"/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 |  AgroVale Participacoes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F3D"/>
                </a:solidFill>
                <a:latin typeface="Georgia"/>
              </a:defRPr>
            </a:pPr>
            <a:r>
              <a:t>AgroVale oferece crédito AA com DL/EBITDA de 1,7x, spread competitivo frente a comparáveis e garantias reais robustas — janela de mercado favorável recomenda execução imediata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04672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 b="1">
                <a:solidFill>
                  <a:srgbClr val="0F1F3D"/>
                </a:solidFill>
                <a:latin typeface="Calibri"/>
              </a:defRPr>
            </a:pPr>
            <a:r>
              <a:t>Tese de Investimento</a:t>
            </a:r>
          </a:p>
          <a:p>
            <a:pPr>
              <a:spcBef>
                <a:spcPts val="5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A AgroVale Participações S.A. combina posicionamento de líder em um setor com fundamentos estruturais positivos — demanda global crescente, câmbio favorável e expansão de fronteira agrícola — com disciplina financeira comprovada por DL/EBITDA de 1,7x, cobertura de juros de 4,7x e FCF positivo consistente. A emissão de R$ 500 milhões com rating AA (Fitch), garantias reais de 2,5x e spreads competitivos frente a comparáveis representa oportunidade de crédito premium em um dos segmentos mais resilientes da economia brasileira. O perfil de amortização alongado e o uso de recursos focado em desalavancagem e expansão de capacidade reforçam a trajetória de melhora de crédito ao longo do prazo das debentures, tornando este papel atrativo para investidores institucionais com mandato em crédito investment grade.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</a:p>
          <a:p>
            <a:pPr>
              <a:spcBef>
                <a:spcPts val="1600"/>
              </a:spcBef>
              <a:defRPr sz="1600" b="1">
                <a:solidFill>
                  <a:srgbClr val="0F1F3D"/>
                </a:solidFill>
                <a:latin typeface="Calibri"/>
              </a:defRPr>
            </a:pPr>
            <a:r>
              <a:t>Destaques da Operacao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Volume: R$ 500M em 2 series — Cessão fiduciária de recebíveis de contratos de comercialização de safra (CPR e NDF) + alienação fiduciária de imóveis rurais selecionados no MT e BA, com LTV máximo de 40%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Rating: AA (Fitch) — 60% destinados a refinanciamento de dívida de curto prazo (CCB e CRA vencendo em 2025–2026), alongando o perfil de vencimentos; 30% para expansão de capacidade de armazenagem em 200 mil toneladas adicionais no MATOPIBA; 10% para capital de giro estrutural da safra 2025/26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Empresa: A AgroVale Participações S.A. é uma das maiores produtoras integradas de grãos e fibras do Brasil, com operações concentradas no MATOPIBA e no Mato Grosso, totalizando aproximadamente 320 mil hectares de área cultivada própria e arrendada. A companhia possui plataforma logística própria com armazéns com capacidade de 1,2 milhão de toneladas e contratos de longo prazo com tradings internacionais, garantindo previsibilidade de receita e hedges cambiais estruturais. Com histórico de crescimento consistente e gestão profissionalizada desde 2015, a AgroVale se posiciona como plataforma de consolidação no agronegócio brasileiro, combinando escala operacional, eficiência de custos e acesso privilegiado a mercados exportadores.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005840"/>
            <a:ext cx="2560320" cy="1188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05156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F1F3D"/>
                </a:solidFill>
                <a:latin typeface="Calibri"/>
              </a:defRPr>
            </a:pPr>
            <a:r>
              <a:t>R$ 500M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810512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18096"/>
                </a:solidFill>
                <a:latin typeface="Calibri"/>
              </a:defRPr>
            </a:pPr>
            <a:r>
              <a:t>Volume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377440"/>
            <a:ext cx="2560320" cy="1188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2316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6749"/>
                </a:solidFill>
                <a:latin typeface="Calibri"/>
              </a:defRPr>
            </a:pPr>
            <a:r>
              <a:t>AA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182112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18096"/>
                </a:solidFill>
                <a:latin typeface="Calibri"/>
              </a:defRPr>
            </a:pPr>
            <a:r>
              <a:t>Rating Fitch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749039"/>
            <a:ext cx="2560320" cy="1188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3794759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6749"/>
                </a:solidFill>
                <a:latin typeface="Calibri"/>
              </a:defRPr>
            </a:pPr>
            <a:r>
              <a:t>1.7x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4553712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18096"/>
                </a:solidFill>
                <a:latin typeface="Calibri"/>
              </a:defRPr>
            </a:pPr>
            <a:r>
              <a:t>DL/EBITDA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1005840"/>
            <a:ext cx="2560320" cy="1188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105156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F1F3D"/>
                </a:solidFill>
                <a:latin typeface="Calibri"/>
              </a:defRPr>
            </a:pPr>
            <a:r>
              <a:t>26.0%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1810512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18096"/>
                </a:solidFill>
                <a:latin typeface="Calibri"/>
              </a:defRPr>
            </a:pPr>
            <a:r>
              <a:t>Margem EBITDA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2377440"/>
            <a:ext cx="2560320" cy="1188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242316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6749"/>
                </a:solidFill>
                <a:latin typeface="Calibri"/>
              </a:defRPr>
            </a:pPr>
            <a:r>
              <a:t>4.7x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3182112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18096"/>
                </a:solidFill>
                <a:latin typeface="Calibri"/>
              </a:defRPr>
            </a:pPr>
            <a:r>
              <a:t>Coverage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3749039"/>
            <a:ext cx="2560320" cy="1188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3794759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F1F3D"/>
                </a:solidFill>
                <a:latin typeface="Calibri"/>
              </a:defRPr>
            </a:pPr>
            <a:r>
              <a:t>2.5x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4553712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18096"/>
                </a:solidFill>
                <a:latin typeface="Calibri"/>
              </a:defRPr>
            </a:pPr>
            <a:r>
              <a:t>Cobertura Garantias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 |  AgroVale Participacoes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F3D"/>
                </a:solidFill>
                <a:latin typeface="Georgia"/>
              </a:defRPr>
            </a:pPr>
            <a:r>
              <a:t>Plataforma integrada de 320 mil hectares com logística própria e vendas antecipadas de 65% da safra posicionam a AgroVale como um dos créditos mais robustos do agronegócio brasileiro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04672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 b="1">
                <a:solidFill>
                  <a:srgbClr val="0F1F3D"/>
                </a:solidFill>
                <a:latin typeface="Calibri"/>
              </a:defRPr>
            </a:pPr>
            <a:r>
              <a:t>Visao Geral</a:t>
            </a:r>
          </a:p>
          <a:p>
            <a:pPr>
              <a:spcBef>
                <a:spcPts val="5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A AgroVale Participações S.A. é uma das maiores produtoras integradas de grãos e fibras do Brasil, com operações concentradas no MATOPIBA e no Mato Grosso, totalizando aproximadamente 320 mil hectares de área cultivada própria e arrendada. A companhia possui plataforma logística própria com armazéns com capacidade de 1,2 milhão de toneladas e contratos de longo prazo com tradings internacionais, garantindo previsibilidade de receita e hedges cambiais estruturais. Com histórico de crescimento consistente e gestão profissionalizada desde 2015, a AgroVale se posiciona como plataforma de consolidação no agronegócio brasileiro, combinando escala operacional, eficiência de custos e acesso privilegiado a mercados exportadores.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Fundacao: 2008 | Sede: Cuiabá-MT | 4800 colaboradores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</a:p>
          <a:p>
            <a:pPr>
              <a:spcBef>
                <a:spcPts val="1600"/>
              </a:spcBef>
              <a:defRPr sz="1600" b="1">
                <a:solidFill>
                  <a:srgbClr val="0F1F3D"/>
                </a:solidFill>
                <a:latin typeface="Calibri"/>
              </a:defRPr>
            </a:pPr>
            <a:r>
              <a:t>Diferenciais Competitivos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Escala e diversificação geográfica com 320 mil hectares em MT, BA, PI e MA, reduzindo risco climático concentrado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Plataforma logística integrada — armazéns próprios, frotas e contratos de escoamento reduzem o custo logístico em ~R$ 28/t vs. média do setor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Contratos de comercialização antecipada cobrindo 65% da safra 2025/26 com tradings AAA, gerando visibilidade de receita e proteção cambial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</a:p>
          <a:p>
            <a:pPr>
              <a:spcBef>
                <a:spcPts val="1600"/>
              </a:spcBef>
              <a:defRPr sz="1600" b="1">
                <a:solidFill>
                  <a:srgbClr val="0F1F3D"/>
                </a:solidFill>
                <a:latin typeface="Calibri"/>
              </a:defRPr>
            </a:pPr>
            <a:r>
              <a:t>Governanca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A AgroVale possui Conselho de Administração com 7 membros, sendo 4 independentes, incluindo presidente independente. A companhia adota práticas do Novo Mercado B3, com auditoria externa pela KPMG, Comitê de Auditoria e Riscos ativo desde 2018, política de divulgação trimestral de resultados e relatório ESG anual alinhado ao GRI. O controle é exercido pelo Grupo Vale Verde (60%) e pelo fundo de PE Patria Investimentos (40%), com acordo de acionistas que assegura decisões estratégicas consensuais e proteção a minoritários.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005840"/>
            <a:ext cx="2560320" cy="1188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05156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F1F3D"/>
                </a:solidFill>
                <a:latin typeface="Calibri"/>
              </a:defRPr>
            </a:pPr>
            <a:r>
              <a:t>R$ 4,250M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810512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18096"/>
                </a:solidFill>
                <a:latin typeface="Calibri"/>
              </a:defRPr>
            </a:pPr>
            <a:r>
              <a:t>Receita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377440"/>
            <a:ext cx="2560320" cy="1188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42316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F1F3D"/>
                </a:solidFill>
                <a:latin typeface="Calibri"/>
              </a:defRPr>
            </a:pPr>
            <a:r>
              <a:t>4,800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182112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18096"/>
                </a:solidFill>
                <a:latin typeface="Calibri"/>
              </a:defRPr>
            </a:pPr>
            <a:r>
              <a:t>Colaboradores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749039"/>
            <a:ext cx="2560320" cy="1188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794759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6749"/>
                </a:solidFill>
                <a:latin typeface="Calibri"/>
              </a:defRPr>
            </a:pPr>
            <a:r>
              <a:t>1,105M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553712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18096"/>
                </a:solidFill>
                <a:latin typeface="Calibri"/>
              </a:defRPr>
            </a:pPr>
            <a:r>
              <a:t>EBITDA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 |  AgroVale Participacoes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F3D"/>
                </a:solidFill>
                <a:latin typeface="Georgia"/>
              </a:defRPr>
            </a:pPr>
            <a:r>
              <a:t>Brasil consolida liderança global em soja e algodão com demanda asiática crescente, câmbio estruturalmente favorável e expansão do MATOPIBA — macro setorial suporta geração de caixa da AgroVale pelo horizonte das debentures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04672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 b="1">
                <a:solidFill>
                  <a:srgbClr val="0F1F3D"/>
                </a:solidFill>
                <a:latin typeface="Calibri"/>
              </a:defRPr>
            </a:pPr>
            <a:r>
              <a:t>Mercado Enderecavel: R$ 980Bi (CAGR 8,2% a.a. (2022–2027E))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Brasil é o maior exportador mundial de soja (54% do mercado global) e algodão (3º maior exportador), e 2º maior em milho, com projeção de receita agrícola de US$ 166 bi em 2025 (MAPA)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</a:p>
          <a:p>
            <a:pPr>
              <a:spcBef>
                <a:spcPts val="1600"/>
              </a:spcBef>
              <a:defRPr sz="1600" b="1">
                <a:solidFill>
                  <a:srgbClr val="0F1F3D"/>
                </a:solidFill>
                <a:latin typeface="Calibri"/>
              </a:defRPr>
            </a:pPr>
            <a:r>
              <a:t>Drivers de Crescimento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Expansão da demanda asiática por proteína animal impulsiona importações de soja e milho — China importou 108 mi t de soja em 2024, crescimento de 12% a/a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MATOPIBA adiciona ~2 mi ha/ano ao cultivo nacional, com produtividade 15% acima da média histórica graças à adoção de tecnologia de precisão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Desvalorização estrutural do BRL frente ao USD amplia competitividade exportadora e margem em reais das produtoras integradas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Agenda ESG global aumenta exigência de rastreabilidade e certificação, favorecendo grandes produtores com compliance socioambiental consolidado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</a:p>
          <a:p>
            <a:pPr>
              <a:spcBef>
                <a:spcPts val="1600"/>
              </a:spcBef>
              <a:defRPr sz="1600" b="1">
                <a:solidFill>
                  <a:srgbClr val="0F1F3D"/>
                </a:solidFill>
                <a:latin typeface="Calibri"/>
              </a:defRPr>
            </a:pPr>
            <a:r>
              <a:t>Ventos Favoraveis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Plano Safra 2024/25 com R$ 400 bi em crédito rural subsidiado e SELIC em trajetória de queda reduzem custo de carregamento de estoque e investimento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Nova legislação de biodefensivos e inoculantes biológicos (Lei 14.785/2024) reduz custo de insumos em até 18% para produtores certificados, ampliando margens</a:t>
            </a:r>
          </a:p>
          <a:p>
            <a:pPr>
              <a:spcBef>
                <a:spcPts val="400"/>
              </a:spcBef>
              <a:defRPr sz="900" i="1">
                <a:solidFill>
                  <a:srgbClr val="718096"/>
                </a:solidFill>
                <a:latin typeface="Calibri"/>
              </a:defRPr>
            </a:pPr>
            <a:r>
              <a:t>[Fonte: MAPA, CONAB, USDA WASDE (Mar/2025), ABIOVE, Fitch Ratings Agribusiness Outlook 2025, CNA, B3 Agro]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005840"/>
            <a:ext cx="2560320" cy="1188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05156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F1F3D"/>
                </a:solidFill>
                <a:latin typeface="Calibri"/>
              </a:defRPr>
            </a:pPr>
            <a:r>
              <a:t>R$ 980Bi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810512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18096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377440"/>
            <a:ext cx="2560320" cy="1188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42316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6749"/>
                </a:solidFill>
                <a:latin typeface="Calibri"/>
              </a:defRPr>
            </a:pPr>
            <a:r>
              <a:t>CAGR 8,2% a.a. (2022–2027E)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182112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18096"/>
                </a:solidFill>
                <a:latin typeface="Calibri"/>
              </a:defRPr>
            </a:pPr>
            <a:r>
              <a:t>CAGR Mercado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 |  AgroVale Participacoes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F3D"/>
                </a:solidFill>
                <a:latin typeface="Georgia"/>
              </a:defRPr>
            </a:pPr>
            <a:r>
              <a:t>Receita crescendo a CAGR de 18,6% entre 2021–2025E com margens EBITDA estáveis em ~26% e alavancagem controlada em 1,7x DL/EBITDA demonstram resiliência e capacidade inequívoca de serviço da dívida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04672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40080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0" y="10058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 b="1">
                <a:solidFill>
                  <a:srgbClr val="0F1F3D"/>
                </a:solidFill>
                <a:latin typeface="Calibri"/>
              </a:defRPr>
            </a:pPr>
            <a:r>
              <a:t>Destaques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Receita CAGR: 18.6%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EBITDA CAGR: 19.7%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Margem EBITDA: 26.0%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FCF: R$ 320M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</a:p>
          <a:p>
            <a:pPr>
              <a:spcBef>
                <a:spcPts val="400"/>
              </a:spcBef>
              <a:defRPr sz="900" i="1">
                <a:solidFill>
                  <a:srgbClr val="718096"/>
                </a:solidFill>
                <a:latin typeface="Calibri"/>
              </a:defRPr>
            </a:pPr>
            <a:r>
              <a:t>[DFs IFRS auditadas]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4114800"/>
            <a:ext cx="2560320" cy="1188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416052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6749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4919472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18096"/>
                </a:solidFill>
                <a:latin typeface="Calibri"/>
              </a:defRPr>
            </a:pPr>
            <a:r>
              <a:t>CAGR EBITDA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 |  AgroVale Participacoes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F3D"/>
                </a:solidFill>
                <a:latin typeface="Georgia"/>
              </a:defRPr>
            </a:pPr>
            <a:r>
              <a:t>Margem EBITDA estavel demonstra consistencia operacional e disciplina de custos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04672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40080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0" y="10058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 b="1">
                <a:solidFill>
                  <a:srgbClr val="0F1F3D"/>
                </a:solidFill>
                <a:latin typeface="Calibri"/>
              </a:defRPr>
            </a:pPr>
            <a:r>
              <a:t>Evolucao de Margens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Margem EBITDA estavel em ~26%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Receita crescendo sem compressao de margem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Indicativo de poder de precificacao e escala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 |  AgroVale Participacoes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F3D"/>
                </a:solidFill>
                <a:latin typeface="Georgia"/>
              </a:defRPr>
            </a:pPr>
            <a:r>
              <a:t>Rating AA (Fitch), cobertura de juros de 4,7x e FCF positivo em todos os anos analisados conferem à AgroVale perfil de crédito investment grade premium, compatível com os melhores emissores do setor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04672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40080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0" y="10058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 b="1">
                <a:solidFill>
                  <a:srgbClr val="0F1F3D"/>
                </a:solidFill>
                <a:latin typeface="Calibri"/>
              </a:defRPr>
            </a:pPr>
            <a:r>
              <a:t>Metricas de Credito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DL/EBITDA: 1.7x (cov: 3.5x — folga 1.8x)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Coverage: 4.7x (cov: 2.5x)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DSCR: &gt;= 1.3x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</a:p>
          <a:p>
            <a:pPr>
              <a:spcBef>
                <a:spcPts val="1600"/>
              </a:spcBef>
              <a:defRPr sz="1600" b="1">
                <a:solidFill>
                  <a:srgbClr val="0F1F3D"/>
                </a:solidFill>
                <a:latin typeface="Calibri"/>
              </a:defRPr>
            </a:pPr>
            <a:r>
              <a:t>Stress Test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Bear (-15%): 2.0x — OK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Stressed (-30%): 2.4x — OK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Breach: Breach de DL/EBITDA ocorre apenas com queda de EBITDA superior a 51% sobre o nível projetado de 2025E (R$ 1.105 mi), equivalente a EBITDA abaixo de R$ 537 mi — cenário considerado remoto dado histórico e hedge de safra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4572000"/>
            <a:ext cx="2560320" cy="1188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461772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6749"/>
                </a:solidFill>
                <a:latin typeface="Calibri"/>
              </a:defRPr>
            </a:pPr>
            <a:r>
              <a:t>1.8x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5376672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18096"/>
                </a:solidFill>
                <a:latin typeface="Calibri"/>
              </a:defRPr>
            </a:pPr>
            <a:r>
              <a:t>Folga Covenant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 |  AgroVale Participacoes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F3D"/>
                </a:solidFill>
                <a:latin typeface="Georgia"/>
              </a:defRPr>
            </a:pPr>
            <a:r>
              <a:t>Geracao de caixa robusta — FCF crescente sustenta servico da divida com ampla margem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04672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40080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0" y="10058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 b="1">
                <a:solidFill>
                  <a:srgbClr val="0F1F3D"/>
                </a:solidFill>
                <a:latin typeface="Calibri"/>
              </a:defRPr>
            </a:pPr>
            <a:r>
              <a:t>Fluxo de Caixa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FCF 2025: R$ 320M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Capex: R$ 580M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FCF/Servico Divida: &gt;2x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</a:p>
          <a:p>
            <a:pPr>
              <a:spcBef>
                <a:spcPts val="1600"/>
              </a:spcBef>
              <a:defRPr sz="1600" b="1">
                <a:solidFill>
                  <a:srgbClr val="0F1F3D"/>
                </a:solidFill>
                <a:latin typeface="Calibri"/>
              </a:defRPr>
            </a:pPr>
            <a:r>
              <a:t>Disciplina de Capital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Capex focado em expansao produtiva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Dividendos condicionais a covenants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 |  AgroVale Participacoes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F3D"/>
                </a:solidFill>
                <a:latin typeface="Georgia"/>
              </a:defRPr>
            </a:pPr>
            <a:r>
              <a:t>Estrutura bifurcada CDI+ e IPCA+ com garantia real de 2,5x e uso de recursos focado em desalavancagem e expansão de ativos produtivos maximiza apelo a investidores com distintos mandatos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04672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05840"/>
          <a:ext cx="1124712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Caracteristica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1ª Série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2ª Série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R$ 300M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R$ 200M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Prazo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 anos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 anos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Remuneracao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 + 1,65%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 + 6,00%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Amortizacao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Bullet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Linear a partir do 5º ano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Garantia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Cessão fiduciária de recebíveis de contratos de comercialização de safra (CPR e NDF) + alienação fiduciária de imóveis rurais selecionados no MT e BA, com LTV máximo de 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Cessão fiduciária de recebíveis de contratos de comercialização de safra (CPR e NDF) + alienação fiduciária de imóveis rurais selecionados no MT e BA, com LTV máximo de 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 (Fitch)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 (Fitch)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Registro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RCVM 160 — Registro Automático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RCVM 160 — Registro Automático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686800" y="4572000"/>
            <a:ext cx="3017520" cy="1188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4617720"/>
            <a:ext cx="28346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6749"/>
                </a:solidFill>
                <a:latin typeface="Calibri"/>
              </a:defRPr>
            </a:pPr>
            <a:r>
              <a:t>2.5x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5376672"/>
            <a:ext cx="2834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18096"/>
                </a:solidFill>
                <a:latin typeface="Calibri"/>
              </a:defRPr>
            </a:pPr>
            <a:r>
              <a:t>Cobertura Garantias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 |  AgroVale Participacoes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F3D"/>
                </a:solidFill>
                <a:latin typeface="Georgia"/>
              </a:defRPr>
            </a:pPr>
            <a:r>
              <a:t>Covenants conservadores com headroom superior a 51% de queda de EBITDA para breach — proteção robusta ao investidor com covenant package alinhado às melhores práticas de mercado para emissores AA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04672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40080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0" y="10058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 b="1">
                <a:solidFill>
                  <a:srgbClr val="0F1F3D"/>
                </a:solidFill>
                <a:latin typeface="Calibri"/>
              </a:defRPr>
            </a:pPr>
            <a:r>
              <a:t>Cenarios de Stress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Base: 1.7x — OK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Bear (-15%): 2.0x — OK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Stressed (-30%): 2.4x — OK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  <a:latin typeface="Calibri"/>
              </a:defRPr>
            </a:pPr>
            <a:r>
              <a:t>• Breach threshold: Breach de DL/EBITDA ocorre apenas com queda de EBITDA superior a 51% sobre o nível projetado de 2025E (R$ 1.105 mi), equivalente a EBITDA abaixo de R$ 537 mi — cenário considerado remoto dado histórico e hedge de safra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 |  AgroVale Participacoes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F3D"/>
                </a:solidFill>
                <a:latin typeface="Georgia"/>
              </a:defRPr>
            </a:pPr>
            <a:r>
              <a:t>Spread de CDI+1,65% e IPCA+6,00% oferecem prêmio de 10–15 bps sobre comparáveis de rating equivalente, tornando a emissão atrativa mesmo em cenário de fechamento de mercado de crédito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04672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05840"/>
          <a:ext cx="1124712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Emissor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Prazo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Spread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SLC Agrícola S.A.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 (Fitch)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 anos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 + 1,55%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R$ 400 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Ago/2024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BrasilAgro S.A.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AA- (Fitch)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 anos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 + 1,85%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R$ 250 mi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Nov/2024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Boa Safra Sementes S.A.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A+ (S&amp;P)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 anos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 + 2,10%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R$ 150 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Mar/2024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Cosan S.A.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 (S&amp;P)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 anos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 + 5,85%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R$ 1.200 mi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Mai/2024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Rumo S.A.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 (Fitch)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 anos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 + 6,15%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R$ 800 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Out/2024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Terra Santa Agro S.A.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A+ (Fitch)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 anos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 + 1,95%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R$ 300 mi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Fev/2025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AgroVale Participacoes S.A. (proposta)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 (Fitch)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 anos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 + 1,65%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R$ 500M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Mar/26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 |  AgroVale Participacoes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F3D"/>
                </a:solidFill>
                <a:latin typeface="Georgia"/>
              </a:defRPr>
            </a:pPr>
            <a:r>
              <a:t>Demanda estimada de R$ 230–340 mi de gestoras Tier-1 com mandato ativo em crédito agro já sinalizada em roadshow preliminar, sugerindo book 1,4–1,7x coberto antes da abertura formal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04672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05840"/>
          <a:ext cx="1124712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Instituicao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Ticket Estimado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Itaú Asset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Gestora — Fundos de Crédito Privado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R$ 60–80 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Alto — mandato ativo em crédito AA agro, histórico de ancoragem em CRAs e debentures do setor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BTG Pactual Asset Management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Gestora — Fundos de Crédito e Multi-strategy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R$ 50–70 mi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Alto — banco coordenador com co-investimento próprio; forte track record em agro bonds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Kinea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Gestora — Fundos de Infraestrutura e Crédito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R$ 40–60 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Alto — mandato IPCA+ ativo, perfil alinhado à 2ª Série; já detém CRA da SLC Agrícola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XP Asset Management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Gestora — Fundos de Debêntures Incentivadas e Crédito HY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R$ 30–50 mi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Médio-Alto — interesse em ambas as séries; atua fortemente na distribuição para clientes private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Bradesco Asset Management (BRAM)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Gestora — Fundos de Crédito Corporativo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R$ 30–45 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Médio-Alto — mandatos de crédito IG com foco CDI+, alinhado à 1ª Série; base conservadora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Perfin Asset Management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Gestora — Fundo de Ações e Crédito Agro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R$ 20–35 mi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Médio — especialista setorial com tese construtiva em commodities; pode atuar nas duas séries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 |  AgroVale Participacoes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F3D"/>
                </a:solidFill>
                <a:latin typeface="Georgia"/>
              </a:defRPr>
            </a:pPr>
            <a:r>
              <a:t>Riscos climáticos e de preço mitigados por hedge estrutural, diversificação geográfica e seguro agrícola — perfil de risco residual compatível com rating AA e expectativa de manutenção do rating ao longo do prazo das debentures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04672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05840"/>
          <a:ext cx="11247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Risco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Probabilidade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Mitigante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Risco climático e de produção — La Niña e eventos extremos podem reduzir produtividade em 15–25% em safras localizadas no MATOPIBA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Média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Diversificação geográfica em 4 estados reduz correlação climática; seguro agrícola rural contratado sobre 80% da área plantada (PROAGRO Mais + seguro privado); vendas antecipadas de 65% da safra via CPR fixam receita independentemente do volume físico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Risco de preço de commodities — queda acentuada nos preços internacionais de soja e milho impacta diretamente a receita em USD convertida para BRL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Média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Política de hedge comercial com NDFs e opções cobrindo 50–70% da produção para os próximos 12 meses; estrutura de custos majoritariamente variável permite ajuste rápido de breakeven; diversificação entre 3 culturas com correlações distintas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Risco cambial — apreciação do BRL frente ao USD comprime margens em reais, dado que receitas são indexadas em dólar e parte dos custos (fertilizantes) também é em USD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Baixa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Médio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Hedge natural parcial via custos dolarizados de insumos (fertilizantes ~30% do CPV); política ativa de hedge cambial com contratos futuros na B3 e instrumentos OTC; cenário macroeconômico 2025 aponta BRL estruturalmente depreciado acima de R$ 5,50/USD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Risco regulatório e socioambiental — mudanças no Código Florestal, embargo de áreas por desmatamento ou restrições de mercados importadores (UE Deforestation Regulation) podem impactar acesso a mercados e licenciamentos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Baixa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Médio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100% das áreas possuem CAR registrado e validado; Relatório de Rastreabilidade de Soja (RTRS) emitido anualmente; certificação de não desmatamento auditada pela Bureau Veritas; monitoramento contínuo via satélite (Mapbiomas) e equipe jurídica especializada em compliance ambiental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