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01752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Georgia"/>
              </a:defRPr>
            </a:pPr>
            <a:r>
              <a:t>ENEVA S.A.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0D0E8"/>
                </a:solidFill>
                <a:latin typeface="Calibri"/>
              </a:defRPr>
            </a:pPr>
            <a:r>
              <a:t>Emissao de Debentures  |  1a e 2a Series  |  R$ 800.000.000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0AEC0"/>
                </a:solidFill>
                <a:latin typeface="Calibri"/>
              </a:defRPr>
            </a:pPr>
            <a:r>
              <a:t>Rating AA+ (Fitch)  |  Perspectiva Estavel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900">
                <a:solidFill>
                  <a:srgbClr val="718096"/>
                </a:solidFill>
                <a:latin typeface="Calibri"/>
              </a:defRPr>
            </a:pPr>
            <a:r>
              <a:t>Coordenador Lider: IB-Agents Intelligence Platform</a:t>
            </a:r>
          </a:p>
          <a:p>
            <a:pPr>
              <a:defRPr sz="900">
                <a:solidFill>
                  <a:srgbClr val="718096"/>
                </a:solidFill>
                <a:latin typeface="Calibri"/>
              </a:defRPr>
            </a:pPr>
            <a:r>
              <a:t>March 2026</a:t>
            </a:r>
          </a:p>
          <a:p>
            <a:pPr>
              <a:defRPr sz="900">
                <a:solidFill>
                  <a:srgbClr val="718096"/>
                </a:solidFill>
                <a:latin typeface="Calibri"/>
              </a:defRPr>
            </a:pPr>
            <a:r>
              <a:t>Strictly Private and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4552" cy="5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718096"/>
                </a:solidFill>
                <a:latin typeface="Calibri"/>
              </a:defRPr>
            </a:pPr>
            <a:r>
              <a:t>Confidencial  |  IB-Agents  |  Eneva S.A.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50">
                <a:solidFill>
                  <a:srgbClr val="718096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F3D"/>
                </a:solidFill>
                <a:latin typeface="Georgia"/>
              </a:defRPr>
            </a:pPr>
            <a:r>
              <a:t>Fluxo previsivel e alavancagem de 1,2x sustentam emissao de R$ 800M a spreads competitivos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94944"/>
            <a:ext cx="11274552" cy="4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100" b="1">
                <a:solidFill>
                  <a:srgbClr val="0F1F3D"/>
                </a:solidFill>
                <a:latin typeface="Calibri"/>
              </a:defRPr>
            </a:pPr>
            <a:r>
              <a:t>Situacao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Eneva: maior geradora termica a gas do Brasil (5,9 GW) — 92% receita contratada via PPAs de 15+ anos</a:t>
            </a:r>
          </a:p>
          <a:p>
            <a:pPr>
              <a:spcBef>
                <a:spcPts val="1200"/>
              </a:spcBef>
              <a:defRPr sz="1100" b="1">
                <a:solidFill>
                  <a:srgbClr val="0F1F3D"/>
                </a:solidFill>
                <a:latin typeface="Calibri"/>
              </a:defRPr>
            </a:pPr>
            <a:r>
              <a:t>Oportunidade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Mercado de debentures em alta (R$ 320Bi em 2024, +18%) — janela ideal para CDI+1,85% (5y) e IPCA+6,20% (7y)</a:t>
            </a:r>
          </a:p>
          <a:p>
            <a:pPr>
              <a:spcBef>
                <a:spcPts val="1200"/>
              </a:spcBef>
              <a:defRPr sz="1100" b="1">
                <a:solidFill>
                  <a:srgbClr val="0F1F3D"/>
                </a:solidFill>
                <a:latin typeface="Calibri"/>
              </a:defRPr>
            </a:pPr>
            <a:r>
              <a:t>Recomendacao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R$ 800M em 2 series: 1a (refi CDI+, bullet) + 2a (capex IPCA+, linear) — cessao fiduciaria 2,7x cobertura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Demanda estimada R$ 1,4Bi (1,75x) por 42 instituicoes — oversubscription praticamente garantida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029200"/>
            <a:ext cx="2057400" cy="8229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07492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F3D"/>
                </a:solidFill>
                <a:latin typeface="Calibri"/>
              </a:defRPr>
            </a:pPr>
            <a:r>
              <a:t>R$ 800M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53212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18096"/>
                </a:solidFill>
                <a:latin typeface="Calibri"/>
              </a:defRPr>
            </a:pPr>
            <a:r>
              <a:t>Volume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88920" y="5029200"/>
            <a:ext cx="2057400" cy="8229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79" y="507492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76749"/>
                </a:solidFill>
                <a:latin typeface="Calibri"/>
              </a:defRPr>
            </a:pPr>
            <a:r>
              <a:t>AA+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79" y="553212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18096"/>
                </a:solidFill>
                <a:latin typeface="Calibri"/>
              </a:defRPr>
            </a:pPr>
            <a:r>
              <a:t>Rating Fitch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0" y="5029200"/>
            <a:ext cx="2057400" cy="8229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57800" y="507492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76749"/>
                </a:solidFill>
                <a:latin typeface="Calibri"/>
              </a:defRPr>
            </a:pPr>
            <a:r>
              <a:t>1,2x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553212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18096"/>
                </a:solidFill>
                <a:latin typeface="Calibri"/>
              </a:defRPr>
            </a:pPr>
            <a:r>
              <a:t>DL/EBITDA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59" y="5029200"/>
            <a:ext cx="2057400" cy="8229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19" y="507492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F3D"/>
                </a:solidFill>
                <a:latin typeface="Calibri"/>
              </a:defRPr>
            </a:pPr>
            <a:r>
              <a:t>92%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19" y="553212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18096"/>
                </a:solidFill>
                <a:latin typeface="Calibri"/>
              </a:defRPr>
            </a:pPr>
            <a:r>
              <a:t>Receita PPA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5440" y="5029200"/>
            <a:ext cx="2057400" cy="8229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600" y="507492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F3D"/>
                </a:solidFill>
                <a:latin typeface="Calibri"/>
              </a:defRPr>
            </a:pPr>
            <a:r>
              <a:t>1,75x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553212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18096"/>
                </a:solidFill>
                <a:latin typeface="Calibri"/>
              </a:defRPr>
            </a:pPr>
            <a:r>
              <a:t>Oversub. Est.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4552" cy="5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718096"/>
                </a:solidFill>
                <a:latin typeface="Calibri"/>
              </a:defRPr>
            </a:pPr>
            <a:r>
              <a:t>Confidencial  |  IB-Agents  |  Eneva S.A.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50">
                <a:solidFill>
                  <a:srgbClr val="718096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F3D"/>
                </a:solidFill>
                <a:latin typeface="Georgia"/>
              </a:defRPr>
            </a:pPr>
            <a:r>
              <a:t>EBITDA cresceu 20% a.a. nos ultimos 3 anos com margem expandindo de 44,9% para 46,3%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94944"/>
            <a:ext cx="11274552" cy="4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5486400" cy="3200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0" y="9144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100" b="1">
                <a:solidFill>
                  <a:srgbClr val="0F1F3D"/>
                </a:solidFill>
                <a:latin typeface="Calibri"/>
              </a:defRPr>
            </a:pPr>
            <a:r>
              <a:t>Destaques (R$ M)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Receita 2024: R$ 8.200 (+14% YoY)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EBITDA 2024: R$ 3.800 (margem 46,3%)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Lucro Liq.: R$ 1.518 (+22% YoY)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CAGR EBITDA 3a: 20,3%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FCF Operac.: R$ 1.700</a:t>
            </a:r>
          </a:p>
          <a:p>
            <a:pPr>
              <a:spcBef>
                <a:spcPts val="300"/>
              </a:spcBef>
              <a:defRPr>
                <a:latin typeface="Calibri"/>
              </a:defRPr>
            </a:pPr>
          </a:p>
          <a:p>
            <a:pPr>
              <a:spcBef>
                <a:spcPts val="200"/>
              </a:spcBef>
              <a:defRPr sz="750" i="1">
                <a:solidFill>
                  <a:srgbClr val="718096"/>
                </a:solidFill>
                <a:latin typeface="Calibri"/>
              </a:defRPr>
            </a:pPr>
            <a:r>
              <a:t>[Fonte: Eneva — DFs IFRS auditadas PwC]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4552" cy="5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718096"/>
                </a:solidFill>
                <a:latin typeface="Calibri"/>
              </a:defRPr>
            </a:pPr>
            <a:r>
              <a:t>Confidencial  |  IB-Agents  |  Eneva S.A.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50">
                <a:solidFill>
                  <a:srgbClr val="718096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F3D"/>
                </a:solidFill>
                <a:latin typeface="Georgia"/>
              </a:defRPr>
            </a:pPr>
            <a:r>
              <a:t>Expansao consistente de margens reflete ganhos de escala e integracao vertical gas+energia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94944"/>
            <a:ext cx="11274552" cy="4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5486400" cy="3200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0" y="9144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100" b="1">
                <a:solidFill>
                  <a:srgbClr val="0F1F3D"/>
                </a:solidFill>
                <a:latin typeface="Calibri"/>
              </a:defRPr>
            </a:pPr>
            <a:r>
              <a:t>Drivers de Margem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Integracao vertical: custo de gas 25% abaixo de competidores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Escala operacional: 5,9 GW com custos fixos diluidos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PPAs com reajuste IPCA: protecao contra inflacao de custos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Eficiencia: investimento em manutencao preditiva (-12% paradas)</a:t>
            </a:r>
          </a:p>
          <a:p>
            <a:pPr>
              <a:spcBef>
                <a:spcPts val="300"/>
              </a:spcBef>
              <a:defRPr>
                <a:latin typeface="Calibri"/>
              </a:defRPr>
            </a:pPr>
          </a:p>
          <a:p>
            <a:pPr>
              <a:spcBef>
                <a:spcPts val="1200"/>
              </a:spcBef>
              <a:defRPr sz="1100" b="1">
                <a:solidFill>
                  <a:srgbClr val="0F1F3D"/>
                </a:solidFill>
                <a:latin typeface="Calibri"/>
              </a:defRPr>
            </a:pPr>
            <a:r>
              <a:t>Projecao 2025E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Receita: R$ 9.200M (+12%)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EBITDA: R$ 4.300M (margem 47%)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4552" cy="5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718096"/>
                </a:solidFill>
                <a:latin typeface="Calibri"/>
              </a:defRPr>
            </a:pPr>
            <a:r>
              <a:t>Confidencial  |  IB-Agents  |  Eneva S.A.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50">
                <a:solidFill>
                  <a:srgbClr val="718096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F3D"/>
                </a:solidFill>
                <a:latin typeface="Georgia"/>
              </a:defRPr>
            </a:pPr>
            <a:r>
              <a:t>Desalavancagem de 2,8x para 1,2x em 4 anos — folga de 2,3x no covenant principal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94944"/>
            <a:ext cx="11274552" cy="4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5486400" cy="3200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0" y="9144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100" b="1">
                <a:solidFill>
                  <a:srgbClr val="0F1F3D"/>
                </a:solidFill>
                <a:latin typeface="Calibri"/>
              </a:defRPr>
            </a:pPr>
            <a:r>
              <a:t>Metricas de Credito (dez/24)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DL/EBITDA: 1,18x (cov: &lt;=3,5x)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EBITDA/Desp.Fin: 4,8x (cov: &gt;=2,5x)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DSCR: 2,45x (cov: &gt;=1,3x)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Capacidade adic.: R$ 8,8Bi</a:t>
            </a:r>
          </a:p>
          <a:p>
            <a:pPr>
              <a:spcBef>
                <a:spcPts val="300"/>
              </a:spcBef>
              <a:defRPr>
                <a:latin typeface="Calibri"/>
              </a:defRPr>
            </a:pPr>
          </a:p>
          <a:p>
            <a:pPr>
              <a:spcBef>
                <a:spcPts val="1200"/>
              </a:spcBef>
              <a:defRPr sz="1100" b="1">
                <a:solidFill>
                  <a:srgbClr val="0F1F3D"/>
                </a:solidFill>
                <a:latin typeface="Calibri"/>
              </a:defRPr>
            </a:pPr>
            <a:r>
              <a:t>Stress Test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Bear (-15%): DL/EBITDA 1,39x — OK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Stressed (-30%): 1,69x — OK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Breach: queda de -66% no EBITDA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4552" cy="5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718096"/>
                </a:solidFill>
                <a:latin typeface="Calibri"/>
              </a:defRPr>
            </a:pPr>
            <a:r>
              <a:t>Confidencial  |  IB-Agents  |  Eneva S.A.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50">
                <a:solidFill>
                  <a:srgbClr val="718096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F3D"/>
                </a:solidFill>
                <a:latin typeface="Georgia"/>
              </a:defRPr>
            </a:pPr>
            <a:r>
              <a:t>Duas series complementares otimizam custo e perfil de amortizacao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94944"/>
            <a:ext cx="11274552" cy="4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91440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2743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Caracteristica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1a Serie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2a Serie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Volume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R$ 480.000.000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R$ 320.000.000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Prazo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5 anos (Abr/2030)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7 anos (Abr/2032)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Remuneracao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CDI + 1,85% a.a.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IPCA + 6,20% a.a.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Pagamento Juros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Semestral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Semestral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Amortizacao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Bullet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Linear (a partir 5o ano)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Garantia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Cessao fid. recebiveis PPA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Cessao fid. recebiveis PPA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Rating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AA+ (Fitch)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AA+ (Fitch)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Registro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RCVM 160 — automatico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RCVM 160 — automatico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Custodia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B3 (CETIP21)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B3 (CETIP21)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4552" cy="5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718096"/>
                </a:solidFill>
                <a:latin typeface="Calibri"/>
              </a:defRPr>
            </a:pPr>
            <a:r>
              <a:t>Confidencial  |  IB-Agents  |  Eneva S.A.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50">
                <a:solidFill>
                  <a:srgbClr val="718096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F3D"/>
                </a:solidFill>
                <a:latin typeface="Georgia"/>
              </a:defRPr>
            </a:pPr>
            <a:r>
              <a:t>Spread de CDI+1,85% posiciona Eneva na mediana do setor eletrico AA+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94944"/>
            <a:ext cx="11274552" cy="4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91440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2743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Emissor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Rating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Prazo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Spread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Volume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CPFL Energia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AA+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5y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CDI+1,78%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R$ 1,2Bi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Jan/25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Sabesp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AA+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5y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CDI+1,70%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R$ 1,5Bi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Mar/25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Neoenergia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5y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CDI+1,92%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R$ 1,5Bi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Jan/25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Equatorial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AA+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7y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IPCA+6,35%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R$ 2,0Bi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Mar/25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Taesa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AAA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7y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CDI+1,45%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R$ 800M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Fev/25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Engie Brasil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AAA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10y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IPCA+5,80%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R$ 1,0Bi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Fev/25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ENEVA (proposta)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AA+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5+7y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1,85%/6,20%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R$ 800M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Abr/25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7548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i="1">
                <a:solidFill>
                  <a:srgbClr val="718096"/>
                </a:solidFill>
                <a:latin typeface="Calibri"/>
              </a:defRPr>
            </a:pPr>
            <a:r>
              <a:t>[Fonte: ANBIMA — Boletim de Mercado Secundario de Debentures, marco/2025]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4552" cy="5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718096"/>
                </a:solidFill>
                <a:latin typeface="Calibri"/>
              </a:defRPr>
            </a:pPr>
            <a:r>
              <a:t>Confidencial  |  IB-Agents  |  Eneva S.A.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50">
                <a:solidFill>
                  <a:srgbClr val="718096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F3D"/>
                </a:solidFill>
                <a:latin typeface="Georgia"/>
              </a:defRPr>
            </a:pPr>
            <a:r>
              <a:t>Valuation por multiplas metodologias confirma range de R$ 17,50-21,30 por acao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94944"/>
            <a:ext cx="11274552" cy="4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6400800" cy="3200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0" y="91440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100" b="1">
                <a:solidFill>
                  <a:srgbClr val="0F1F3D"/>
                </a:solidFill>
                <a:latin typeface="Calibri"/>
              </a:defRPr>
            </a:pPr>
            <a:r>
              <a:t>Metodologias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52-Week Range: R$ 15,20-19,50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EV/EBITDA Comps (7,2x): R$ 16,50-22,00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P/E Comps (13,5x): R$ 15,80-21,20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DCF (WACC 12,8%): R$ 18,50-24,10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Precedent Transactions: R$ 17,00-23,00</a:t>
            </a:r>
          </a:p>
          <a:p>
            <a:pPr>
              <a:spcBef>
                <a:spcPts val="300"/>
              </a:spcBef>
              <a:defRPr>
                <a:latin typeface="Calibri"/>
              </a:defRPr>
            </a:pP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Media ponderada: R$ 19,50/acao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Cotacao ENEV3: R$ 18,20 (+7%)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4552" cy="5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718096"/>
                </a:solidFill>
                <a:latin typeface="Calibri"/>
              </a:defRPr>
            </a:pPr>
            <a:r>
              <a:t>Confidencial  |  IB-Agents  |  Eneva S.A.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50">
                <a:solidFill>
                  <a:srgbClr val="718096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F3D"/>
                </a:solidFill>
                <a:latin typeface="Georgia"/>
              </a:defRPr>
            </a:pPr>
            <a:r>
              <a:t>Preco de R$ 19-21 e robusto mesmo em cenarios conservadores de WACC e crescimento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94944"/>
            <a:ext cx="11274552" cy="4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5943600" cy="3200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75120" y="9144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100" b="1">
                <a:solidFill>
                  <a:srgbClr val="0F1F3D"/>
                </a:solidFill>
                <a:latin typeface="Calibri"/>
              </a:defRPr>
            </a:pPr>
            <a:r>
              <a:t>Leitura do Heatmap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Centro (12,8% / 4,0%): R$ 21,60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Cenario conservador (14% / 3%): R$ 15,60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Cenario otimista (11% / 5%): R$ 39,20</a:t>
            </a:r>
          </a:p>
          <a:p>
            <a:pPr>
              <a:spcBef>
                <a:spcPts val="300"/>
              </a:spcBef>
              <a:defRPr>
                <a:latin typeface="Calibri"/>
              </a:defRPr>
            </a:pPr>
          </a:p>
          <a:p>
            <a:pPr>
              <a:spcBef>
                <a:spcPts val="1200"/>
              </a:spcBef>
              <a:defRPr sz="1100" b="1">
                <a:solidFill>
                  <a:srgbClr val="0F1F3D"/>
                </a:solidFill>
                <a:latin typeface="Calibri"/>
              </a:defRPr>
            </a:pPr>
            <a:r>
              <a:t>Premissas do DCF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WACC: 12,8% (CAPM Brasil)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g perpetuidade: 4,0% (PIB nominal LP)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Projecao: 5 anos + terminal value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Capex/Receita: 25% (guidance)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4552" cy="5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718096"/>
                </a:solidFill>
                <a:latin typeface="Calibri"/>
              </a:defRPr>
            </a:pPr>
            <a:r>
              <a:t>Confidencial  |  IB-Agents  |  Eneva S.A.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50">
                <a:solidFill>
                  <a:srgbClr val="718096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F3D"/>
                </a:solidFill>
                <a:latin typeface="Georgia"/>
              </a:defRPr>
            </a:pPr>
            <a:r>
              <a:t>Pacote de covenants com folga de 2,3x — robusto em cenario de stress -30% EBITDA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94944"/>
            <a:ext cx="11274552" cy="4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100" b="1">
                <a:solidFill>
                  <a:srgbClr val="0F1F3D"/>
                </a:solidFill>
                <a:latin typeface="Calibri"/>
              </a:defRPr>
            </a:pPr>
            <a:r>
              <a:t>Covenants Financeiros (semestral)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DL/EBITDA &lt;= 3,5x (atual: 1,2x — folga 2,3x — breach em queda -66%)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EBITDA/Desp.Fin &gt;= 2,5x (atual: 4,8x)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DSCR &gt;= 1,3x (atual: 2,45x)</a:t>
            </a:r>
          </a:p>
          <a:p>
            <a:pPr>
              <a:spcBef>
                <a:spcPts val="300"/>
              </a:spcBef>
              <a:defRPr>
                <a:latin typeface="Calibri"/>
              </a:defRPr>
            </a:pPr>
          </a:p>
          <a:p>
            <a:pPr>
              <a:spcBef>
                <a:spcPts val="1200"/>
              </a:spcBef>
              <a:defRPr sz="1100" b="1">
                <a:solidFill>
                  <a:srgbClr val="0F1F3D"/>
                </a:solidFill>
                <a:latin typeface="Calibri"/>
              </a:defRPr>
            </a:pPr>
            <a:r>
              <a:t>Nao-Financeiros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Cross-default (&gt;R$150M) | Change of control | Restricted Payments (DL/EBITDA&gt;3,0x)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Alienacao ativos essenciais (&gt;10% AT) vedada sem anuencia | Manutencao seguros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4114800"/>
          <a:ext cx="112471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2743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Cenario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EBITDA (R$M)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DL/EBITDA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EBITDA/Fin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3.800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1,18x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OK (folga 2,3x)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4,8x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Bear (-15%)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3.230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1,39x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OK (folga 2,1x)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4,1x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Stressed (-30%)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2.660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1,69x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OK (folga 1,8x)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3,4x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Breach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1.286 (-66%)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3,50x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BREACH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2,5x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BREACH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4552" cy="5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718096"/>
                </a:solidFill>
                <a:latin typeface="Calibri"/>
              </a:defRPr>
            </a:pPr>
            <a:r>
              <a:t>Confidencial  |  IB-Agents  |  Eneva S.A.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50">
                <a:solidFill>
                  <a:srgbClr val="718096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F3D"/>
                </a:solidFill>
                <a:latin typeface="Georgia"/>
              </a:defRPr>
            </a:pPr>
            <a:r>
              <a:t>Demanda de R$ 1,4Bi por 42 instituicoes — oversubscription de 1,75x garante pricing otimo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94944"/>
            <a:ext cx="11274552" cy="4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914400"/>
          <a:ext cx="112471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2743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Instituicao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Tipo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AUM (R$Bi)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Ticket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Itau Asset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Asset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780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R$ 80M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BTG Pactual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Asset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320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R$ 60M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92%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Previ (BB)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F. Pensao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R$ 100M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XP Investimentos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Banco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R$ 40M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88%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Kinea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Asset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R$ 30M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Funcef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F. Pensao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110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R$ 50M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82%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Verde Asset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Asset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R$ 25M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SPX Capital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Asset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55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R$ 20M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78%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Outros (34)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Diversos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R$ 495M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60-75%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R$ 1.400M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1,75x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4552" cy="5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718096"/>
                </a:solidFill>
                <a:latin typeface="Calibri"/>
              </a:defRPr>
            </a:pPr>
            <a:r>
              <a:t>Confidencial  |  IB-Agents  |  Eneva S.A.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50">
                <a:solidFill>
                  <a:srgbClr val="718096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F3D"/>
                </a:solidFill>
                <a:latin typeface="Georgia"/>
              </a:defRPr>
            </a:pPr>
            <a:r>
              <a:t>Bookbuilding em abril abre janela antes do ciclo de corte de SELIC no 2S25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94944"/>
            <a:ext cx="11274552" cy="4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914400"/>
          <a:ext cx="112471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2743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Etapa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Periodo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Mandato e kick-off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15/Fev/2025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Concluido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Due diligence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18/Fev — 10/Mar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Concluido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Rating Fitch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20/Fev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Concluido — AA+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Escritura de emissao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01-15/Mar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Em andamento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Aprovacao 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18/Mar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Pendente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Registro CVM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20/Mar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Pendente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Bookbuilding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25/Mar — 02/Abr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Pricing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02/Abr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Liquidacao (D+2)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04/Abr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Inicio negociacao B3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07/Abr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4552" cy="5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718096"/>
                </a:solidFill>
                <a:latin typeface="Calibri"/>
              </a:defRPr>
            </a:pPr>
            <a:r>
              <a:t>Confidencial  |  IB-Agents  |  Eneva S.A.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50">
                <a:solidFill>
                  <a:srgbClr val="718096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F3D"/>
                </a:solidFill>
                <a:latin typeface="Georgia"/>
              </a:defRPr>
            </a:pPr>
            <a:r>
              <a:t>Tres riscos principais mitigados por protecoes estruturais — rating AA+ estavel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94944"/>
            <a:ext cx="11274552" cy="4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914400"/>
          <a:ext cx="112471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2743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Risco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Prob.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Impacto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Mitigante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Concentracao MA (70%)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Media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Alto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Diversificacao RR/CE + seguros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Reservas de gas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Baixa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Alto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Certificacao DeGolyer 15+ anos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Regulatorio ANEEL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Media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Medio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PPAs nao retroativos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Liquidez secundaria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Media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Baixo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Base diversificada 42 invest.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Variacao CDI/IPCA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Alta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Medio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1a serie hedge natural CDI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Refinanciamento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Baixa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Alto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Perfil escalonado + FCF R$1,7Bi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3891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>
                <a:latin typeface="Calibri"/>
              </a:defRPr>
            </a:pPr>
          </a:p>
          <a:p>
            <a:pPr>
              <a:spcBef>
                <a:spcPts val="1200"/>
              </a:spcBef>
              <a:defRPr sz="1100" b="1">
                <a:solidFill>
                  <a:srgbClr val="0F1F3D"/>
                </a:solidFill>
                <a:latin typeface="Calibri"/>
              </a:defRPr>
            </a:pPr>
            <a:r>
              <a:t>Parecer Global: RISCO BAIXO</a:t>
            </a:r>
          </a:p>
          <a:p>
            <a:pPr>
              <a:spcBef>
                <a:spcPts val="3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FCF previsivel (92% PPA) + alavancagem confortavel (1,2x) + garantia real (2,7x) + rating AA+ + track record 5 emissoes.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4552" cy="5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718096"/>
                </a:solidFill>
                <a:latin typeface="Calibri"/>
              </a:defRPr>
            </a:pPr>
            <a:r>
              <a:t>Confidencial  |  IB-Agents  |  Eneva S.A.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50">
                <a:solidFill>
                  <a:srgbClr val="718096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F3D"/>
                </a:solidFill>
                <a:latin typeface="Georgia"/>
              </a:defRPr>
            </a:pPr>
            <a:r>
              <a:t>Prestadores de Servico e Base Legal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94944"/>
            <a:ext cx="11274552" cy="4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914400"/>
          <a:ext cx="11247120" cy="24688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274319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Funcao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Instituicao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Coordenador Lider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IB-Agents Intelligence Platform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Emissora — RI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Eneva S.A. (ri@eneva.com.br)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Agente Fiduciario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Pentagonal S.A. DTVM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Escriturador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Banco Bradesco S.A.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Assessor Juridico (Emissor)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Machado Meyer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Assessor Juridico (Coord.)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Pinheiro Neto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Rating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Fitch Ratings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7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Auditores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PwC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1148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100" b="1">
                <a:solidFill>
                  <a:srgbClr val="0F1F3D"/>
                </a:solidFill>
                <a:latin typeface="Calibri"/>
              </a:defRPr>
            </a:pPr>
            <a:r>
              <a:t>Base Legal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RCVM 160/2022 | RCVM 30/2021 | Codigo ANBIMA | Lei 6.404/1976 (arts. 52-74) | Lei 6.385/1976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