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84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Calibri"/>
              </a:defRPr>
            </a:pPr>
            <a:r>
              <a:t>Confidencial  |  IB-Agents  |  BRZ Incorporadora S.A.  |  CRI R$ 250M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3657600" cy="24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Georgia"/>
              </a:defRPr>
            </a:pPr>
            <a:r>
              <a:t>BRZ INCORPORADORA S.A.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9A84C"/>
                </a:solidFill>
                <a:latin typeface="Calibri"/>
              </a:defRPr>
            </a:pPr>
            <a:r>
              <a:t>Certificado de Recebiveis Imobiliarios — CRI  |  R$ 250 Milhoes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0B0C8"/>
                </a:solidFill>
                <a:latin typeface="Calibri"/>
              </a:defRPr>
            </a:pPr>
            <a:r>
              <a:t>IPCA + 7,80% a.a.  |  6 anos  |  Rating A+ (S&amp;P)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8492A6"/>
                </a:solidFill>
                <a:latin typeface="Calibri"/>
              </a:defRPr>
            </a:pPr>
            <a:r>
              <a:t>IB-Agents Intelligence Platform  |  Coordenador Lider</a:t>
            </a:r>
          </a:p>
          <a:p>
            <a:pPr>
              <a:defRPr sz="1000">
                <a:solidFill>
                  <a:srgbClr val="8492A6"/>
                </a:solidFill>
                <a:latin typeface="Calibri"/>
              </a:defRPr>
            </a:pPr>
          </a:p>
          <a:p>
            <a:pPr>
              <a:defRPr sz="1000">
                <a:solidFill>
                  <a:srgbClr val="8492A6"/>
                </a:solidFill>
                <a:latin typeface="Calibri"/>
              </a:defRPr>
            </a:pPr>
            <a:r>
              <a:t>March 2026</a:t>
            </a:r>
          </a:p>
          <a:p>
            <a:pPr>
              <a:defRPr sz="1000">
                <a:solidFill>
                  <a:srgbClr val="8492A6"/>
                </a:solidFill>
                <a:latin typeface="Calibri"/>
              </a:defRPr>
            </a:pPr>
            <a:r>
              <a:t>Estritamente Privado e Confidencial — RCVM 160/2022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492A6"/>
                </a:solidFill>
                <a:latin typeface="Calibri"/>
              </a:defRPr>
            </a:pPr>
            <a:r>
              <a:t>Confidencial  |  IB-Agents  |  BRZ Incorporadora S.A.  |  CRI R$ 250M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492A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2342"/>
                </a:solidFill>
                <a:latin typeface="Georgia"/>
              </a:defRPr>
            </a:pPr>
            <a:r>
              <a:t>Aviso Legal — Restricoes de Uso e Confidencialidade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41248"/>
            <a:ext cx="11274552" cy="4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Este material foi preparado pelo IB-Agents Intelligence Platform com finalidade exclusivamente informativa e nao constitui oferta, convite ou solicitacao para aquisicao de valores mobiliarios nos termos da Resolucao CVM no 160/2022.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As informacoes contidas neste documento sao baseadas em fontes publicas consideradas confiaveis. Nenhuma declaracao ou garantia, expressa ou implicita, e feita quanto a sua exatidao, completude ou atualidade.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Este documento e confidencial e destinado exclusivamente a investidores profissionais e qualificados conforme a Resolucao CVM no 30/2021. Sua reproducao e expressamente proibida.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</a:p>
          <a:p>
            <a:pPr>
              <a:spcBef>
                <a:spcPts val="400"/>
              </a:spcBef>
              <a:defRPr sz="900" i="1">
                <a:solidFill>
                  <a:srgbClr val="8492A6"/>
                </a:solidFill>
                <a:latin typeface="Calibri"/>
              </a:defRPr>
            </a:pPr>
            <a:r>
              <a:t>[RCVM 160/2022 | RCVM 30/2021 | Codigo ANBIMA de Ofertas Publicas | Lei 6.404/1976 | Lei 6.385/1976]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492A6"/>
                </a:solidFill>
                <a:latin typeface="Calibri"/>
              </a:defRPr>
            </a:pPr>
            <a:r>
              <a:t>Confidencial  |  IB-Agents  |  BRZ Incorporadora S.A.  |  CRI R$ 250M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492A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2342"/>
                </a:solidFill>
                <a:latin typeface="Georgia"/>
              </a:defRPr>
            </a:pPr>
            <a:r>
              <a:t>CRI BRZ de R$ 250M com rating A+ e cobertura de garantias de 2,5x oferece relação risco-retorno superior ao benchmark setorial, sustentada por lastro pulverizado, alienação fiduciária de terrenos de R$ 380M e empresa com trajetória comprovada de melhora de margens e desalavancagem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41248"/>
            <a:ext cx="11274552" cy="4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600" b="1">
                <a:solidFill>
                  <a:srgbClr val="1E5F8C"/>
                </a:solidFill>
                <a:latin typeface="Calibri"/>
              </a:defRPr>
            </a:pPr>
            <a:r>
              <a:t>Tese de Investimento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A emissão de CRI da BRZ Incorporadora combina um emissor com histórico comprovado de melhora operacional — margem EBITDA expandindo 400bps em 3 anos, distrato sub-4% e desalavancagem contínua — com uma estrutura de garantias de 2,5x que protege o investidor em cenários de stress severo. A taxa de IPCA+7,80% com rating A+ representa prêmio de risco superior ao ofertado por pares do setor, em um contexto de escassez estrutural de papel de crédito imobiliário grau de investimento no mercado de capitais brasileiro. O lastro pulverizado em 1.200 contratos de venda, suportado por alienação fiduciária de terrenos avaliados por terceiro independente, cria um instrumento de crédito com múltiplas camadas de proteção e potencial de recompressão de spread à medida que a empresa avança no ciclo de desalavancagem previsto para os próximos 24 meses.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</a:p>
          <a:p>
            <a:pPr>
              <a:spcBef>
                <a:spcPts val="1600"/>
              </a:spcBef>
              <a:defRPr sz="1600" b="1">
                <a:solidFill>
                  <a:srgbClr val="1E5F8C"/>
                </a:solidFill>
                <a:latin typeface="Calibri"/>
              </a:defRPr>
            </a:pPr>
            <a:r>
              <a:t>Destaques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Volume: R$ 250M em CRI | IPCA + 7,80% a.a. | 6 anos | Alienação fiduciária de terrenos (R$ 380M avaliado por Colliers International) + cessão fiduciária de recebíveis dos contratos lastro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A BRZ Incorporadora S.A. é uma incorporadora mid-cap com atuação consolidada nos mercados de São Paulo, Rio de Janeiro e Belo Horizonte, com VGV lançado acumulado superior a R$ 4,2 bilhões desde sua fundação e portfólio ativo de 22 empreendimentos em diferentes estágios de desenvolvimento. A companhia atua nos segmentos residencial médio-alto padrão e comercial corporate, com ticket médio de unidades entre R$ 650 mil e R$ 2,8 milhões, e histórico de VSO (Velocidade de Vendas sobre Oferta) consistentemente acima de 30% no lançamento. Com landbank próprio avaliado em R$ 1,9 bilhão em VGV potencial e ROIC médio de 18,4% nos últimos três anos, a BRZ posiciona-se como plataforma escalável em mercados de alta liquidez imobiliária.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051560"/>
            <a:ext cx="2560320" cy="118872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09728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A2342"/>
                </a:solidFill>
                <a:latin typeface="Calibri"/>
              </a:defRPr>
            </a:pPr>
            <a:r>
              <a:t>R$250M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856231"/>
            <a:ext cx="2377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492A6"/>
                </a:solidFill>
                <a:latin typeface="Calibri"/>
              </a:defRPr>
            </a:pPr>
            <a:r>
              <a:t>Volume CRI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377440"/>
            <a:ext cx="2560320" cy="118872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42316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D7A4F"/>
                </a:solidFill>
                <a:latin typeface="Calibri"/>
              </a:defRPr>
            </a:pPr>
            <a:r>
              <a:t>A+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182112"/>
            <a:ext cx="2377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492A6"/>
                </a:solidFill>
                <a:latin typeface="Calibri"/>
              </a:defRPr>
            </a:pPr>
            <a:r>
              <a:t>Rating S&amp;P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3703320"/>
            <a:ext cx="2560320" cy="118872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3749039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D7A4F"/>
                </a:solidFill>
                <a:latin typeface="Calibri"/>
              </a:defRPr>
            </a:pPr>
            <a:r>
              <a:t>2.2x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507992"/>
            <a:ext cx="2377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492A6"/>
                </a:solidFill>
                <a:latin typeface="Calibri"/>
              </a:defRPr>
            </a:pPr>
            <a:r>
              <a:t>DL/EBITDA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32720" y="1051560"/>
            <a:ext cx="2560320" cy="118872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0" y="109728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A2342"/>
                </a:solidFill>
                <a:latin typeface="Calibri"/>
              </a:defRPr>
            </a:pPr>
            <a:r>
              <a:t>2.5x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1856231"/>
            <a:ext cx="2377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492A6"/>
                </a:solidFill>
                <a:latin typeface="Calibri"/>
              </a:defRPr>
            </a:pPr>
            <a:r>
              <a:t>Cobertura Garantias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32720" y="2377440"/>
            <a:ext cx="2560320" cy="118872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0" y="242316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E5F8C"/>
                </a:solidFill>
                <a:latin typeface="Calibri"/>
              </a:defRPr>
            </a:pPr>
            <a:r>
              <a:t>23%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3182112"/>
            <a:ext cx="2377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492A6"/>
                </a:solidFill>
                <a:latin typeface="Calibri"/>
              </a:defRPr>
            </a:pPr>
            <a:r>
              <a:t>Margem EBITDA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20" y="3703320"/>
            <a:ext cx="2560320" cy="118872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0" y="3749039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D7A4F"/>
                </a:solidFill>
                <a:latin typeface="Calibri"/>
              </a:defRPr>
            </a:pPr>
            <a:r>
              <a:t>3.1x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4507992"/>
            <a:ext cx="2377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492A6"/>
                </a:solidFill>
                <a:latin typeface="Calibri"/>
              </a:defRPr>
            </a:pPr>
            <a:r>
              <a:t>Coverage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492A6"/>
                </a:solidFill>
                <a:latin typeface="Calibri"/>
              </a:defRPr>
            </a:pPr>
            <a:r>
              <a:t>Confidencial  |  IB-Agents  |  BRZ Incorporadora S.A.  |  CRI R$ 250M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492A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2342"/>
                </a:solidFill>
                <a:latin typeface="Georgia"/>
              </a:defRPr>
            </a:pPr>
            <a:r>
              <a:t>BRZ consolida posição de incorporadora mid-cap premium com VGV lançado crescendo 56% em 3 anos, distrato abaixo da metade da média setorial e landbank suficiente para sustentar crescimento orgânico até 2029 sem necessidade de novas aquisições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41248"/>
            <a:ext cx="11274552" cy="4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600" b="1">
                <a:solidFill>
                  <a:srgbClr val="1E5F8C"/>
                </a:solidFill>
                <a:latin typeface="Calibri"/>
              </a:defRPr>
            </a:pPr>
            <a:r>
              <a:t>Visao Geral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A BRZ Incorporadora S.A. é uma incorporadora mid-cap com atuação consolidada nos mercados de São Paulo, Rio de Janeiro e Belo Horizonte, com VGV lançado acumulado superior a R$ 4,2 bilhões desde sua fundação e portfólio ativo de 22 empreendimentos em diferentes estágios de desenvolvimento. A companhia atua nos segmentos residencial médio-alto padrão e comercial corporate, com ticket médio de unidades entre R$ 650 mil e R$ 2,8 milhões, e histórico de VSO (Velocidade de Vendas sobre Oferta) consistentemente acima de 30% no lançamento. Com landbank próprio avaliado em R$ 1,9 bilhão em VGV potencial e ROIC médio de 18,4% nos últimos três anos, a BRZ posiciona-se como plataforma escalável em mercados de alta liquidez imobiliária.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Fundacao: 2008 | Sede: São Paulo-SP | 1240 colaboradores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Banco de terrenos composto por 14 áreas próprias e 3 permutas financeiras, totalizando VGV potencial de R$ 1,9 bilhão distribuídos em São Paulo (R$ 1,1 bi — 58%), Rio de Janeiro (R$ 490 mi — 26%) e Belo Horizonte (R$ 310 mi — 16%), com horizonte de lançamento previsto entre 2025 e 2029.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</a:p>
          <a:p>
            <a:pPr>
              <a:spcBef>
                <a:spcPts val="1600"/>
              </a:spcBef>
              <a:defRPr sz="1600" b="1">
                <a:solidFill>
                  <a:srgbClr val="1E5F8C"/>
                </a:solidFill>
                <a:latin typeface="Calibri"/>
              </a:defRPr>
            </a:pPr>
            <a:r>
              <a:t>Diferenciais Competitivos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Landbank proprietário de 14 terrenos com VGV potencial de R$ 1,9 bilhão concentrado em eixos de alta valorização (Zona Sul SP, Barra da Tijuca RJ e Nova Lima BH), reduzindo risco de aquisição e comprimindo custo de capital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Taxa de distrato historicamente abaixo de 4% ao ano, versus média setorial de 8-10% (ABRAINC 2024), reflexo de rigoroso processo de aprovação de crédito na pré-venda e perfil de comprador com renda comprovada acima de R$ 15 mil/mês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Estrutura de gestão de obras verticalizada com 68% das obras executadas por equipes próprias, resultando em margem bruta de 38,2% em 2024 e prazo médio de entrega 4,2% inferior ao contratado nos últimos 5 anos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</a:p>
          <a:p>
            <a:pPr>
              <a:spcBef>
                <a:spcPts val="1600"/>
              </a:spcBef>
              <a:defRPr sz="1600" b="1">
                <a:solidFill>
                  <a:srgbClr val="1E5F8C"/>
                </a:solidFill>
                <a:latin typeface="Calibri"/>
              </a:defRPr>
            </a:pPr>
            <a:r>
              <a:t>Governanca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Conselho de Administração com 7 membros, sendo 3 independentes (42,8%), Comitê de Auditoria e Risco com reuniões trimestrais, auditoria externa pela KPMG, política de divulgação alinhada às práticas do Novo Mercado B3 e relatório de sustentabilidade anual segundo GRI Standards desde 2021.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051560"/>
            <a:ext cx="2560320" cy="118872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09728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A2342"/>
                </a:solidFill>
                <a:latin typeface="Calibri"/>
              </a:defRPr>
            </a:pPr>
            <a:r>
              <a:t>R$1,340M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856231"/>
            <a:ext cx="2377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492A6"/>
                </a:solidFill>
                <a:latin typeface="Calibri"/>
              </a:defRPr>
            </a:pPr>
            <a:r>
              <a:t>Receita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377440"/>
            <a:ext cx="2560320" cy="118872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42316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E5F8C"/>
                </a:solidFill>
                <a:latin typeface="Calibri"/>
              </a:defRPr>
            </a:pPr>
            <a:r>
              <a:t>1,240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182112"/>
            <a:ext cx="2377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492A6"/>
                </a:solidFill>
                <a:latin typeface="Calibri"/>
              </a:defRPr>
            </a:pPr>
            <a:r>
              <a:t>Colaboradores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492A6"/>
                </a:solidFill>
                <a:latin typeface="Calibri"/>
              </a:defRPr>
            </a:pPr>
            <a:r>
              <a:t>Confidencial  |  IB-Agents  |  BRZ Incorporadora S.A.  |  CRI R$ 250M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492A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2342"/>
                </a:solidFill>
                <a:latin typeface="Georgia"/>
              </a:defRPr>
            </a:pPr>
            <a:r>
              <a:t>Déficit habitacional de 8 milhões de unidades, funding FGTS recorde de R$ 105 bi e espaço estrutural do crédito imobiliário em apenas 10,8% do PIB posicionam o setor para crescimento acima do PIB por pelo menos uma década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41248"/>
            <a:ext cx="11274552" cy="4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600" b="1">
                <a:solidFill>
                  <a:srgbClr val="1E5F8C"/>
                </a:solidFill>
                <a:latin typeface="Calibri"/>
              </a:defRPr>
            </a:pPr>
            <a:r>
              <a:t>TAM: R$ 380Bi (CAGR 8,4% a.a. 2024-2028)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Brasil é o 4º maior mercado imobiliário do mundo em volume de transações, com estoque de crédito imobiliário representando apenas 10,8% do PIB versus 20-70% em economias desenvolvidas, indicando amplo espaço estrutural de expansão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</a:p>
          <a:p>
            <a:pPr>
              <a:spcBef>
                <a:spcPts val="1600"/>
              </a:spcBef>
              <a:defRPr sz="1600" b="1">
                <a:solidFill>
                  <a:srgbClr val="1E5F8C"/>
                </a:solidFill>
                <a:latin typeface="Calibri"/>
              </a:defRPr>
            </a:pPr>
            <a:r>
              <a:t>Drivers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Déficit habitacional brasileiro estimado em 8,0 milhões de unidades (FGV/CBIC 2024), com concentração de 79% na faixa de renda de 1 a 3 salários mínimos e demanda reprimida crescente no segmento médio-alto padrão nas metrópoles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Funding do FGTS para o programa Minha Casa Minha Vida atingiu R$ 105 bilhões em contratações em 2024 (CEF/MDR), com meta de R$ 116 bilhões para 2025, sustentando absorção de oferta e preços nos segmentos de até R$ 350 mil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Selic projetada em 13,25% ao final de 2025 (Focus/BCB mai-2025) com trajetória de queda gradual para 11,5% em 2026, reduzindo custo de financiamento imobiliário e estimulando demanda por crédito hipotecário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INCC-M acumulou alta de 6,8% em 2024 (FGV), pressionando custos de obras mas também reajustando contratos de venda vinculados ao índice, protegendo receita nominal dos incorporadores com carteiras de recebíveis indexadas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</a:p>
          <a:p>
            <a:pPr>
              <a:spcBef>
                <a:spcPts val="400"/>
              </a:spcBef>
              <a:defRPr sz="900" i="1">
                <a:solidFill>
                  <a:srgbClr val="8492A6"/>
                </a:solidFill>
                <a:latin typeface="Calibri"/>
              </a:defRPr>
            </a:pPr>
            <a:r>
              <a:t>[Fonte: {mkt['source']}]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051560"/>
            <a:ext cx="2560320" cy="118872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09728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A2342"/>
                </a:solidFill>
                <a:latin typeface="Calibri"/>
              </a:defRPr>
            </a:pPr>
            <a:r>
              <a:t>R$380Bi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856231"/>
            <a:ext cx="2377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492A6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377440"/>
            <a:ext cx="2560320" cy="118872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42316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D7A4F"/>
                </a:solidFill>
                <a:latin typeface="Calibri"/>
              </a:defRPr>
            </a:pPr>
            <a:r>
              <a:t>CAGR 8,4% a.a. 2024-2028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182112"/>
            <a:ext cx="2377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492A6"/>
                </a:solidFill>
                <a:latin typeface="Calibri"/>
              </a:defRPr>
            </a:pPr>
            <a:r>
              <a:t>CAGR Mercado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492A6"/>
                </a:solidFill>
                <a:latin typeface="Calibri"/>
              </a:defRPr>
            </a:pPr>
            <a:r>
              <a:t>Confidencial  |  IB-Agents  |  BRZ Incorporadora S.A.  |  CRI R$ 250M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492A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2342"/>
                </a:solidFill>
                <a:latin typeface="Georgia"/>
              </a:defRPr>
            </a:pPr>
            <a:r>
              <a:t>Receita líquida cresce a CAGR de 18,2% entre 2022 e 2026E impulsionada por lançamentos recordes, com geração de caixa operacional tornando-se positiva em 2023 e acelerando para R$ 124M em 2026E — ponto de inflexão do ciclo de desalavancagem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41248"/>
            <a:ext cx="11274552" cy="4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658368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0" y="10515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600" b="1">
                <a:solidFill>
                  <a:srgbClr val="1E5F8C"/>
                </a:solidFill>
                <a:latin typeface="Calibri"/>
              </a:defRPr>
            </a:pPr>
            <a:r>
              <a:t>Destaques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Receita CAGR: 25%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EBITDA CAGR: 31%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Margem EBITDA: 23.0%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</a:p>
          <a:p>
            <a:pPr>
              <a:spcBef>
                <a:spcPts val="400"/>
              </a:spcBef>
              <a:defRPr sz="900" i="1">
                <a:solidFill>
                  <a:srgbClr val="8492A6"/>
                </a:solidFill>
                <a:latin typeface="Calibri"/>
              </a:defRPr>
            </a:pPr>
            <a:r>
              <a:t>[DFs IFRS auditadas]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4389120"/>
            <a:ext cx="2103120" cy="118872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4434840"/>
            <a:ext cx="19202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D7A4F"/>
                </a:solidFill>
                <a:latin typeface="Calibri"/>
              </a:defRPr>
            </a:pPr>
            <a:r>
              <a:t>31%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5193792"/>
            <a:ext cx="1920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492A6"/>
                </a:solidFill>
                <a:latin typeface="Calibri"/>
              </a:defRPr>
            </a:pPr>
            <a:r>
              <a:t>CAGR EBITDA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492A6"/>
                </a:solidFill>
                <a:latin typeface="Calibri"/>
              </a:defRPr>
            </a:pPr>
            <a:r>
              <a:t>Confidencial  |  IB-Agents  |  BRZ Incorporadora S.A.  |  CRI R$ 250M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492A6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2342"/>
                </a:solidFill>
                <a:latin typeface="Georgia"/>
              </a:defRPr>
            </a:pPr>
            <a:r>
              <a:t>Margem EBITDA em expansão contínua de 20,0% em 2022 para 24,0% estimado em 2026E, reflexo da verticalização das obras, ganho de escala nos empreendimentos e mix de produtos com maior participação do segmento médio-alto padrão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41248"/>
            <a:ext cx="11274552" cy="4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658368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0" y="10515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600" b="1">
                <a:solidFill>
                  <a:srgbClr val="1E5F8C"/>
                </a:solidFill>
                <a:latin typeface="Calibri"/>
              </a:defRPr>
            </a:pPr>
            <a:r>
              <a:t>Evolucao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Margem EBITDA estavel/crescente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Indica poder de precificacao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Escala operacional gerando eficiencia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492A6"/>
                </a:solidFill>
                <a:latin typeface="Calibri"/>
              </a:defRPr>
            </a:pPr>
            <a:r>
              <a:t>Confidencial  |  IB-Agents  |  BRZ Incorporadora S.A.  |  CRI R$ 250M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492A6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2342"/>
                </a:solidFill>
                <a:latin typeface="Georgia"/>
              </a:defRPr>
            </a:pPr>
            <a:r>
              <a:t>DL/EBITDA cai de 3,09x em 2022 para 1,90x projetado em 2026E com headroom de 1,48x sobre o covenant de 4,0x mesmo no cenário de stress severo com queda de 30% do EBITDA, demonstrando estrutura de capital resiliente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41248"/>
            <a:ext cx="11274552" cy="4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658368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0" y="10515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600" b="1">
                <a:solidFill>
                  <a:srgbClr val="1E5F8C"/>
                </a:solidFill>
                <a:latin typeface="Calibri"/>
              </a:defRPr>
            </a:pPr>
            <a:r>
              <a:t>Credito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DL/EBITDA: 2.2x (cov: 4.0x — folga 1.8x)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Coverage: 3.1x (cov: 2.0x)</a:t>
            </a:r>
          </a:p>
          <a:p>
            <a:pPr>
              <a:spcBef>
                <a:spcPts val="600"/>
              </a:spcBef>
              <a:defRPr>
                <a:latin typeface="Calibri"/>
              </a:defRPr>
            </a:pPr>
          </a:p>
          <a:p>
            <a:pPr>
              <a:spcBef>
                <a:spcPts val="1600"/>
              </a:spcBef>
              <a:defRPr sz="1600" b="1">
                <a:solidFill>
                  <a:srgbClr val="1E5F8C"/>
                </a:solidFill>
                <a:latin typeface="Calibri"/>
              </a:defRPr>
            </a:pPr>
            <a:r>
              <a:t>Stress Test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Bear (-15%): 2.6x — OK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Stressed (-30%): 3.2x — 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4572000"/>
            <a:ext cx="2103120" cy="118872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4617720"/>
            <a:ext cx="19202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D7A4F"/>
                </a:solidFill>
                <a:latin typeface="Calibri"/>
              </a:defRPr>
            </a:pPr>
            <a:r>
              <a:t>1.8x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5376672"/>
            <a:ext cx="1920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492A6"/>
                </a:solidFill>
                <a:latin typeface="Calibri"/>
              </a:defRPr>
            </a:pPr>
            <a:r>
              <a:t>Folga Covenant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492A6"/>
                </a:solidFill>
                <a:latin typeface="Calibri"/>
              </a:defRPr>
            </a:pPr>
            <a:r>
              <a:t>Confidencial  |  IB-Agents  |  BRZ Incorporadora S.A.  |  CRI R$ 250M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492A6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2342"/>
                </a:solidFill>
                <a:latin typeface="Georgia"/>
              </a:defRPr>
            </a:pPr>
            <a:r>
              <a:t>VGV lancado cresce consistentemente com velocidade de vendas acima da media do setor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41248"/>
            <a:ext cx="11274552" cy="4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658368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0" y="10515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600" b="1">
                <a:solidFill>
                  <a:srgbClr val="1E5F8C"/>
                </a:solidFill>
                <a:latin typeface="Calibri"/>
              </a:defRPr>
            </a:pPr>
            <a:r>
              <a:t>KPIs Operacionais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VGV = indicador-chave do setor imobiliario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VSO (Vendas sobre Oferta) acima da media ABRAINC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Landbank robusto para lancamentos futuros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492A6"/>
                </a:solidFill>
                <a:latin typeface="Calibri"/>
              </a:defRPr>
            </a:pPr>
            <a:r>
              <a:t>Confidencial  |  IB-Agents  |  BRZ Incorporadora S.A.  |  CRI R$ 250M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492A6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2342"/>
                </a:solidFill>
                <a:latin typeface="Georgia"/>
              </a:defRPr>
            </a:pPr>
            <a:r>
              <a:t>Empresa atinge FCF positivo sustentável a partir de 2023 após ciclo de queima de caixa para constituição do landbank, com FCF de R$ 124M projetado para 2026E proporcionando cobertura de 1,8x do serviço anual da dívida do CRI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41248"/>
            <a:ext cx="11274552" cy="4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658368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0" y="10515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600" b="1">
                <a:solidFill>
                  <a:srgbClr val="1E5F8C"/>
                </a:solidFill>
                <a:latin typeface="Calibri"/>
              </a:defRPr>
            </a:pPr>
            <a:r>
              <a:t>Fluxo de Caixa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FCF 2024: R$ 88M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Capex: R$ 52M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Geracao sustenta servico da divida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492A6"/>
                </a:solidFill>
                <a:latin typeface="Calibri"/>
              </a:defRPr>
            </a:pPr>
            <a:r>
              <a:t>Confidencial  |  IB-Agents  |  BRZ Incorporadora S.A.  |  CRI R$ 250M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492A6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2342"/>
                </a:solidFill>
                <a:latin typeface="Georgia"/>
              </a:defRPr>
            </a:pPr>
            <a:r>
              <a:t>Estrutura de CRI com amortização linear a partir do 24º mês, pagamentos semestrais e lastro em 1.200 contratos de venda pulverizados reduz concentração e risco de evento único, com taxa de IPCA+7,80% refletindo prêmio de risco adequado para rating A+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41248"/>
            <a:ext cx="11274552" cy="4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51560"/>
          <a:ext cx="11247120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Caracteristica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Detalhe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Instrumento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CRI — True Securitizadora S.A.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R$ 250.000.000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Remuneracao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IPCA + 7,80% a.a.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Prazo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 anos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Amortizacao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Linear a partir do 24º mês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Pgto Juros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Semestral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Lastro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Recebíveis de contratos de venda de unidades imobiliárias — 1.200 unidades em 8 empreendimentos (SP, RJ e BH), com saldo devedor total de R$ 412 milhões e LTV médio de 60,7%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Garantia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Alienação fiduciária de terrenos (R$ 380M avaliado por Colliers International) + cessão fiduciária de recebíveis dos contratos lastro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Cobertura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2.5x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A+ (S&amp;P)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Registro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RCVM 160 — registro automático CVM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144000" y="4846320"/>
            <a:ext cx="2560320" cy="118872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4892040"/>
            <a:ext cx="23774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D7A4F"/>
                </a:solidFill>
                <a:latin typeface="Calibri"/>
              </a:defRPr>
            </a:pPr>
            <a:r>
              <a:t>2.5x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5650992"/>
            <a:ext cx="23774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492A6"/>
                </a:solidFill>
                <a:latin typeface="Calibri"/>
              </a:defRPr>
            </a:pPr>
            <a:r>
              <a:t>Cobertura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492A6"/>
                </a:solidFill>
                <a:latin typeface="Calibri"/>
              </a:defRPr>
            </a:pPr>
            <a:r>
              <a:t>Confidencial  |  IB-Agents  |  BRZ Incorporadora S.A.  |  CRI R$ 250M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492A6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2342"/>
                </a:solidFill>
                <a:latin typeface="Georgia"/>
              </a:defRPr>
            </a:pPr>
            <a:r>
              <a:t>Pacote de garantias com dupla camada — alienação fiduciária de terrenos a R$ 380M (1,52x o volume emitido) avaliados pela Colliers e cessão fiduciária de R$ 412M em recebíveis (1,65x) — totaliza cobertura de 2,5x, nível superior à mediana de emissões A+ do setor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41248"/>
            <a:ext cx="11274552" cy="4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658368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0" y="10515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600" b="1">
                <a:solidFill>
                  <a:srgbClr val="1E5F8C"/>
                </a:solidFill>
                <a:latin typeface="Calibri"/>
              </a:defRPr>
            </a:pPr>
            <a:r>
              <a:t>Estrutura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Alienação fiduciária de terrenos (R$ 380M avaliado por Colliers International) + cessão fiduciária de recebíveis dos contratos lastro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Cobertura: 2.5x sobre o volume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Conta vinculada com fluxo segregado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492A6"/>
                </a:solidFill>
                <a:latin typeface="Calibri"/>
              </a:defRPr>
            </a:pPr>
            <a:r>
              <a:t>Confidencial  |  IB-Agents  |  BRZ Incorporadora S.A.  |  CRI R$ 250M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492A6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2342"/>
                </a:solidFill>
                <a:latin typeface="Georgia"/>
              </a:defRPr>
            </a:pPr>
            <a:r>
              <a:t>IPCA+7,80% posiciona a emissão com prêmio de 15-90bps sobre comparáveis de mesma categoria de rating (Cyrela A- em IPCA+6,90%; Even A em IPCA+8,10%), pricing justo que remunera o risco mid-cap sem sacrificar atratividade para o emissor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41248"/>
            <a:ext cx="11274552" cy="4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51560"/>
          <a:ext cx="1124712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Emissor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Prazo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Spread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Cyrela Brazil Realty S.A.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AA- (Fitch)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 anos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IPCA + 6,90% a.a.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R$ 300M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mar-2025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MRV Engenharia e Participações S.A.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A+ (S&amp;P)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 anos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IPCA + 7,50% a.a.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R$ 400M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fev-2025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Even Construtora e Incorporadora S.A.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 (Fitch)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 anos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IPCA + 8,10% a.a.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R$ 180M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nov-2024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Tegra Incorporadora S.A.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A- (S&amp;P)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 anos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IPCA + 8,40% a.a.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R$ 200M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out-2024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Brookfield Incorporações S.A.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A+ (Moody's)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 anos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IPCA + 7,70% a.a.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R$ 250M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ago-2024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Helbor Empreendimentos S.A.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 (S&amp;P)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 anos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IPCA + 8,25% a.a.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R$ 150M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mai-2024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BRZ Incorporadora S.A. (proposta)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A+ (S&amp;P)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 anos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IPCA + 7,80% a.a.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R$ 250M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Mar/26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492A6"/>
                </a:solidFill>
                <a:latin typeface="Calibri"/>
              </a:defRPr>
            </a:pPr>
            <a:r>
              <a:t>[Fonte: ANBIMA — Boletim Mercado Secundario + emissoes primarias 2024-2025]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492A6"/>
                </a:solidFill>
                <a:latin typeface="Calibri"/>
              </a:defRPr>
            </a:pPr>
            <a:r>
              <a:t>Confidencial  |  IB-Agents  |  BRZ Incorporadora S.A.  |  CRI R$ 250M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492A6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2342"/>
                </a:solidFill>
                <a:latin typeface="Georgia"/>
              </a:defRPr>
            </a:pPr>
            <a:r>
              <a:t>Estrutura de covenants conservadora com DL/EBITDA máximo de 4,0x versus patamar atual de 2,21x e DSCR mínimo de 1,2x conferem buffer de proteção amplo ao investidor, com mecanismo de step-up automático de spread em caso de rebaixamento de rating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41248"/>
            <a:ext cx="11274552" cy="4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658368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0" y="10515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600" b="1">
                <a:solidFill>
                  <a:srgbClr val="1E5F8C"/>
                </a:solidFill>
                <a:latin typeface="Calibri"/>
              </a:defRPr>
            </a:pPr>
            <a:r>
              <a:t>Cenarios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Base: 2.2x — OK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Bear: 2.6x — OK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Stressed: 3.2x — OK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• Breach: Queda de EBITDA superior a 45% necessária para acionar covenant de DL/EBITDA de 4,0x; empresa mantém headroom de 1,48x sobre o limite mesmo no cenário severo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492A6"/>
                </a:solidFill>
                <a:latin typeface="Calibri"/>
              </a:defRPr>
            </a:pPr>
            <a:r>
              <a:t>Confidencial  |  IB-Agents  |  BRZ Incorporadora S.A.  |  CRI R$ 250M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492A6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2342"/>
                </a:solidFill>
                <a:latin typeface="Georgia"/>
              </a:defRPr>
            </a:pPr>
            <a:r>
              <a:t>Demanda estimada de R$ 235M de 8 investidores institucionais mapeados (94% da oferta), com oversubscription de 1,8x esperado no bookbuilding dada escassez de papel A+ em IPCA+ no mercado primário de CRI no primeiro semestre de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41248"/>
            <a:ext cx="11274552" cy="4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51560"/>
          <a:ext cx="1124712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Instituicao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Ticket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Racional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Itaú Asset Management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Asset Management — Fundo de Crédito Privado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R$ 40M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92%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Maior asset brasileiro com R$ 780 bi AuM, alocador recorrente em CRI A+/AA- com duration até 7 anos; histórico de participação em 14 emissões de CRI imobiliário nos últimos 24 meses via fundos de crédito estruturado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Bradesco Asset Management (BRAM)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Asset Management — FII e Fundo Crédito Estruturado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R$ 35M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89%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Gestora com R$ 420 bi AuM e carteira de CRI/CRA superior a R$ 18 bi; mandato ativo em FIIs de papel indexados a IPCA com target de yield IPCA+7,5% a 8,5%, encaixe direto na proposta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XP Asset Management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Asset Management — FII de Papel e Crédito Privado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R$ 30M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88%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Maior plataforma de investimentos independente do Brasil com R$ 1,1 tri em AuM; gestora de FIIs de CRI com XPCI11 e XPLG11 como veículos naturais de alocação em operações IPCA+ com rating A ou superior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Kinea Investimentos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Asset Management — FII de Papel (KNCR11 / KNIP11)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R$ 35M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91%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Gestora especializada em crédito imobiliário com R$ 35 bi em FIIs de papel; KNIP11 (R$ 7,8 bi PL) é referência em alocação IPCA+ de prazo médio-longo e demandante recorrente em bookbuildings de CRI grau de investimento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Capitânia Investimentos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Asset Management — FII de CRI (CPTS11)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R$ 25M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86%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Gestora boutique especializada em CRI com CPTS11 (R$ 3,2 bi PL) como principal veículo; política de crédito focada em incorporadoras mid-cap com rating mínimo A- e garantia real acima de 2,0x o saldo devedor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Caixa Econômica Federal — GICOV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Banco Público — Carteira Própria de Crédito Imobiliário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R$ 30M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78%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Maior financiador habitacional do Brasil com mandato institucional de fomento ao setor; carteira de CRI própria superior a R$ 12 bi com apetite por operações vinculadas ao IPCA em setores estratégicos de habitação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Opportunity Gestora de Recursos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Asset Management — Fundo Multimercado Crédito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R$ 20M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82%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Gestora com R$ 22 bi AuM e fundo dedicado a crédito estruturado; apetite por prêmio acima de IPCA+7,5% em operações com dupla garantia real, encaixe preciso dado o IPCA+7,80% e cobertura de 2,5x da emissão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Vinci Partners — Crédito Imobiliário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Asset Management — FII de CRI (VCRI11)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R$ 20M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83%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Gestora com R$ 16 bi AuM em FIIs e crédito estruturado; VCRI11 tem mandato ativo para alocação em CRI de incorporadoras com atuação em São Paulo e Rio de Janeiro, matching direto com o lastro geográfico da operação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492A6"/>
                </a:solidFill>
                <a:latin typeface="Calibri"/>
              </a:defRPr>
            </a:pPr>
            <a:r>
              <a:t>Confidencial  |  IB-Agents  |  BRZ Incorporadora S.A.  |  CRI R$ 250M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492A6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2342"/>
                </a:solidFill>
                <a:latin typeface="Georgia"/>
              </a:defRPr>
            </a:pPr>
            <a:r>
              <a:t>Os cinco vetores de risco identificados são mitigados estruturalmente por garantias reais robustas, pulverização do lastro, verticalização operacional e covenants de alerta precoce, resultando em perfil de risco compatível com o rating A+ e inferior à mediana do setor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41248"/>
            <a:ext cx="11274552" cy="4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51560"/>
          <a:ext cx="1124712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Risco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Probabilidade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Mitigante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Desaceleração nas vendas de unidades e aumento da taxa de distrato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Média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Cessão fiduciária de 1.200 contratos de venda com saldo R$ 412M (1,65x o volume emitido); substituição automática de recebíveis inadimplentes prevista na escritura com gatilho de 60 dias de atraso; histórico de distrato da BRZ de 3,8% a.a. versus média setorial de 9,2%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Elevação persistente do INCC pressionando custo de obras e margens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Média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Médio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68% das obras executadas por equipe própria com contratos de insumos fixados semestralmente; contratos de venda indexados ao INCC repassam correção ao comprador, protegendo margem nominal; estoque de materiais estratégicos para 4 meses de obras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Concentração geográfica — 58% do VGV em São Paulo expõe a mudanças regulatórias municipais (Plano Diretor)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Baixa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Médio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Landbank com 100% de projetos já protocolados ou com alvará obtido; diversificação ativa do pipeline com Rio de Janeiro (26%) e Belo Horizonte (16%); equipe jurídica especializada em regularização fundiária urbana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Alta da Selic acima do esperado elevando custo do crédito imobiliário e reduzindo demanda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Média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Médio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75% das vendas financiadas via SBPE/CEF com taxa pré-fixada contratada no ato da compra; funding de obras via LCI própria com hedge de taxa; covenant de VSO mínimo de 20% com monitoramento mensal pelo agente fiduciário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Risco de crédito do devedor cedente (BRZ) — deterioração financeira impactando performance do lastro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Baixa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Estrutura de alienação fiduciária de terrenos avaliados em R$ 380M (cobertura de 1,52x o saldo total emitido) segregada do balanço da cedente; rating A+ (S&amp;P) com perspectiva estável; covenants de DL/EBITDA ≤ 4,0x e cobertura ≥ 2,0x com step-up de spread de 50bps em caso de rebaixamento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572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>
                <a:latin typeface="Calibri"/>
              </a:defRPr>
            </a:pPr>
          </a:p>
          <a:p>
            <a:pPr>
              <a:spcBef>
                <a:spcPts val="1600"/>
              </a:spcBef>
              <a:defRPr sz="1600" b="1">
                <a:solidFill>
                  <a:srgbClr val="1E5F8C"/>
                </a:solidFill>
                <a:latin typeface="Calibri"/>
              </a:defRPr>
            </a:pPr>
            <a:r>
              <a:t>Parecer: RISCO BAIXO-MEDIO</a:t>
            </a:r>
          </a:p>
          <a:p>
            <a:pPr>
              <a:spcBef>
                <a:spcPts val="5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Rating A+ sustentado por garantia real (2.5x), lastro diversificado e historico de execucao.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20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4552" cy="40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3737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492A6"/>
                </a:solidFill>
                <a:latin typeface="Calibri"/>
              </a:defRPr>
            </a:pPr>
            <a:r>
              <a:t>Confidencial  |  IB-Agents  |  BRZ Incorporadora S.A.  |  CRI R$ 250M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3737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492A6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2342"/>
                </a:solidFill>
                <a:latin typeface="Georgia"/>
              </a:defRPr>
            </a:pPr>
            <a:r>
              <a:t>Prestadores de Servico e Base Legal Aplicavel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41248"/>
            <a:ext cx="11274552" cy="4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51560"/>
          <a:ext cx="1124712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Funcao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Instituicao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Coordenador Lider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IB-Agents Intelligence Platform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Securitizadora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True Securitizadora S.A.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Cedente/Emissora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BRZ Incorporadora S.A.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Agente Fiduciario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Pentagonal S.A. DTVM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Escriturador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Banco Bradesco S.A.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Assessor Juridico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Pinheiro Neto Advogados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S&amp;P (A+)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Auditores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BDO Brasil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5720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400" b="1">
                <a:solidFill>
                  <a:srgbClr val="1E5F8C"/>
                </a:solidFill>
                <a:latin typeface="Calibri"/>
              </a:defRPr>
            </a:pPr>
            <a:r>
              <a:t>Base Legal</a:t>
            </a:r>
          </a:p>
          <a:p>
            <a:pPr>
              <a:spcBef>
                <a:spcPts val="500"/>
              </a:spcBef>
              <a:defRPr sz="1200">
                <a:solidFill>
                  <a:srgbClr val="1A1A2E"/>
                </a:solidFill>
                <a:latin typeface="Calibri"/>
              </a:defRPr>
            </a:pPr>
            <a:r>
              <a:t>• RCVM 160/2022 | RCVM 30/2021 | Codigo ANBIMA | Lei 6.404/1976 | Lei 6.385/1976 | Lei 9.514/1997 (CRI)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