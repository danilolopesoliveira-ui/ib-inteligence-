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ENEVA S.A.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0D0E8"/>
                </a:solidFill>
                <a:latin typeface="Calibri"/>
              </a:defRPr>
            </a:pPr>
            <a:r>
              <a:t>R$ 800.000.000 | 1a e 2a Series | AA+ (Fitch)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Oferta Publica de Debentures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March 2026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IB-Agents Intelligence Platform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Sumario Executivo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Destaques da Operacao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Emissor: Eneva S.A. — maior geradora termica privada a gas natural do Brasil (5,9 GW)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Volume: R$ 800M em debentures simples, quirografaria com cessao fiduciaria de recebiveis PPA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1a Serie: R$ 480M, 5 anos, CDI+1,85% a.a. | 2a Serie: R$ 320M, 7 anos, IPCA+6,20% a.a.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Rating: AA+ (Fitch) — perspectiva estavel | 5a emissao — track record solido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Garantia: cessao fiduciaria de recebiveis de PPAs (contratos 15+ anos, receita fixa)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Destinacao: 60% refinanciamento + 40% expansao Parnaiba VI (380 MW)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Racional de Investimento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92% da receita contratada via PPAs de longo prazo — fluxo previsivel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Net Debt/EBITDA de 1,2x (covenant: 3,5x) — folga de 2,3x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Operacao integrada gas+energia — menor custo da regiao Norte/Nordeste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Demanda estimada: R$ 1,4Bi (1,75x oversubscription)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576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1a Serie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2a Serie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Ref. Mercado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IPCA+6,20%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AA+: 1,60-2,00%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4,6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5,8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Amortizacao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Bullet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Linear (5o ano+)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Panorama Setorial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Setor Eletrico Brasileiro — Geracao Termica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Capacidade instalada: 198 GW (2024) — termica: 28% da matriz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Crescimento demanda: +3,2% a.a. (EPE 2025-2030) | PIB 2025E: +2,5%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Gas natural: combustivel de transicao — menor emissao vs carvao/oleo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Novo Marco do Gas (Lei 14.134/2021) — abertura do mercado, beneficio para Eneva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Ambiente Macro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SELIC: 13,25% | Projecao dez/25: 12,50% (Focus) | IPCA: 4,8%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Mercado de debentures: R$ 320Bi emitidos em 2024 (+18% YoY)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Spread medio AA+ (5y): 1,78% (ANBIMA mar/25)</a:t>
            </a:r>
          </a:p>
          <a:p>
            <a:pPr>
              <a:spcBef>
                <a:spcPts val="200"/>
              </a:spcBef>
              <a:defRPr sz="800" i="1">
                <a:solidFill>
                  <a:srgbClr val="718096"/>
                </a:solidFill>
                <a:latin typeface="Calibri"/>
              </a:defRPr>
            </a:pPr>
            <a:r>
              <a:t>[Fonte: ANEEL, EPE, BCB Focus, ANBIMA — marco/2025]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Perfil do Emissor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Eneva S.A. — Visao Geral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Listada B3 (ENEV3) — Novo Mercado | Market cap: R$ 10,6Bi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Operacao integrada: exploracao gas + geracao energia na Bacia do Parnaiba (MA)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92% receita contratada PPAs (15-25 anos) — previsibilidade de caixa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Financials Consolidados (R$ M)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57600"/>
          <a:ext cx="109728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CAGR 3a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Receita Liq.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7.180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19,1%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2.180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2.650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3.320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3.800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20,3%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Margem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44,9%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44,8%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46,2%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46,3%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Lucro Liquido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1.050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1.380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1.600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23,4%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Divida Liquida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DL/EBITDA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2,0x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1,8x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1,4x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1,2x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EBITDA/Desp.Fin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FCF Operacional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980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1.150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1.520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1.700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Estrutura da Emissao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051560"/>
          <a:ext cx="109728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1a Serie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2a Serie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R$ 480.000.000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R$ 320.000.000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 (mar/2030)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 (mar/2032)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Remuneracao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+ 1,85% a.a.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 + 6,20% a.a.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Pgto Juros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Semestral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Semestral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Amortizacao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Bullet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Linear (a partir 5o ano)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Especie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Quirografaria c/ cessao fid.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Quirografaria c/ cessao fid.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 (Fitch)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 (Fitch)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Publico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Investidores qualificados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Investidores qualificados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automatico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automatico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Ag. Fiduciario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Pentagonal DTVM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Pentagonal DTVM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Liquidacao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(CETIP21)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(CETIP21)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Pricing &amp; Spread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Posicionamento na Curva de Credito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Base: curva DI futuro (B3) + premio de credito por rating/setor/prazo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1a Serie (CDI+1,85%, 5y): em linha com mediana do setor (1,78-1,95%)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2a Serie (IPCA+6,20%, 7y): desconto de 15bps vs NTN-B + spread medio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Premio de nova emissao (NIP): ~5-10bps para garantir demanda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57600"/>
          <a:ext cx="10972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Emissor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CPFL Energia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R$ 1,2Bi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Taesa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CDI+1,45%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Neoenergia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R$ 1,5Bi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Equatorial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IPCA+6,35%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R$ 2,0Bi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Engie Brasil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IPCA+5,80%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R$ 1,0Bi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ENEVA (esta)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5+7y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CDI+1,85/IPCA+6,20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Covenants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Covenants Financeiros (teste semestral)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Divida Liquida / EBITDA: &lt;= 3,5x (atual: 1,2x — folga de 2,3x)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EBITDA / Desp. Financeira: &gt;= 2,5x (atual: 4,8x)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DSCR: &gt;= 1,3x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Covenants Nao-Financeiros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Cross-default: inadimplencia em dividas &gt; R$ 150M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Change of control: vencimento antecipado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Restricted Payments: dividendos &gt; minimo legal somente se DL/EBITDA &lt;= 3,0x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Alienacao de ativos essenciais: vedada sem anuencia (&gt; 10% ativo total)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Eventos de Vencimento Antecipado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Inadimplencia juros/principal &gt; 5 dias uteis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Descumprimento covenant nao curado em 60 dias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Pedido recuperacao judicial/falencia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Rebaixamento rating abaixo de A-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Mapa de Distribuicao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42 instituicoes mapeadas — Demanda estimada: R$ 1,4Bi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57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AUM (R$Bi)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 Est.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Itau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BTG Pactual 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R$ 60M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Previ (BB)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F. Pensao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XP Investimentos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Kinea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Funcef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F. Pensao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R$ 50M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Verde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SPX Capital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Outros (34)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Diversos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R$ 495M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60-75%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Cronograma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051560"/>
          <a:ext cx="109728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Etapa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e kick-off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15/Fev/2025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Due diligence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18/Fev — 10/Mar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 (Fitch)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20/Fev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 — AA+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Escritura de emissao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01-15/Mar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Em andamento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Aprovacao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18/Mar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 CVM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Bookbuilding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25/Mar — 02/Abr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Pricing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02/Abr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Liquidacao (D+2)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04/Abr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Inicio negociacao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07/Abr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Fatores de Risco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Riscos do Emissor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Concentracao geografica: 70% da capacidade na Bacia do Parnaiba (MA)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Reservas de gas: dependencia de reservas provadas e provaveis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Regulatorio: alteracoes nas regras ANEEL de contratacao de energia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Riscos da Emissao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Credito: capacidade de pagamento atrelada ao FCF operacional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Liquidez: mercado secundario pode ter liquidez limitada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Mercado: variacao CDI/IPCA impacta custo efetivo da divida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Mitigantes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92% receita contratada PPA (15+ anos) — fluxo previsivel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Rating AA+ estavel — baixa probabilidade de default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Cessao fiduciaria de recebiveis como garantia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5 emissoes anteriores bem-sucedidas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