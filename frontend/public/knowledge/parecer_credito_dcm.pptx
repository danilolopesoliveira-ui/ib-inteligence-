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822960"/>
            <a:ext cx="64008" cy="41148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MEMORANDO DE CRÉDITO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4A853"/>
                </a:solidFill>
                <a:latin typeface="Georgia"/>
              </a:rPr>
              <a:t>Analise de Credito Corporativo — Padrao BTG Pactual | Itau BBA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4572000" cy="27432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[NOME DA EMPRESA S.A.] | CNPJ: [XX.XXX.XXX/0001-XX]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Produto: [CCB / Debenture / CRI / CRA / NCE]  |  Volume: R$[___]M  |  Prazo: [___] meses  |  Taxa: [Indexador]+[___]% a.a.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1635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Setor: [___]  |  Rating Interno: [A/B/C/D/E]  |  Rating Agencia: [AA-/A+/BBB+] — [Fitch/S&amp;P/Moody's]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45536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Analista: ________________  |  Data: ___/___/______  |  Nivel de Comite: [Gerente Senior / Local / Ampliado / Executivo]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4787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ETAPAS: 1.KYC  →  2.Qualitativa  →  3.Financeira  →  4.Estrutura  →  5.Rating  →  6.Comite  →  7.Monitoramento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4983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18096"/>
                </a:solidFill>
                <a:latin typeface="Calibri"/>
              </a:rPr>
              <a:t>CONFIDENCIAL — Uso Interno Restrito. Destinado exclusivamente aos membros do Comite de Credito autorizado.
Sua reproducao ou distribuicao sem autorizacao expressa da Diretoria de Credito e vedada.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I. Sumario Executivo — Recomendacao, Big Idea e Parametros da Operacao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10 — Memorando de Credito | Etapas 1-7 consolidadas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283464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78992"/>
            <a:ext cx="54864" cy="34747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1338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748"/>
                </a:solidFill>
                <a:latin typeface="Calibri"/>
              </a:rPr>
              <a:t>✓  APROVADO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78992"/>
            <a:ext cx="283464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78992"/>
            <a:ext cx="54864" cy="347472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1338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748"/>
                </a:solidFill>
                <a:latin typeface="Calibri"/>
              </a:rPr>
              <a:t>~  APROVADO COM RESSALVAS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78992"/>
            <a:ext cx="283464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78992"/>
            <a:ext cx="54864" cy="34747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1338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748"/>
                </a:solidFill>
                <a:latin typeface="Calibri"/>
              </a:rPr>
              <a:t>✗  REPROVADO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1338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[ ] Marcar a recomendacao: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08760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536192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BIG IDEA — TESE DE CREDITO (1 frase — Pyramid Principle)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737360"/>
            <a:ext cx="11612880" cy="42062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773936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F1F3D"/>
                </a:solidFill>
                <a:latin typeface="Calibri"/>
              </a:rPr>
              <a:t>[Empresa lider em [setor] com EBITDA de R$[X]M e DSCR de [X]x — operacao de [instrumento] de R$[X]M a [indexador+spread]% a.a., com garantias de [X]x de cobertura, alinhada ao apetite de risco da instituicao.]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31136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258568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DADOS DA OPERACAO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8716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55117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Empresa / CNPJ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62072" y="248716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55117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[Nome] | [CNPJ]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248716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3872" y="255117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Rating Interno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48472" y="2487168"/>
            <a:ext cx="35387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255117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[A/B/C]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5292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291693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Instrumento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62072" y="285292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5224" y="291693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[CCB/Deb/CRI/CRA/NCE]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285292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3872" y="291693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Rating Agencia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2" y="2852928"/>
            <a:ext cx="35387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624" y="291693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[AA-] — [Fitch]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1868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28269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Volume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62072" y="321868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5224" y="328269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 [___]M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21868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3872" y="328269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Prazo / Carencia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48472" y="3218688"/>
            <a:ext cx="35387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1624" y="328269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[___]m / [___]m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58444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364845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Indexador + Spread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62072" y="358444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35224" y="364845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[CDI/IPCA/PRE]+[X,XX]%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358444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364845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Amortizacao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8472" y="3584448"/>
            <a:ext cx="35387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21624" y="364845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[Bullet/SAC/PRICE]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95020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401421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Garantias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62072" y="395020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35224" y="401421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[Tipo] — [X,X]x cobertura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395020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33872" y="401421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Finalidade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48472" y="3950208"/>
            <a:ext cx="35387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21624" y="401421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[Uso exato dos recursos]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31596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437997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Nivel Comite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62072" y="431596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35224" y="4379976"/>
            <a:ext cx="2633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[Gerente/Local/Ampliado/Exec]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4315968"/>
            <a:ext cx="2560320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33872" y="4379976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Exposicao Total Grupo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48472" y="4315968"/>
            <a:ext cx="35387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21624" y="4379976"/>
            <a:ext cx="3401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 [___]M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709160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" y="4736592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PRINCIPAIS RISCOS E MITIGANTES (3 prioritarios)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496519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3030"/>
                </a:solidFill>
                <a:latin typeface="Calibri"/>
              </a:rPr>
              <a:t>  ▸ Risco 1: [Nome]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49240" y="4965192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→ [Mitigante especifico]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531266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3030"/>
                </a:solidFill>
                <a:latin typeface="Calibri"/>
              </a:rPr>
              <a:t>  ▸ Risco 2: [Nome]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49240" y="5312664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→ [Mitigante especifico]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566013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53030"/>
                </a:solidFill>
                <a:latin typeface="Calibri"/>
              </a:rPr>
              <a:t>  ▸ Risco 3: [Nome]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5660136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→ [Mitigante especifico]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II. Triagem KYC, 5 Cs do Credito, Analise de Gestao e ESG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Etapas 1 (KYC) e 2 (Qualitativa) | Framework: 5 Cs + Porter + ESG + Governanca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CHECKLIST KYC — ETAPA 1 (ELIMINATORIA)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256032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353312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36245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Empresa ativa min. 3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36245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Fundacao: [___]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55064"/>
            <a:ext cx="256032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682496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6916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Faturamento &gt; R$30MM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169164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Receita LTM: R$[___]M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84248"/>
            <a:ext cx="256032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011679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202082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Sem falencia/recuperacao judicial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020824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Confirmado: JUCEA/JUCESP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13432"/>
            <a:ext cx="256032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340864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23500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Nao consta COAF/OFAC/ONU/BACEN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235000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Checado em: [data]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42615"/>
            <a:ext cx="256032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670047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2679191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Balanco auditado 3 exercicios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267919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Auditor: [___] | CVM: [reg]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71800"/>
            <a:ext cx="256032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999232"/>
            <a:ext cx="256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[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300837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Documentacao KYC completa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300837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18096"/>
                </a:solidFill>
                <a:latin typeface="Calibri"/>
              </a:rPr>
              <a:t>UBO identificado: [Sim/Nao]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107899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3912" y="110642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5 Cs DO CREDITO — ETAPA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1325880"/>
            <a:ext cx="548640" cy="53035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14173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853"/>
                </a:solidFill>
                <a:latin typeface="Georgia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1362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Carater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Historico pagamentos, reputacao, compliance, referencias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1325880"/>
            <a:ext cx="288036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1463039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[ ] Alto  [ ] Medio  [ ] Baixo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1947672"/>
            <a:ext cx="548640" cy="53035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203911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853"/>
                </a:solidFill>
                <a:latin typeface="Georgia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19842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Capacidade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FCO, EBITDA, DSCR — capacidade de servir a divida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1947672"/>
            <a:ext cx="288036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2084831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DSCR: [__]x  |  ICR: [__]x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2569464"/>
            <a:ext cx="548640" cy="53035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266090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853"/>
                </a:solidFill>
                <a:latin typeface="Georgia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2606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Capital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2816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Alavancagem, PL, fontes alternativas, subordinacao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2569464"/>
            <a:ext cx="288036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2706624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Div/EBITDA: [__]x  |  PL: R$[__]M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3191256"/>
            <a:ext cx="548640" cy="53035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32826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853"/>
                </a:solidFill>
                <a:latin typeface="Georgia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32278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Colateral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Qualidade, liquidez, executabilidade das garantias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3191256"/>
            <a:ext cx="288036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33284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Cobertura: [__]x  |  LTV: [__]%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813048"/>
            <a:ext cx="548640" cy="53035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60" y="390448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853"/>
                </a:solidFill>
                <a:latin typeface="Georgia"/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8496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Condicoes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405993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Macro, ciclo setorial, sazonalidade, regulatorio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6840" y="3813048"/>
            <a:ext cx="288036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395020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F3D"/>
                </a:solidFill>
                <a:latin typeface="Calibri"/>
              </a:rPr>
              <a:t>[ ] Fav  [ ] Neutro  [ ] Adverso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346704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3374136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ANALISE ESG (Manual Sec. 4.4) — Rating ESG Interno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593592"/>
            <a:ext cx="685800" cy="32918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36576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Ambiental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365760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Passivos ambientais, licencamentos, riscos climaticos/transicao energetica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00016" y="3593592"/>
            <a:ext cx="12161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36592" y="3657600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F1F3D"/>
                </a:solidFill>
                <a:latin typeface="Calibri"/>
              </a:rPr>
              <a:t>[ ] OK  [ ] Pendencia  [ ] Red Flag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3977640"/>
            <a:ext cx="685800" cy="32918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404164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" y="404164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Relacoes trabalhistas, comunidade, diversidade, condicoes laborais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00016" y="3977640"/>
            <a:ext cx="12161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36592" y="4041648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F1F3D"/>
                </a:solidFill>
                <a:latin typeface="Calibri"/>
              </a:rPr>
              <a:t>[ ] OK  [ ] Pendencia  [ ] Red Flag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361688"/>
            <a:ext cx="685800" cy="329184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4425696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Governanca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44256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Controles internos, Lei 12.846 anticorrupcao, auditoria interna, LGPD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00016" y="4361688"/>
            <a:ext cx="1216152" cy="3291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36592" y="4425696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F1F3D"/>
                </a:solidFill>
                <a:latin typeface="Calibri"/>
              </a:rPr>
              <a:t>[ ] OK  [ ] Pendencia  [ ] Red Flag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4791456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4818888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ANALISE DE GESTAO E GOVERNANCA CORPORATIVA (Manual Sec. 4.3)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502920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CEO/CFO: track record, tempo no cargo — [___] anos  |  Formacao: [___]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" y="535838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Conselho: [__] membros, [__]% independentes — [Adequado/Insuficiente para RCVM]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56875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Risco pessoa-chave: [Alto/Medio/Baixo]  |  Plano de sucessao: [Sim/Nao]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601675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Plano estrategico alinhado a geracao de caixa: [Sim/Nao/Parcial]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3346704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53912" y="3374136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ANALISE DE INDUSTRIA — 5 FORCAS DE PORTER (Manual Sec. 4.2.1)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80760" y="36393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Rivalidade setorial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63840" y="36393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Concentracao, guerra de precos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29800" y="3593592"/>
            <a:ext cx="2057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93808" y="36393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[ ] Alta  [ ] Media  [ ] Baixa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80760" y="39684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Poder fornecedores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63840" y="39684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Insumos estrategicos, repasse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29800" y="3922776"/>
            <a:ext cx="2057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93808" y="39684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[ ] Alto  [ ] Medio  [ ] Baixo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80760" y="4297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Poder clientes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63840" y="42976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Concentracao, churn, contratos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29800" y="4251960"/>
            <a:ext cx="2057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893808" y="42976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[ ] Alto  [ ] Medio  [ ] Baixo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80760" y="46268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Novos entrantes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0" y="462686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Barreiras regulatorias, CAPEX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29800" y="4581144"/>
            <a:ext cx="2057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93808" y="462686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[ ] Alta  [ ] Media  [ ] Baixa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0760" y="4956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Substitutos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63840" y="49560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Disrupcao tecnologica, substituicao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29800" y="4910328"/>
            <a:ext cx="2057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893808" y="49560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F3D"/>
                </a:solidFill>
                <a:latin typeface="Calibri"/>
              </a:rPr>
              <a:t>[ ] Alto  [ ] Medio  [ ] Baixo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III. Analise Financeira — DRE, Balanco, Fluxo de Caixa e Indices de Credito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Etapa 3 | Modelo Excel: Abas 1.PREMISSAS → 2.DRE → 3.BALANCO → 4.FLUXO → 5.DIVIDA → 6.INDICES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PREMISSAS MACRO E OPERACIONAIS (Aba 1 — Repositorio Base v1.0)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1917192" cy="21945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353312"/>
            <a:ext cx="1862328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Premissa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316736"/>
            <a:ext cx="1917192" cy="21945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6376" y="1353312"/>
            <a:ext cx="1862328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Fonte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5280" y="1316736"/>
            <a:ext cx="1917192" cy="21945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1856" y="1353312"/>
            <a:ext cx="1862328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2022A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316736"/>
            <a:ext cx="1917192" cy="21945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353312"/>
            <a:ext cx="1862328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316736"/>
            <a:ext cx="1917192" cy="21945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2816" y="1353312"/>
            <a:ext cx="1862328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51720" y="1316736"/>
            <a:ext cx="1917192" cy="219456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8296" y="1353312"/>
            <a:ext cx="1862328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536192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563624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CDI (% a.a.)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1536192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6376" y="1563624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Fonte: BACEN Focus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5280" y="1536192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1856" y="1563624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59" y="1536192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7336" y="1563624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1536192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2816" y="1563624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1536192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8296" y="1563624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792224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1819656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IPCA (% a.a.)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09800" y="1792224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6376" y="1819656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Fonte: BACEN Focus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45280" y="1792224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1856" y="1819656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1792224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17336" y="1819656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1792224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2816" y="1819656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51720" y="1792224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8296" y="1819656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048256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2075688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USD/BRL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09800" y="2048256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6376" y="2075688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Fonte: BACEN Focus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45280" y="2048256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1856" y="2075688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59" y="2048256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7336" y="2075688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2048256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52816" y="2075688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1720" y="2048256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8296" y="2075688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304288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2331720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Cresc. Receita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09800" y="2304288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6376" y="2331720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Premissa central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45280" y="2304288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1856" y="2331720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59" y="2304288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17336" y="2331720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16240" y="2304288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2816" y="2331720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51720" y="2304288"/>
            <a:ext cx="191719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88296" y="2331720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560320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" y="2587751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Margem EBITDA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09800" y="2560320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6376" y="2587751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Calculado DRE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45280" y="2560320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81856" y="2587751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59" y="2560320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17336" y="2587751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16240" y="2560320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52816" y="2587751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51720" y="2560320"/>
            <a:ext cx="191719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88296" y="2587751"/>
            <a:ext cx="18623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926080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2953512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DRE CONSOLIDADA (Aba 2) + INDICES DE CREDITO (Aba 6)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Indicador (R$M)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33302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69878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2022A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92285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28861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2023A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51268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87844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2024A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10251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46827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LTM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69234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05810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2025E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228217" y="3163824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4793" y="3200400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0896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Receita Liquida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33302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69878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92285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28861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51268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87844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910251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6827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69234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05810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228217" y="340156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264793" y="342900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Margem Bruta 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33302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69878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592285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28861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251268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87844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910251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946827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69234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605810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228217" y="369417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264793" y="372160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+[_]pp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10896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EBITDA Ajustado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33302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69878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592285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28861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251268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87844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910251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6827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69234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05810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228217" y="3986784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64793" y="401421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10896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Margem EBITDA 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933302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69878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592285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628861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251268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87844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910251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946827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69234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605810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228217" y="4279392"/>
            <a:ext cx="1640694" cy="2743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264793" y="430682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+[_]pp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74320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10896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Resultado Financeiro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933302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969878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([__])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592285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28861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([__])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251268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287844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([__])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910251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946827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([__])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569234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605810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([__])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228217" y="457200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264793" y="459943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74320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10896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Lucro Liquido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933302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969878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592285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628861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251268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287844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910251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46827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569234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605810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228217" y="486460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264793" y="489204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10896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FCO (Fluxo Caixa Op.)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933302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969878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592285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628861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251268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287844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910251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946827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569234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605810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0228217" y="5157216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264793" y="5184648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10896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FCO / EBITDA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933302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969878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592285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628861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251268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287844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910251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946827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569234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605810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[__]%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228217" y="5449824"/>
            <a:ext cx="164069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264793" y="5477256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min 60%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74320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10896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Div.Liq./EBITDA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933302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969878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592285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628861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251268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287844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910251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946827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569234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605810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228217" y="5742432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264793" y="5769864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max [__]x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10896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DSCR (cob.servico div.)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933302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969878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592285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628861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251268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287844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6910251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946827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69234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605810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0228217" y="6035040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0264793" y="6062472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min 1,5x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74320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10896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ICR (EBITDA/Juros)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933302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969878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3592285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628861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251268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287844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910251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946827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8569234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605810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0228217" y="6327648"/>
            <a:ext cx="164069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0264793" y="6355080"/>
            <a:ext cx="15858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min 2,0x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74320" y="636422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Fontes: DFs auditadas [Auditor] (20XX-20XX) | LTM: periodo intermediario + trailing 12M | EBITDA reconstruido pelo analista independentemente | Covenants: Aba 6 do Modelo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III-B. Analise Forense da DRE — Red e Amber Flags (Manual Sec. 12.1)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Guia Perfeccionista: 'Numeros nao mentem — mas podem ser arranjados. Leia as NOTAS EXPLICATIVAS antes do balanco.'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78992"/>
            <a:ext cx="1161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Principio Fundamental: Cruzar DRE x DFC x BP. Se FCO/EBITDA &lt; 60%, ha problema de qualidade de lucro. Recalcular EBITDA do zero a partir do EBIT auditado.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669280" cy="11704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408176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RECEITA — Qualidade e Concentracao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6459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Cresc. receita x cresc. FCO | Concentracao clientes | PMR tendencia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947672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FCO negativo com receita crescendo | Cliente unico &gt;30% | Mudanca de politica de reconhecimento sem justificativa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669280" cy="11704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408176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CPV/CMV — Margem Bruta e Pressao de Custos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6459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Margem bruta historica e tendencia vs. setor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947672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Margem caindo &gt;3pp em 2 trimestres | CPV crescendo mais rapido que receita | Margem muito acima do setor (agressividade contabil)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33472"/>
            <a:ext cx="5669280" cy="11704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633472"/>
            <a:ext cx="5669280" cy="23774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67004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🟠 SG&amp;A — Alavancagem Operacional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2907791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SG&amp;A/Receita historico | Crescimento absoluto vs. receita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209544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B06"/>
                </a:solidFill>
                <a:latin typeface="Calibri"/>
              </a:rPr>
              <a:t>Sinal de alerta: SG&amp;A &gt;25% receita em distribuicao/atacado | Crescendo &gt;15%aa sem expansao | Itens 'nao recorrentes' que se repetem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633472"/>
            <a:ext cx="5669280" cy="11704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633472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267004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EBITDA — Ajustes e Qualidade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907791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EBITDA reportado vs. EBITDA caixa | Natureza dos ajustes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209544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Ajustado &gt;20% vs. IFRS | Equiv. patrim. positiva incluida | Ajustes recorrentes &gt;2 anos | 'Outros' &gt;15% do EBITDA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95344"/>
            <a:ext cx="5669280" cy="11704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895344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931920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RESULTADO FINANCEIRO — Custo da Divida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16966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Desp. financeira/EBITDA | Composicao (juros, cambio, multas, IOF)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471416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Taxa implicita (Desp.Fin./Div.Bruta) muito acima do CDI+spread negociado | Multas/juros mora crescentes | IOF desproporcional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895344"/>
            <a:ext cx="5669280" cy="117043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895344"/>
            <a:ext cx="5669280" cy="23774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3931920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🟠 IR/CSLL — Aliquota Efetiva e Diferidos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169663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Aliquota efetiva vs. 34% | Ativo/Passivo fiscal diferido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4471416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B06"/>
                </a:solidFill>
                <a:latin typeface="Calibri"/>
              </a:rPr>
              <a:t>Sinal de alerta: Aliquota &lt;15% sem explicacao clara | Ativo diferido &gt;20% PL sem perspectiva de realizacao | Planejamento fiscal agressivo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57216"/>
            <a:ext cx="5669280" cy="1170432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157216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5193792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QUALIDADE DO LUCRO — FCO vs. Lucro Liquido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543153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IQL = FCO/LL | Accruals (LL - FCO) | Dividendos vs. FCO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5733288"/>
            <a:ext cx="5532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IQL &lt; 0,7x por 2 anos | Accruals positivos e crescentes | LL positivo com FCO negativo | Dividendos pagos com divida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III-C. Analise Forense do Balanco Patrimonial — Red e Amber Flags (Manual Sec. 12.2)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Principio: verificar restricoes do caixa, aging de recebiveis, obsolescencia de estoques, CAPEX vs. depreciacao e partes relacionadas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137160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78992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11556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CAIXA — Qualidade e Restricoes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35331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Composicao do caixa | Restricoes de uso | Caixa minimo operacional (30-45 dias receita)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719072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Caixa elevado mas FCO negativo | Caixa restrito &gt;30% sem disclosure | Queda abrupta entre trimestres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78992"/>
            <a:ext cx="5669280" cy="137160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078992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11556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CONTAS A RECEBER — Qualidade e PDD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35331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PMR historico e tendencia | Aging (vencidos &gt;60/90/180d) | Cobertura PDD | Concentracao devedor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719072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PMR crescendo &gt;15d/ano | PDD caindo com inadimplencia crescente | Recebíveis partes relacionadas &gt;10%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42032"/>
            <a:ext cx="5669280" cy="1371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542032"/>
            <a:ext cx="5669280" cy="23774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57860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🟠 ESTOQUES — Giro e Obsolescencia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8163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PME historico vs. setor | Provisao obsolescencia | Metodo avaliacao (PEPS/custo medio)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182112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B06"/>
                </a:solidFill>
                <a:latin typeface="Calibri"/>
              </a:rPr>
              <a:t>Sinal de alerta: PME crescendo sem crescimento de receita | Provisao zerada em desaceleracao | Write-down subsequente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542032"/>
            <a:ext cx="5669280" cy="1371600"/>
          </a:xfrm>
          <a:prstGeom prst="rect">
            <a:avLst/>
          </a:prstGeom>
          <a:solidFill>
            <a:srgbClr val="FF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542032"/>
            <a:ext cx="5669280" cy="237744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57860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🔴 IMOBILIZADO — CAPEX e Impairment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28163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Intensidade CAPEX | Vida util dos ativos | Teste de impairment | Intangiveis nao amortizaveis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182112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53030"/>
                </a:solidFill>
                <a:latin typeface="Calibri"/>
              </a:rPr>
              <a:t>Sinal de alerta: CAPEX &lt;deprec. por &gt;2 anos (desinvestimento) | CAPEX &gt;3x deprec. sem expansao | Goodwill &gt;30% sem impairment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05072"/>
            <a:ext cx="5669280" cy="1371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05072"/>
            <a:ext cx="5669280" cy="23774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404164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🟠 PARTES RELACIONADAS — Transacoes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427939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Saldos a receber/pagar | Natureza das transacoes | Condicoes de mercado (arm's length)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645152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B06"/>
                </a:solidFill>
                <a:latin typeface="Calibri"/>
              </a:rPr>
              <a:t>Sinal de alerta: Emprestimos a socios/coligadas | Management fee excessivo | Transacoes sem substancia economica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005072"/>
            <a:ext cx="5669280" cy="1371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005072"/>
            <a:ext cx="5669280" cy="237744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041648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🟠 LIQUIDEZ E CAPITAL DE GIRO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427939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3748"/>
                </a:solidFill>
                <a:latin typeface="Calibri"/>
              </a:rPr>
              <a:t>O que analisar: Liquidez corrente/seca | CCC (DSO+DIO-DPO) | Working capital vs. necessidade operacional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645152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B06"/>
                </a:solidFill>
                <a:latin typeface="Calibri"/>
              </a:rPr>
              <a:t>Sinal de alerta: Liquidez corrente &lt;1,0x | CCC deteriorando sem expansao | Capital de giro negativo crescente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V. Estrutura da Operacao — Parametros, Garantias, Covenants e Precificacao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Etapa 4 | Modelo Excel Aba 5.DIVIDA | Politica de Garantias e LTV |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PARAMETROS FORMAIS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1920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3807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Modalidade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138074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[CCB/NCE/Deb/CRI/CRA/FIDC/Bond]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55064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170992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R$[___]M  |  Moeda: [BRL/USD]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84248"/>
            <a:ext cx="1920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0391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Prazo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20391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[___]m total  |  Carencia: [___]m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13432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3682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Indexador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236829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[CDI+/IPCA+/PRE/SELIC]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42615"/>
            <a:ext cx="1920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69747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Spread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" y="269747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[X,XX]% a.a. — base 252 DU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71800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026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Amortizacao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1136" y="302666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[Bullet/SAC/PRICE/Custom]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00984"/>
            <a:ext cx="1920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3558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Pagto Juros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33558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[Mensal/Trim./Semestral]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30168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68503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Finalidade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1136" y="3685031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[Descricao exata — sem desvio]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59352"/>
            <a:ext cx="192024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01421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Regime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31136" y="4014215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[RCVM 160 art.3o / CVM 400]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88536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34339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F3D"/>
                </a:solidFill>
                <a:latin typeface="Calibri"/>
              </a:rPr>
              <a:t>Comissao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1136" y="4343399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D3748"/>
                </a:solidFill>
                <a:latin typeface="Calibri"/>
              </a:rPr>
              <a:t>[___]% flat do volume emitido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078992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1106424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GARANTIAS E LTV (Manual Sec. 6.2 — Politica de Garantias)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1316736"/>
            <a:ext cx="1148486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7336" y="1353312"/>
            <a:ext cx="109362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Tipo de Garantia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47534" y="1316736"/>
            <a:ext cx="1148486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84110" y="1353312"/>
            <a:ext cx="109362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Valor Bruto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4308" y="1316736"/>
            <a:ext cx="1148486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0884" y="1353312"/>
            <a:ext cx="109362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Haircut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81083" y="1316736"/>
            <a:ext cx="1148486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17659" y="1353312"/>
            <a:ext cx="109362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Valor Liq.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47857" y="1316736"/>
            <a:ext cx="1148486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4433" y="1353312"/>
            <a:ext cx="109362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Cobertura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1545336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7336" y="1572768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[Recebiveis — diversificados]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7534" y="1545336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84110" y="1572768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4308" y="1545336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0884" y="1572768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20%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81083" y="1545336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17659" y="1572768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47857" y="1545336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4433" y="1572768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1801368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17336" y="1828800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[Imovel rural c/ benfeitorias]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47534" y="1801368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84110" y="1828800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4308" y="1801368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50884" y="1828800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30%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81083" y="1801368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17659" y="1828800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47857" y="1801368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84433" y="1828800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2057400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17336" y="2084831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[Equipamentos industriais]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47534" y="2057400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84110" y="2084831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4308" y="2057400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50884" y="2084831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45%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81083" y="2057400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17659" y="2084831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747857" y="2057400"/>
            <a:ext cx="1148486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784433" y="2084831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2313432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17336" y="2340864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[Aval pessoal solidario]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7534" y="2313432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84110" y="2340864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14308" y="2313432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50884" y="2340864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81083" y="2313432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17659" y="2340864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R$[__]M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47857" y="2313432"/>
            <a:ext cx="114848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784433" y="2340864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760" y="2569464"/>
            <a:ext cx="1148486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17336" y="2596896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47534" y="2569464"/>
            <a:ext cx="1148486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84110" y="2596896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R$[__]M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4308" y="2569464"/>
            <a:ext cx="1148486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50884" y="2596896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81083" y="2569464"/>
            <a:ext cx="1148486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17659" y="2596896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R$[__]M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747857" y="2569464"/>
            <a:ext cx="1148486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784433" y="2596896"/>
            <a:ext cx="1093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[__]x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80760" y="2834640"/>
            <a:ext cx="5833872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53912" y="2862072"/>
            <a:ext cx="57241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COVENANTS FINANCEIROS (Manual Sec. 6.3)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80760" y="3072384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17336" y="3108960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Covenant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39228" y="3072384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75804" y="3108960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Limite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97696" y="3072384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34272" y="3108960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Cure Period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456164" y="3072384"/>
            <a:ext cx="1440180" cy="2286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492740" y="3108960"/>
            <a:ext cx="138531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Consequencia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80760" y="330098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17336" y="332841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Div.Liq./EBITDA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39228" y="330098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75804" y="332841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max [___]x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997696" y="330098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034272" y="332841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 dias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456164" y="330098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492740" y="332841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Venc. antecipado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80760" y="3575303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17336" y="360273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ICR (EBITDA/Juros)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539228" y="3575303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575804" y="360273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min [___]x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97696" y="3575303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34272" y="360273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 dias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456164" y="3575303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492740" y="3602735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Venc. antecipado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80760" y="384962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117336" y="387705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DSCR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539228" y="384962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75804" y="387705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min [___]x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97696" y="384962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34272" y="387705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 dias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456164" y="384962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492740" y="387705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Cash sweep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80760" y="4123944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117336" y="415137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FCO/EBITDA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539228" y="4123944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75804" y="415137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min [___]%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997696" y="4123944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034272" y="415137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 dias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456164" y="4123944"/>
            <a:ext cx="14401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492740" y="415137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Waiver comite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80760" y="439826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17336" y="442569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Dividendos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539228" y="439826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575804" y="442569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max [__]% LL se Div/EBITDA&gt;[__]x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997696" y="439826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034272" y="442569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456164" y="4398264"/>
            <a:ext cx="144018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492740" y="4425696"/>
            <a:ext cx="13853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Restricao automatica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4626864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7472" y="4654296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PRECIFICACAO (Manual Sec. 6.4)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486460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Taxa = Custo de Captacao + Custo Capital Regulatorio + PD Esperada + Margem
Ref. NTN-B [prazo]: IPCA+[__]%  |  DI Futuro [venc.]: [__]%aa
Spread mercado ([Rating]): [Index]+[__]%  |  Proposto: [Index]+[__]%
Taxa implicita dívida atual: [__]% aa  |  Prêmio sobre Tesouro: [__]pp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74320" y="5596128"/>
            <a:ext cx="56692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47472" y="5623560"/>
            <a:ext cx="5559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CROSS-SELL E HISTORICO COMERCIAL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4320" y="5833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Exposicao atual grupo: R$[__]M  |  Historico pagamentos: [Pontual/Atrasos]  |  Receita cross-sell: R$[__]M/ano
Wallet share: [__]%  |  Outras instituicoes na operacao: [Sim/Nao] — [Nomes]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VI. Stress Test, Cenarios e Analise de Sensibilidade — Aba 7 do Modelo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Etapa 3 Sec. 5.4 | 4 Cenarios: Base / Otimista / Estressado / Downside Severo | Break-even + Early Warnings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PREMISSAS POR CENARIO (Repositorio Base v1.0 — Modulo 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Premissa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637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Unidade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528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185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OTIMISTA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281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ESTRESSADO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5172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829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DOWNSIDE SEVERO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55448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581912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Crescimento Receita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155448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6376" y="1581912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5280" y="155448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1856" y="1581912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[+8%]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59" y="155448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7336" y="1581912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[+12%]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155448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2816" y="1581912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[0%]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155448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8296" y="1581912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[-20%]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828800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185623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Margem EBITDA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09800" y="1828800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6376" y="185623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45280" y="1828800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1856" y="185623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[19%]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1828800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17336" y="185623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[22%]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1828800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2816" y="185623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[16%]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51720" y="1828800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8296" y="185623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[12%]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0312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213055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Taxa CDI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09800" y="210312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6376" y="213055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% a.a.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45280" y="210312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1856" y="213055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[___]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59" y="210312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7336" y="213055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[-100bps]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210312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52816" y="213055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[+115bps]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1720" y="210312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8296" y="213055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[+335bps]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377439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240487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CAPEX / Receita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09800" y="2377439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6376" y="240487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45280" y="2377439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1856" y="240487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[4%]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59" y="2377439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17336" y="240487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[3,5%]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16240" y="2377439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2816" y="240487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[4,5%]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51720" y="2377439"/>
            <a:ext cx="1917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88296" y="240487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[5,5%]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65176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" y="267919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BRL/USD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09800" y="265176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6376" y="267919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R$/US$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45280" y="265176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81856" y="267919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[5,78]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59" y="265176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17336" y="267919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[5,40]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16240" y="265176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52816" y="267919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[6,20]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51720" y="2651760"/>
            <a:ext cx="191719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88296" y="2679191"/>
            <a:ext cx="1862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[6,80]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990088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3017520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RESULTADOS POR CENARIO — METRICAS DE CREDITO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33302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69878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92285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28861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Otimista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51268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87844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Estressado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10251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46827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Downside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69234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05810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Covenant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228217" y="3227832"/>
            <a:ext cx="1640694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264793" y="3264408"/>
            <a:ext cx="158583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Break-even EBITDA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0896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Receita (R$M)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33302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69878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92285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28861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51268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87844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910251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6827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69234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05810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228217" y="346557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264793" y="349300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EBITDA (R$M)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33302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69878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592285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28861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251268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87844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910251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946827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[__]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69234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605810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228217" y="3767328"/>
            <a:ext cx="1640694" cy="283464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264793" y="3794760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1F3D"/>
                </a:solidFill>
                <a:latin typeface="Calibri"/>
              </a:rPr>
              <a:t>R$[__]M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10896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Div.Liq./EBITDA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33302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69878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592285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28861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251268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287844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910251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6827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569234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05810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max [__]x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228217" y="4069080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64793" y="4096512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10896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DSCR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933302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69878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592285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628861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251268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87844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910251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946827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569234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605810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min [__]x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228217" y="4370832"/>
            <a:ext cx="1640694" cy="2834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264793" y="4398264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[__]x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74320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10896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ICR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933302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969878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592285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28861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251268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287844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910251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946827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569234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605810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min [__]x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228217" y="4672584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264793" y="4700016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74320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10896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Covenants OK?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933302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969878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SIM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592285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628861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SIM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251268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287844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SIM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910251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46827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[SIM/NAO]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569234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605810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228217" y="4974336"/>
            <a:ext cx="1640694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264793" y="5001768"/>
            <a:ext cx="158583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76749"/>
                </a:solidFill>
                <a:latin typeface="Calibri"/>
              </a:rPr>
              <a:t>Queda max:[__]%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4320" y="5276088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47472" y="5303520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ANALISE DE SENSIBILIDADE — VARIAVEIS CRITICAS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74320" y="550468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748"/>
                </a:solidFill>
                <a:latin typeface="Calibri"/>
              </a:rPr>
              <a:t>Break-even EBITDA (DSCR=1,0x): R$[__]M = queda de [__]% vs. LTM — margem de seguranca: [__]pp
Sensib. Receita: queda de 10% → DSCR cai [__]x | Ponto critico: -[__]% de receita
Sensib. Cambial: [Aplicavel/NA] — para cada R$0,10 apreciacao BRL: EBITDA cai R$[__]M
Sensib. Juros: para cada +100bps CDI/IPCA: despesa financeira aumenta R$[__]M/ano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138160" y="5276088"/>
            <a:ext cx="3749039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211312" y="5303520"/>
            <a:ext cx="363931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INDICADORES EARLY WARNING (Manual Sec. 9.2)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13816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97B06"/>
                </a:solidFill>
                <a:latin typeface="Calibri"/>
              </a:rPr>
              <a:t>  ⚠  Receita cai &gt;20% vs. trimestre anterior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138160" y="5833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97B06"/>
                </a:solidFill>
                <a:latin typeface="Calibri"/>
              </a:rPr>
              <a:t>  ⚠  Margem EBITDA cai &gt;5pp em 2 trim.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138160" y="6135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97B06"/>
                </a:solidFill>
                <a:latin typeface="Calibri"/>
              </a:rPr>
              <a:t>  ⚠  Div.Liq./EBITDA sobe &gt;1,0x sem aprovacao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138160" y="6437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97B06"/>
                </a:solidFill>
                <a:latin typeface="Calibri"/>
              </a:rPr>
              <a:t>  ⚠  Atraso pagto fornecedores &gt;15 dias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VII. Scorecard de Rating, Alçada de Aprovacao e Recomendacao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Etapas 5 (Scorecard 70/30) e 6 (Comite de Credito) | Escala A → 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SCORECARD DE CREDITO — 70% QUANTITATIVO + 30% QUALITATIVO (Manual Sec. 7.1)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Criterio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637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528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185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Nota (1-10)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Score Pond.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281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51720" y="1316736"/>
            <a:ext cx="191719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8296" y="1353312"/>
            <a:ext cx="1862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Comentario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554480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58191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EBITDA / Juros (ICR)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1554480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6376" y="158191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5280" y="1554480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1856" y="158191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59" y="1554480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7336" y="158191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1554480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2816" y="158191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&gt;2,5x=10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1554480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8296" y="158191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1865376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1892807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Div. Liq. / EBITDA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09800" y="1865376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6376" y="1892807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45280" y="1865376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1856" y="1892807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1865376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17336" y="1892807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1865376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2816" y="1892807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&lt;2,0x=10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51720" y="1865376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8296" y="1892807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176272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2203703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DSCR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09800" y="2176272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6376" y="2203703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45280" y="2176272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1856" y="2203703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59" y="2176272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7336" y="2203703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2176272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52816" y="2203703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&gt;2,0x=10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1720" y="2176272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8296" y="2203703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2487168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2514599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FCO / EBITDA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09800" y="2487168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6376" y="2514599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45280" y="2487168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1856" y="2514599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59" y="2487168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17336" y="2514599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16240" y="2487168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2816" y="2514599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&gt;75%=10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51720" y="2487168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88296" y="2514599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798064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" y="282549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Cresc. Receita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09800" y="2798064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46376" y="282549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45280" y="2798064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81856" y="282549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59" y="2798064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17336" y="282549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16240" y="2798064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52816" y="282549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&gt;15%aa=10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51720" y="2798064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88296" y="282549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3108960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0896" y="313639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Margem EBITDA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09800" y="3108960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246376" y="313639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45280" y="3108960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81856" y="313639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80759" y="3108960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17336" y="313639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16240" y="3108960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52816" y="313639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Bench.setor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51720" y="3108960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88296" y="313639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3419856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" y="3447288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Carater / Historico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09800" y="3419856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246376" y="3447288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45280" y="3419856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81856" y="3447288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80759" y="3419856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17336" y="3447288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16240" y="3419856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52816" y="3447288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Sem ocorr.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951720" y="3419856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88296" y="3447288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730752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0896" y="3758184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Qualidade Gestao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09800" y="3730752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246376" y="3758184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45280" y="3730752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81856" y="3758184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80759" y="3730752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17336" y="3758184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16240" y="3730752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52816" y="3758184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TR&gt;5a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951720" y="3730752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988296" y="3758184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4041648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0896" y="4069080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Posic. Mercado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09800" y="4041648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246376" y="4069080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7%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45280" y="4041648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81856" y="4069080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080759" y="4041648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117336" y="4069080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16240" y="4041648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52816" y="4069080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Top3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951720" y="4041648"/>
            <a:ext cx="1917192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988296" y="4069080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4352544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10896" y="437997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Garantias/LTV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09800" y="4352544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246376" y="437997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5%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145280" y="4352544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181856" y="437997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80759" y="4352544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117336" y="437997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[__]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016240" y="4352544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52816" y="437997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Cob.&gt;1,5x=10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51720" y="4352544"/>
            <a:ext cx="1917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88296" y="4379976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[Comentario do analista]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4320" y="4663440"/>
            <a:ext cx="1917192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0896" y="469087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SCORE TOTAL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09800" y="4663440"/>
            <a:ext cx="1917192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246376" y="469087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100%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145280" y="4663440"/>
            <a:ext cx="1917192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81856" y="469087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080759" y="4663440"/>
            <a:ext cx="1917192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17336" y="469087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[___]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016240" y="4663440"/>
            <a:ext cx="1917192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52816" y="469087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951720" y="4663440"/>
            <a:ext cx="1917192" cy="2926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988296" y="4690872"/>
            <a:ext cx="1862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1F3D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274320" y="5047488"/>
            <a:ext cx="1161288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47472" y="5074920"/>
            <a:ext cx="11503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ESCALA DE RATING E ALCADA DE APROVACAO (Manual Sec. 7.2 e 8.1)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74320" y="5285232"/>
            <a:ext cx="2203704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5760" y="530352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Rating A — Score 8,5-10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5760" y="55778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Gerente Senior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569463" y="5285232"/>
            <a:ext cx="2203704" cy="25603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660903" y="530352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Rating B — Score 7,0-8,4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60903" y="55778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Comite Local (3 votantes)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864607" y="5285232"/>
            <a:ext cx="2203704" cy="256032"/>
          </a:xfrm>
          <a:prstGeom prst="rect">
            <a:avLst/>
          </a:prstGeom>
          <a:solidFill>
            <a:srgbClr val="D97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956048" y="530352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Rating C — Score 5,5-6,9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956048" y="55778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Comite Ampliado (Dir.+Risco)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159751" y="5285232"/>
            <a:ext cx="2203704" cy="25603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51192" y="530352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Rating D — Score 3,0-5,4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51192" y="55778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Comite Executivo (VP+Dir.)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454896" y="5285232"/>
            <a:ext cx="2203704" cy="256032"/>
          </a:xfrm>
          <a:prstGeom prst="rect">
            <a:avLst/>
          </a:prstGeom>
          <a:solidFill>
            <a:srgbClr val="7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546336" y="530352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Rating E — Score &lt;3,0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546336" y="55778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REPROVADO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74320" y="5870448"/>
            <a:ext cx="1161288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65760" y="5925312"/>
            <a:ext cx="8686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Rating calculado: [___]  |  Score: [__]/10  |  Alcada: [_______________]  |  Analista: _________________  |  Data: ___/___/______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144000" y="592531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F3D"/>
                </a:solidFill>
                <a:latin typeface="Calibri"/>
              </a:rPr>
              <a:t>[ ] APROVADO  [ ] APROVADO C/ RESSALVAS  [ ] REPROVADO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Etapa 7 — Monitoramento Pos-Aprovacao e Plano de Acao para Creditos Problemáticos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94944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2E8F0"/>
                </a:solidFill>
                <a:latin typeface="Calibri"/>
              </a:rPr>
              <a:t>Manual Sec. 9 — Frequencia de revisao por rating | Early Warnings | Watch List | PCLD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18288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718096"/>
                </a:solidFill>
                <a:latin typeface="Calibri"/>
              </a:rPr>
              <a:t>Memorando de Credito | Manual Analise Credito v2025.1 (7 Etapas) | Repositorio Premissas Base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640080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06424"/>
            <a:ext cx="62910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FREQUENCIA DE REVISAO POR RATING (Manual Sec. 9.1)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16736"/>
            <a:ext cx="158191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353312"/>
            <a:ext cx="1527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Rating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316736"/>
            <a:ext cx="158191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11095" y="1353312"/>
            <a:ext cx="1527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Revisao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316736"/>
            <a:ext cx="158191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353312"/>
            <a:ext cx="1527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Monitoramento Covenants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316736"/>
            <a:ext cx="1581912" cy="237744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1353312"/>
            <a:ext cx="1527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Reuniao com Gestao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54480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1581912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1554480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11095" y="1581912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Anual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554480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1581912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Trimestral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1554480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1496" y="1581912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Se covenant em alerta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883664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1911095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19" y="1883664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11095" y="1911095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Semestral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1883664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1296" y="1911095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Trimestral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1883664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11496" y="1911095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Semestral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212848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2240279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2212848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11095" y="2240279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Trimestral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212848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11296" y="2240279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Mensal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2212848"/>
            <a:ext cx="1581912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11496" y="2240279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Trimestral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542032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569464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D/E (Watch List)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19" y="2542032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11095" y="2569464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Mensal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2542032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1296" y="2569464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Mensal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2542032"/>
            <a:ext cx="158191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11496" y="2569464"/>
            <a:ext cx="1527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3030"/>
                </a:solidFill>
                <a:latin typeface="Calibri"/>
              </a:rPr>
              <a:t>Mensal — obrigatorio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953512"/>
            <a:ext cx="640080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2980944"/>
            <a:ext cx="62910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INDICADORES DE EARLY WARNING (Manual Sec. 9.2)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32004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B06"/>
                </a:solidFill>
                <a:latin typeface="Calibri"/>
              </a:rPr>
              <a:t>  ⚠  Atraso pagamentos a fornecedores &gt;15 dias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51129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B06"/>
                </a:solidFill>
                <a:latin typeface="Calibri"/>
              </a:rPr>
              <a:t>  ⚠  Queda receita &gt;20% vs. trimestre anterior (sem sazonalidade)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3822191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3030"/>
                </a:solidFill>
                <a:latin typeface="Calibri"/>
              </a:rPr>
              <a:t>  ⚠  Deterioracao EBITDA margin &gt;5pp em 2 trimestres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4133087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3030"/>
                </a:solidFill>
                <a:latin typeface="Calibri"/>
              </a:rPr>
              <a:t>  ⚠  Aumento Div.Liq./EBITDA &gt;1,0x sem justificativa aprovada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44398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3030"/>
                </a:solidFill>
                <a:latin typeface="Calibri"/>
              </a:rPr>
              <a:t>  ⚠  Violacao ou proxied violation de qualquer covenant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475488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B06"/>
                </a:solidFill>
                <a:latin typeface="Calibri"/>
              </a:rPr>
              <a:t>  ⚠  Noticias negativas: investigacoes, autuacoes, perda cliente-chave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506577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3030"/>
                </a:solidFill>
                <a:latin typeface="Calibri"/>
              </a:rPr>
              <a:t>  ⚠  Mudanca nao comunicada no controle acionario ou gestao senior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1078992"/>
            <a:ext cx="507492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31152" y="1106424"/>
            <a:ext cx="4965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PLANO DE ACAO — CREDITOS PROBLEMÁTICOS (Manual Sec. 9.3)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13258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F3D"/>
                </a:solidFill>
                <a:latin typeface="Calibri"/>
              </a:rPr>
              <a:t>Creditos Watch List ou Rating D/E exigem Plano de Acao em 5 dias uteis da deteccao: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160020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(i) Diagnostico da deterioracao — causa raiz identificada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196596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(ii) Proposta de reestruturacao ou execucao de garantias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233172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(iii) Estimativa de perda esperada: LGD / PD / EAD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269748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(iv) Provisao PCLD recomendada — alinhada ao BACEN 2682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306324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(v) Prazo de resolucao e proximo checkpoint com Diretoria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0" y="3566160"/>
            <a:ext cx="507492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31152" y="3593591"/>
            <a:ext cx="4965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DOCUMENTACAO OBRIGATORIA PARA O COMITE (Manual Sec. 8.2)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3822191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Memorando de Credito completo (este documento)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4169663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Scorecard de Rating com fundamentacao individual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4517136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Laudos de avaliacao das garantias (max. 90 dias)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4864608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Parecer juridico sobre garantias e estrutura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212079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Relatorio de compliance e KYC atualizado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5559552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Modelo financeiro Excel com 3 cenarios + sensibilidade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0" y="590702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✓  Ata do Comite com votacao e voto dissidente fundamentado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864608"/>
            <a:ext cx="6400800" cy="210312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7472" y="4892040"/>
            <a:ext cx="62910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CLAUSULAS DE MONITORAMENTO OBRIGATORIAS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51206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Entrega de DFs auditadas em ate [__] dias apos encerramento do exercicio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541324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Entrega de balancetes trimestrais em [__] dias apos encerramento do trimestre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5705855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Comunicado imediato de qualquer fato relevante material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599846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Certificado de conformidade de covenants assinado pelo CFO — trimestral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2910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  ▸  Autorizacao previa para: (i) alienacao de ativos &gt;R$[__]M, (ii) novo endividamento &gt;R$[__]M, (iii) mudanca de controle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