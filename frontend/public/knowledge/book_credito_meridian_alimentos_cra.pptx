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73152" cy="36576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GRUPO MERIDIAN ALIMENTOS S.A.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D4A853"/>
                </a:solidFill>
                <a:latin typeface="Georgia"/>
              </a:rPr>
              <a:t>Book de Credito — Oferta de CRA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240280"/>
            <a:ext cx="4572000" cy="27432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4231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R$ 150.000.000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44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Certificados de Recebiveis do Agronegocio — IPCA + 7,25% a.a. — Serie Unica — Prazo: 5 anos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18096"/>
                </a:solidFill>
                <a:latin typeface="Calibri"/>
              </a:rPr>
              <a:t>Rating: AA- (Fitch) | Regime: 476/CVM 160 | Lastro: Recebiveis Agroindustriais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947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Coordenador Lider: IB Agents Capital | Securitizadora: Eco Securitizacao S.A.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3949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Maro /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715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18096"/>
                </a:solidFill>
                <a:latin typeface="Calibri"/>
              </a:rPr>
              <a:t>ESTRITAMENTE CONFIDENCIAL — Destinado exclusivamente a Investidores Qualificados conforme RCVM 160/2022
Este material nao constitui oferta publica de valores mobiliarios. As informacoes aqui contidas sao baseadas em fontes consideradas confiaveis.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Cinco razoes estruturais para investir no CRA Meridian — retorno IPCA+7,25% com protecao AA-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Investment Highlights | Executive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18288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18096"/>
                </a:solidFill>
                <a:latin typeface="Calibri"/>
              </a:rPr>
              <a:t>Grupo Meridian Alimentos S.A. | Book de Credito — CRA R$150M | Confidencial — RCVM 160/2022 | Exclusivo para Investidores Qualificados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562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718096"/>
                </a:solidFill>
                <a:latin typeface="Calibri"/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320040" cy="32004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1887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20700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Lider no segmento de aves premium no Centro-Oeste com 18% de share de mercado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1170432"/>
            <a:ext cx="2651760" cy="3840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117043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F3D"/>
                </a:solidFill>
                <a:latin typeface="Calibri"/>
              </a:rPr>
              <a:t>IPCA+7,25%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1408176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18096"/>
                </a:solidFill>
                <a:latin typeface="Calibri"/>
              </a:rPr>
              <a:t>Taxa de emissao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48840"/>
            <a:ext cx="320040" cy="32004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1488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16712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EBITDA de R$187M em 2025 com CAGR de 22,3% a.a. nos ultimos 5 anos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2130552"/>
            <a:ext cx="2651760" cy="3840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213055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F3D"/>
                </a:solidFill>
                <a:latin typeface="Calibri"/>
              </a:rPr>
              <a:t>AA-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368296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18096"/>
                </a:solidFill>
                <a:latin typeface="Calibri"/>
              </a:rPr>
              <a:t>Rating Fitch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108960"/>
            <a:ext cx="320040" cy="32004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1089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1272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Cobertura de divida (DSCR) de 2,8x — covenant minimo de 1,5x com folga de 87%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3090672"/>
            <a:ext cx="2651760" cy="3840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30906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F3D"/>
                </a:solidFill>
                <a:latin typeface="Calibri"/>
              </a:rPr>
              <a:t>2,8x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328416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18096"/>
                </a:solidFill>
                <a:latin typeface="Calibri"/>
              </a:rPr>
              <a:t>DSCR 2025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069080"/>
            <a:ext cx="320040" cy="32004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4069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08736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Garantias de R$225M (1,5x de cobertura): recebiveis agroindustriais + imoveis rurais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4050792"/>
            <a:ext cx="2651760" cy="3840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9720" y="405079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F3D"/>
                </a:solidFill>
                <a:latin typeface="Calibri"/>
              </a:rPr>
              <a:t>1,5x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4288536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18096"/>
                </a:solidFill>
                <a:latin typeface="Calibri"/>
              </a:rPr>
              <a:t>Cobertura Garantias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029200"/>
            <a:ext cx="320040" cy="32004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50292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0474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Destinacao exclusiva: expansao da planta de Jatai (GO) — ROI projetado de 28% a.a.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5010912"/>
            <a:ext cx="2651760" cy="3840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9720" y="501091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F3D"/>
                </a:solidFill>
                <a:latin typeface="Calibri"/>
              </a:rPr>
              <a:t>R$150M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5248656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18096"/>
                </a:solidFill>
                <a:latin typeface="Calibri"/>
              </a:rPr>
              <a:t>Volume CRA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Meridian e a maior processadora independente de proteinas premium no Centro-Oeste — R$1,2Bi de receita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Modulo 3 — Visao Geral da Empresa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18288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18096"/>
                </a:solidFill>
                <a:latin typeface="Calibri"/>
              </a:rPr>
              <a:t>Grupo Meridian Alimentos S.A. | Book de Credito — CRA R$150M | Confidencial — RCVM 160/2022 | Exclusivo para Investidores Qualificados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562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718096"/>
                </a:solidFill>
                <a:latin typeface="Calibri"/>
              </a:rPr>
              <a:t>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430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F3D"/>
                </a:solidFill>
                <a:latin typeface="Calibri"/>
              </a:rPr>
              <a:t>PERFIL DA EMPRESA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38988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748"/>
                </a:solidFill>
                <a:latin typeface="Calibri"/>
              </a:rPr>
              <a:t>  • Fundacao: 1998, Jatai (GO)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70992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748"/>
                </a:solidFill>
                <a:latin typeface="Calibri"/>
              </a:rPr>
              <a:t>  • Atividade: Abate, processamento e exportacao de frangos e suinos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029967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748"/>
                </a:solidFill>
                <a:latin typeface="Calibri"/>
              </a:rPr>
              <a:t>  • Capacidade: 280.000 aves/dia (3 plantas: Jatai, Rio Verde, Mineiros)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35000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748"/>
                </a:solidFill>
                <a:latin typeface="Calibri"/>
              </a:rPr>
              <a:t>  • Clientes: 340+ redes de varejo + 18 paises exportacao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67004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748"/>
                </a:solidFill>
                <a:latin typeface="Calibri"/>
              </a:rPr>
              <a:t>  • Colaboradores: 6.800 diretos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99008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748"/>
                </a:solidFill>
                <a:latin typeface="Calibri"/>
              </a:rPr>
              <a:t>  • Modelo: Verticalizacao total — genetica, incubatorio, granja, abate, distribuicao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14300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F3D"/>
                </a:solidFill>
                <a:latin typeface="Calibri"/>
              </a:rPr>
              <a:t>HISTORICO &amp; TRAJETORIA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1389888"/>
            <a:ext cx="502920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38988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1998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0608" y="1408176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Fundacao — 1 planta, 40.000 aves/dia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1709928"/>
            <a:ext cx="502920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7099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2008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608" y="1728216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Certificacao habilitacao sanitaria MAPA — inicio exportacoes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2029967"/>
            <a:ext cx="502920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029967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2014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0608" y="2048255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Abertura 2a planta (Rio Verde) — capacidade 120.000 aves/dia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2350008"/>
            <a:ext cx="502920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235000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2018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8" y="2368296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Aquisicao Mineiros — integracao suinos (20.000 cab/mes)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2670048"/>
            <a:ext cx="502920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267004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2022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50608" y="2688336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Receita cruza R$800M — 1a emissao de debentures (R$80M, CDI+2,1%)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2990088"/>
            <a:ext cx="502920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299008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2025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50608" y="3008376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Receita R$1,2Bi | EBITDA R$187M | Rating AA- Fitch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349240"/>
            <a:ext cx="2606040" cy="8046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" y="5422392"/>
            <a:ext cx="2459736" cy="442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1F3D"/>
                </a:solidFill>
                <a:latin typeface="Calibri"/>
              </a:rPr>
              <a:t>R$1,2Bi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" y="5815949"/>
            <a:ext cx="2459736" cy="305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18096"/>
                </a:solidFill>
                <a:latin typeface="Calibri"/>
              </a:rPr>
              <a:t>Receita 2025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08960" y="5349240"/>
            <a:ext cx="2606040" cy="8046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82112" y="5422392"/>
            <a:ext cx="2459736" cy="442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1F3D"/>
                </a:solidFill>
                <a:latin typeface="Calibri"/>
              </a:rPr>
              <a:t>R$187M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82112" y="5815949"/>
            <a:ext cx="2459736" cy="305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18096"/>
                </a:solidFill>
                <a:latin typeface="Calibri"/>
              </a:rPr>
              <a:t>EBITDA 2025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5349240"/>
            <a:ext cx="2606040" cy="8046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16752" y="5422392"/>
            <a:ext cx="2459736" cy="442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1F3D"/>
                </a:solidFill>
                <a:latin typeface="Calibri"/>
              </a:rPr>
              <a:t>15,8%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16752" y="5815949"/>
            <a:ext cx="2459736" cy="305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18096"/>
                </a:solidFill>
                <a:latin typeface="Calibri"/>
              </a:rPr>
              <a:t>Margem EBITDA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78240" y="5349240"/>
            <a:ext cx="2606040" cy="8046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51392" y="5422392"/>
            <a:ext cx="2459736" cy="442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1F3D"/>
                </a:solidFill>
                <a:latin typeface="Calibri"/>
              </a:rPr>
              <a:t>2,1x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51392" y="5815949"/>
            <a:ext cx="2459736" cy="305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18096"/>
                </a:solidFill>
                <a:latin typeface="Calibri"/>
              </a:rPr>
              <a:t>Divida/EBITDA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60720" y="1005840"/>
            <a:ext cx="18288" cy="530352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TAM de R$379Bi em crescimento de 8,3% a.a. — Meridian capturou apenas 0,3% do mercado enderecavel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Modulo 4 — Analise de Mercado | TAM / SAM / SOM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18288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18096"/>
                </a:solidFill>
                <a:latin typeface="Calibri"/>
              </a:rPr>
              <a:t>Grupo Meridian Alimentos S.A. | Book de Credito — CRA R$150M | Confidencial — RCVM 160/2022 | Exclusivo para Investidores Qualificados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562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718096"/>
                </a:solidFill>
                <a:latin typeface="Calibri"/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5486400" cy="502920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1645920"/>
            <a:ext cx="4023360" cy="4023360"/>
          </a:xfrm>
          <a:prstGeom prst="rect">
            <a:avLst/>
          </a:prstGeom>
          <a:solidFill>
            <a:srgbClr val="BF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20240" y="2194560"/>
            <a:ext cx="2377440" cy="292608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234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F3D"/>
                </a:solidFill>
                <a:latin typeface="Calibri"/>
              </a:rPr>
              <a:t>TAM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508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F3D"/>
                </a:solidFill>
                <a:latin typeface="Calibri"/>
              </a:rPr>
              <a:t>R$379Bi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783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18096"/>
                </a:solidFill>
                <a:latin typeface="Calibri"/>
              </a:rPr>
              <a:t>Proteinas animais Brasil
CAGR 8,3% a.a. (ABPA/ABIEC)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B4A"/>
                </a:solidFill>
                <a:latin typeface="Calibri"/>
              </a:rPr>
              <a:t>SAM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  <a:latin typeface="Calibri"/>
              </a:rPr>
              <a:t>R$42Bi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286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18096"/>
                </a:solidFill>
                <a:latin typeface="Calibri"/>
              </a:rPr>
              <a:t>Aves premium CO
CAGR 11,2% a.a.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22860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25420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R$1,2Bi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2880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2E8F0"/>
                </a:solidFill>
                <a:latin typeface="Calibri"/>
              </a:rPr>
              <a:t>Share atual: 0,3% TAM
18% SAM premium 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14300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F3D"/>
                </a:solidFill>
                <a:latin typeface="Calibri"/>
              </a:rPr>
              <a:t>METODOLOGIA BOTTOM-UP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38988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TAM: 14,2M ton abatidas/ano (ABPA 2025) x ticket medio R$26,7/kg = R$379Bi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7373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SAM: segmento premium (cortes especiais, congelados, exportacao habilitada)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08483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  • Centro-Oeste: 18% do abate nacional | premium: 11% do segmento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43230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  • SAM = R$379Bi x 18% x 65% = R$42Bi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779776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SOM: share atual da Meridian no SAM = R$1,2Bi / R$42Bi = 2,9%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12724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  • Meta 2030: R$2,1Bi = 5,0% do SAM (CAGR 15%)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355080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18096"/>
                </a:solidFill>
                <a:latin typeface="Calibri"/>
              </a:rPr>
              <a:t>Fontes: ABPA Relatorio Anual 2025 | ABIEC | MAPA/DIPOA | IBGE PAM 2024 | Calculo proprio Meridian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Quatro drivers estruturais sustentam CAGR de 11% no mercado de proteinas premium ate 2030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Modulo 4 — Analise de Mercado | Drivers de Crescimento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18288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18096"/>
                </a:solidFill>
                <a:latin typeface="Calibri"/>
              </a:rPr>
              <a:t>Grupo Meridian Alimentos S.A. | Book de Credito — CRA R$150M | Confidencial — RCVM 160/2022 | Exclusivo para Investidores Qualificados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562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718096"/>
                </a:solidFill>
                <a:latin typeface="Calibri"/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5669280" cy="2468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143000"/>
            <a:ext cx="5669280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17957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DEMANDA GLOBAL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4356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2B4A"/>
                </a:solidFill>
                <a:latin typeface="Calibri"/>
              </a:rPr>
              <a:t>Populacao mundial atinge 8,5Bi em 2030 — proteina animal e o segmento de maior crescimento (FAO: +14% ate 2032)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819656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• Consumo per capita de frango no Brasil: 42,2kg/ano (3o maior do mundo — UBABEF 2025)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322576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• Exportacoes brasileiras de frango: US$10,2Bi em 2025 (+18% vs 2024) — SECEX/MDIC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825496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• Habilitacoes sanitarias MAPA: Brasil habilita 3 novos paises/ano em media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143000"/>
            <a:ext cx="5669280" cy="2468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143000"/>
            <a:ext cx="5669280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117957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EXPORTACOES &amp; CAMBIO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14356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2B4A"/>
                </a:solidFill>
                <a:latin typeface="Calibri"/>
              </a:rPr>
              <a:t>BRL/USD de R$5,80 (BACEN Focus dez/25) beneficia exportadores — Meridian exporta 28% da receita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1819656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• Mercados-alvo: Asia (38%), Oriente Medio (31%), Europa (22%), outros (9%)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2322576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• Margens de exportacao 4-6pp acima do mercado interno (hedge natural cambial)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2825496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• Novos mercados habilitados em 2025: Indonesia, Marrocos, Jordania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749039"/>
            <a:ext cx="5669280" cy="2468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749039"/>
            <a:ext cx="5669280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785615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PREMIUMIZACAO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04164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2B4A"/>
                </a:solidFill>
                <a:latin typeface="Calibri"/>
              </a:rPr>
              <a:t>Cortes especiais e semi-elaborados crescem 2,3x mais rapido que frango inteiro (Nielsen 2025)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425696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• Participacao de produtos de VA na receita Meridian: 41% em 2025 vs 28% em 2021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928616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• Ticket medio de cortes premium: R$34/kg vs R$19/kg no frango inteiro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431536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• Margem bruta premium: 38% vs 24% no produto in natura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749039"/>
            <a:ext cx="5669280" cy="2468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749039"/>
            <a:ext cx="5669280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59" y="3785615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CONSOLIDACAO DO SETOR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59" y="404164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2B4A"/>
                </a:solidFill>
                <a:latin typeface="Calibri"/>
              </a:rPr>
              <a:t>M&amp;A acelera: 14 transacoes no setor de proteinas em 2023-25 — independentes buscam escala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59" y="4425696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• Top 5 players concentram 62% do abate nacional — fragmentacao no mid-market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59" y="4928616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• Meridian e alvo potencial de M&amp;A / plataforma de consolidacao regional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59" y="5431536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• CAPEX de expansao Jatai gera +35.000 aves/dia = +12,5% de capacidade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355080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18096"/>
                </a:solidFill>
                <a:latin typeface="Calibri"/>
              </a:rPr>
              <a:t>Fontes: FAO Food Outlook 2025 | ABPA | SECEX/MDIC | Nielsen Retail 2025 | BACEN Focus dez/2025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Meridian lidera o segmento premium no Centro-Oeste — vantagem competitiva em 4 dos 5 atributos criticos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Modulo 4 — Analise de Mercado | Landscape Competitivo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18288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18096"/>
                </a:solidFill>
                <a:latin typeface="Calibri"/>
              </a:rPr>
              <a:t>Grupo Meridian Alimentos S.A. | Book de Credito — CRA R$150M | Confidencial — RCVM 160/2022 | Exclusivo para Investidores Qualificados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562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718096"/>
                </a:solidFill>
                <a:latin typeface="Calibri"/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88720"/>
            <a:ext cx="1421892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59" y="1225296"/>
            <a:ext cx="13487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Empresa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60219" y="1188720"/>
            <a:ext cx="1421892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05939" y="1225296"/>
            <a:ext cx="13487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Market Cap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188720"/>
            <a:ext cx="1421892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225296"/>
            <a:ext cx="13487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Receita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40579" y="1188720"/>
            <a:ext cx="1421892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6299" y="1225296"/>
            <a:ext cx="13487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Abate/dia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1188720"/>
            <a:ext cx="1421892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79" y="1225296"/>
            <a:ext cx="13487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Premium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20940" y="1188720"/>
            <a:ext cx="1421892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6660" y="1225296"/>
            <a:ext cx="13487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Exportacao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19" y="1188720"/>
            <a:ext cx="1421892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40" y="1225296"/>
            <a:ext cx="13487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Certificacoes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01300" y="1188720"/>
            <a:ext cx="1421892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47020" y="1225296"/>
            <a:ext cx="13487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Rating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1444752"/>
            <a:ext cx="142189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59" y="147218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JBS (JBSS3)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60219" y="1444752"/>
            <a:ext cx="142189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05939" y="147218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R$68Bi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1444752"/>
            <a:ext cx="142189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46120" y="147218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R$385Bi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0579" y="1444752"/>
            <a:ext cx="142189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86299" y="147218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5.200.000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59" y="1444752"/>
            <a:ext cx="142189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79" y="147218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Sim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0940" y="1444752"/>
            <a:ext cx="142189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66660" y="147218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52%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61119" y="1444752"/>
            <a:ext cx="142189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06840" y="147218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EUA/China/UE/Halal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401300" y="1444752"/>
            <a:ext cx="142189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47020" y="147218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BBB- S&amp;P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1719072"/>
            <a:ext cx="142189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59" y="174650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Marfrig (MRFG3)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60219" y="1719072"/>
            <a:ext cx="142189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05939" y="174650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R$9,2Bi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0" y="1719072"/>
            <a:ext cx="142189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46120" y="174650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R$89Bi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40579" y="1719072"/>
            <a:ext cx="142189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86299" y="174650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1.800.000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80759" y="1719072"/>
            <a:ext cx="142189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79" y="174650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Sim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0940" y="1719072"/>
            <a:ext cx="142189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66660" y="174650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41%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61119" y="1719072"/>
            <a:ext cx="142189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06840" y="174650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EUA/UE/Halal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401300" y="1719072"/>
            <a:ext cx="142189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7020" y="174650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B+ Fitch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1993392"/>
            <a:ext cx="142189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59" y="202082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Minerva (BEEF3)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760219" y="1993392"/>
            <a:ext cx="142189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805939" y="202082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R$4,1Bi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0" y="1993392"/>
            <a:ext cx="142189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46120" y="202082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R$38Bi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640579" y="1993392"/>
            <a:ext cx="142189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86299" y="202082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890.000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80759" y="1993392"/>
            <a:ext cx="142189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26479" y="202082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Parcial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0940" y="1993392"/>
            <a:ext cx="142189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66660" y="202082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68%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961119" y="1993392"/>
            <a:ext cx="142189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006840" y="202082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UE/Oriente Medio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401300" y="1993392"/>
            <a:ext cx="142189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447020" y="202082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BB- S&amp;P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0040" y="2267712"/>
            <a:ext cx="142189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5759" y="229514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Cooperativa XYZ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760219" y="2267712"/>
            <a:ext cx="142189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805939" y="229514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N/A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0" y="2267712"/>
            <a:ext cx="142189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246120" y="229514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R$3,2Bi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640579" y="2267712"/>
            <a:ext cx="142189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686299" y="229514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310.000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080759" y="2267712"/>
            <a:ext cx="142189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126479" y="229514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Parcial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520940" y="2267712"/>
            <a:ext cx="142189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566660" y="229514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12%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61119" y="2267712"/>
            <a:ext cx="142189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006840" y="229514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MAPA basico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401300" y="2267712"/>
            <a:ext cx="142189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447020" y="229514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N/R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" y="2542032"/>
            <a:ext cx="1421892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65759" y="256946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MERIDIAN (alvo)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760219" y="2542032"/>
            <a:ext cx="1421892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805939" y="256946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Nao listada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200400" y="2542032"/>
            <a:ext cx="1421892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246120" y="256946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R$1,2Bi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40579" y="2542032"/>
            <a:ext cx="1421892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686299" y="256946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280.000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080759" y="2542032"/>
            <a:ext cx="1421892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26479" y="256946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Sim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0940" y="2542032"/>
            <a:ext cx="1421892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66660" y="256946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28%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961119" y="2542032"/>
            <a:ext cx="1421892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006840" y="256946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MAPA/USDA/HALAL/CE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401300" y="2542032"/>
            <a:ext cx="1421892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447020" y="2569464"/>
            <a:ext cx="13487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AA- Fitch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20040" y="292608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F3D"/>
                </a:solidFill>
                <a:latin typeface="Calibri"/>
              </a:rPr>
              <a:t>POSICIONAMENTO ESTRATEGICO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20040" y="316382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• Meridian e o maior independente no segmento premium de aves no Centro-Oeste — sem concorrente direto na faixa de R$1-5Bi com o mesmo perfil de verticalizacao e certificacoes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20040" y="357530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• Vantagem em certificacoes: USDA + Halal + Uniao Europeia = acesso a mercados premium com spreads de R$4-8/kg acima da media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20040" y="398678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• Escala suficiente para capturar eficiencias mas abaixo do radar de M&amp;A defensivo dos grandes players — 'sweet spot' para crescimento organico + inorganico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20040" y="6355080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18096"/>
                </a:solidFill>
                <a:latin typeface="Calibri"/>
              </a:rPr>
              <a:t>Fontes: B3 (Nov/2025) | Relatorios anuais JBS/Marfrig/Minerva | MAPA/DIPOA | Estimativas Meridian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Tres moats estruturais protegem a posicao de Meridian — replicacao estimada em R$800M e 7 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Modulo 5 — Vantagens Competitivas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18288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18096"/>
                </a:solidFill>
                <a:latin typeface="Calibri"/>
              </a:rPr>
              <a:t>Grupo Meridian Alimentos S.A. | Book de Credito — CRA R$150M | Confidencial — RCVM 160/2022 | Exclusivo para Investidores Qualificados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562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718096"/>
                </a:solidFill>
                <a:latin typeface="Calibri"/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3749039" cy="502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143000"/>
            <a:ext cx="3749039" cy="292608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161288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D4A853"/>
                </a:solidFill>
                <a:latin typeface="Calibri"/>
              </a:rPr>
              <a:t>MOAT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11612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INTEGRACAO VERTICAL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481328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Do ovo ao prato: genetica propria → incubatorio → granja integrada (380 parceiros) → abate → distribuicao refrigerada propria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40280"/>
            <a:ext cx="35661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295144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  <a:latin typeface="Calibri"/>
              </a:rPr>
              <a:t>Custo de producao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49631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F3D"/>
                </a:solidFill>
                <a:latin typeface="Calibri"/>
              </a:rPr>
              <a:t>R$3,82/kg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77063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76749"/>
                </a:solidFill>
                <a:latin typeface="Calibri"/>
              </a:rPr>
              <a:t>vs R$4,65/kg media do setor (-18%)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154680"/>
            <a:ext cx="35661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209544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  <a:latin typeface="Calibri"/>
              </a:rPr>
              <a:t>Mortalidade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41071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F3D"/>
                </a:solidFill>
                <a:latin typeface="Calibri"/>
              </a:rPr>
              <a:t>2,1%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68503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76749"/>
                </a:solidFill>
                <a:latin typeface="Calibri"/>
              </a:rPr>
              <a:t>vs 3,8% media do setor — genetica propria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069080"/>
            <a:ext cx="35661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123944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  <a:latin typeface="Calibri"/>
              </a:rPr>
              <a:t>Conversao alimentar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32511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F3D"/>
                </a:solidFill>
                <a:latin typeface="Calibri"/>
              </a:rPr>
              <a:t>1,71kg/kg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9943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76749"/>
                </a:solidFill>
                <a:latin typeface="Calibri"/>
              </a:rPr>
              <a:t>vs 1,85kg/kg media — ganho de escala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1143000"/>
            <a:ext cx="3749039" cy="502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06240" y="1143000"/>
            <a:ext cx="3749039" cy="292608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79" y="1161288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D4A853"/>
                </a:solidFill>
                <a:latin typeface="Calibri"/>
              </a:rPr>
              <a:t>MOAT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19472" y="11612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CERTIFICACOES PREMIUM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1481328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Portfolio de certificacoes habilita os 3 mercados premium globais simultaneamente — barreira quasi-intransponivel para novos entrantes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79" y="2240280"/>
            <a:ext cx="35661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2295144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  <a:latin typeface="Calibri"/>
              </a:rPr>
              <a:t>USDA-FSIS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249631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F3D"/>
                </a:solidFill>
                <a:latin typeface="Calibri"/>
              </a:rPr>
              <a:t>Habilitado desde 2011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277063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76749"/>
                </a:solidFill>
                <a:latin typeface="Calibri"/>
              </a:rPr>
              <a:t>=&gt; mercado EUA aberto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79" y="3154680"/>
            <a:ext cx="35661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0" y="3209544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  <a:latin typeface="Calibri"/>
              </a:rPr>
              <a:t>Halal (BVQI)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341071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F3D"/>
                </a:solidFill>
                <a:latin typeface="Calibri"/>
              </a:rPr>
              <a:t>12 paises habilitados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368503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76749"/>
                </a:solidFill>
                <a:latin typeface="Calibri"/>
              </a:rPr>
              <a:t>=&gt; Oriente Medio + Asia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79" y="4069080"/>
            <a:ext cx="35661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0" y="4123944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  <a:latin typeface="Calibri"/>
              </a:rPr>
              <a:t>EU Health Cert.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432511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F3D"/>
                </a:solidFill>
                <a:latin typeface="Calibri"/>
              </a:rPr>
              <a:t>Habilitado CE/UK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459943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76749"/>
                </a:solidFill>
                <a:latin typeface="Calibri"/>
              </a:rPr>
              <a:t>=&gt; UE + UK pos-Brexit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60" y="1143000"/>
            <a:ext cx="3749039" cy="502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38160" y="1143000"/>
            <a:ext cx="3749039" cy="292608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0" y="1161288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D4A853"/>
                </a:solidFill>
                <a:latin typeface="Calibri"/>
              </a:rPr>
              <a:t>MOAT 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51392" y="11612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ESCALA + LOCALIZACAO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1481328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Centro-Oeste: maior produtor de graos do Brasil — custo de racao 12% abaixo da media nacional (proximidade CONAB/Jatai)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2240280"/>
            <a:ext cx="35661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21040" y="2295144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  <a:latin typeface="Calibri"/>
              </a:rPr>
              <a:t>Racao propria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249631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F3D"/>
                </a:solidFill>
                <a:latin typeface="Calibri"/>
              </a:rPr>
              <a:t>62% da necessidade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277063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76749"/>
                </a:solidFill>
                <a:latin typeface="Calibri"/>
              </a:rPr>
              <a:t>=&gt; hedge de custo de graos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0" y="3154680"/>
            <a:ext cx="35661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21040" y="3209544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  <a:latin typeface="Calibri"/>
              </a:rPr>
              <a:t>Distancia porto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341071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F3D"/>
                </a:solidFill>
                <a:latin typeface="Calibri"/>
              </a:rPr>
              <a:t>1.050km Paranagua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368503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76749"/>
                </a:solidFill>
                <a:latin typeface="Calibri"/>
              </a:rPr>
              <a:t>vs 1.800km media GO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29600" y="4069080"/>
            <a:ext cx="35661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21040" y="4123944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  <a:latin typeface="Calibri"/>
              </a:rPr>
              <a:t>Energia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21040" y="432511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F3D"/>
                </a:solidFill>
                <a:latin typeface="Calibri"/>
              </a:rPr>
              <a:t>R$0,31/kWh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1040" y="459943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76749"/>
                </a:solidFill>
                <a:latin typeface="Calibri"/>
              </a:rPr>
              <a:t>vs R$0,42/kWh media industrial SP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EBITDA cresceu de R$52M para R$187M em 5 anos (CAGR 22,3%) — expansao de 620bps na margem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Modulo 6 — Desempenho Financeiro | DRE Historica 2021-2025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18288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18096"/>
                </a:solidFill>
                <a:latin typeface="Calibri"/>
              </a:rPr>
              <a:t>Grupo Meridian Alimentos S.A. | Book de Credito — CRA R$150M | Confidencial — RCVM 160/2022 | Exclusivo para Investidores Qualificados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562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718096"/>
                </a:solidFill>
                <a:latin typeface="Calibri"/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88720"/>
            <a:ext cx="1549254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59" y="1225296"/>
            <a:ext cx="14761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Indicador (R$M)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87582" y="1188720"/>
            <a:ext cx="1549254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33302" y="1225296"/>
            <a:ext cx="14761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2021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55125" y="1188720"/>
            <a:ext cx="1549254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0845" y="1225296"/>
            <a:ext cx="14761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2022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2668" y="1188720"/>
            <a:ext cx="1549254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68388" y="1225296"/>
            <a:ext cx="14761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2023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90211" y="1188720"/>
            <a:ext cx="1549254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35931" y="1225296"/>
            <a:ext cx="14761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2024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57754" y="1188720"/>
            <a:ext cx="1549254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3474" y="1225296"/>
            <a:ext cx="14761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2025E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25297" y="1188720"/>
            <a:ext cx="1549254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71017" y="1225296"/>
            <a:ext cx="14761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CAGR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1444752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59" y="1472184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Receita Liquida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87582" y="1444752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33302" y="1472184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614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55125" y="1444752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00845" y="1472184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748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2668" y="1444752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68388" y="1472184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921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90211" y="1444752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35931" y="1472184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1.051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57754" y="1444752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03474" y="1472184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1.218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25297" y="1444752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71017" y="1472184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18,7%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1828800"/>
            <a:ext cx="1549254" cy="21945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59" y="1856231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Custo dos Produtos Vendidos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87582" y="1828800"/>
            <a:ext cx="1549254" cy="21945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33302" y="1856231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(487)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55125" y="1828800"/>
            <a:ext cx="1549254" cy="21945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00845" y="1856231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(586)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2668" y="1828800"/>
            <a:ext cx="1549254" cy="21945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68388" y="1856231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(708)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90211" y="1828800"/>
            <a:ext cx="1549254" cy="21945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35931" y="1856231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(798)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57754" y="1828800"/>
            <a:ext cx="1549254" cy="21945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03474" y="1856231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(915)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725297" y="1828800"/>
            <a:ext cx="1549254" cy="21945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71017" y="1856231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2212848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59" y="2240279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Lucro Bruto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87582" y="2212848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933302" y="2240279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127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455125" y="2212848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500845" y="2240279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162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2668" y="2212848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68388" y="2240279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213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90211" y="2212848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35931" y="2240279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253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57754" y="2212848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03474" y="2240279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303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725297" y="2212848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71017" y="2240279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24,3%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2596896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59" y="2624327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Margem Bruta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87582" y="2596896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933302" y="2624327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20,7%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455125" y="2596896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500845" y="2624327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21,7%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022668" y="2596896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068388" y="2624327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23,1%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90211" y="2596896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35931" y="2624327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24,1%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157754" y="2596896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03474" y="2624327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24,9%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725297" y="2596896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771017" y="2624327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+620bps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40" y="2980944"/>
            <a:ext cx="1549254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65759" y="3008375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EBITDA Ajustado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887582" y="2980944"/>
            <a:ext cx="1549254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933302" y="3008375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52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455125" y="2980944"/>
            <a:ext cx="1549254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500845" y="3008375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72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022668" y="2980944"/>
            <a:ext cx="1549254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068388" y="3008375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105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590211" y="2980944"/>
            <a:ext cx="1549254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635931" y="3008375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151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157754" y="2980944"/>
            <a:ext cx="1549254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203474" y="3008375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187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725297" y="2980944"/>
            <a:ext cx="1549254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771017" y="3008375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22,3%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20040" y="3364992"/>
            <a:ext cx="1549254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65759" y="3392424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76749"/>
                </a:solidFill>
                <a:latin typeface="Calibri"/>
              </a:rPr>
              <a:t>Margem EBITDA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87582" y="3364992"/>
            <a:ext cx="1549254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933302" y="3392424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76749"/>
                </a:solidFill>
                <a:latin typeface="Calibri"/>
              </a:rPr>
              <a:t>8,5%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455125" y="3364992"/>
            <a:ext cx="1549254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500845" y="3392424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76749"/>
                </a:solidFill>
                <a:latin typeface="Calibri"/>
              </a:rPr>
              <a:t>9,6%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022668" y="3364992"/>
            <a:ext cx="1549254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068388" y="3392424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76749"/>
                </a:solidFill>
                <a:latin typeface="Calibri"/>
              </a:rPr>
              <a:t>11,4%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590211" y="3364992"/>
            <a:ext cx="1549254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635931" y="3392424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76749"/>
                </a:solidFill>
                <a:latin typeface="Calibri"/>
              </a:rPr>
              <a:t>14,4%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157754" y="3364992"/>
            <a:ext cx="1549254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203474" y="3392424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76749"/>
                </a:solidFill>
                <a:latin typeface="Calibri"/>
              </a:rPr>
              <a:t>15,4%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725297" y="3364992"/>
            <a:ext cx="1549254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771017" y="3392424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76749"/>
                </a:solidFill>
                <a:latin typeface="Calibri"/>
              </a:rPr>
              <a:t>+690bps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20040" y="3749039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65759" y="3776472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D&amp;A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87582" y="3749039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933302" y="3776472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(28)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455125" y="3749039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500845" y="3776472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(31)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022668" y="3749039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068388" y="3776472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(35)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590211" y="3749039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635931" y="3776472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(40)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157754" y="3749039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203474" y="3776472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(44)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725297" y="3749039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771017" y="3776472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—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20040" y="4133087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65759" y="4160520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EBIT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887582" y="4133087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933302" y="4160520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24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455125" y="4133087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500845" y="4160520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41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022668" y="4133087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068388" y="4160520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70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590211" y="4133087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635931" y="4160520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111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157754" y="4133087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203474" y="4160520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143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725297" y="4133087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771017" y="4160520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56,4%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20040" y="4517136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65759" y="4544568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3030"/>
                </a:solidFill>
                <a:latin typeface="Calibri"/>
              </a:rPr>
              <a:t>Resultado Financeiro Liq.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887582" y="4517136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933302" y="4544568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3030"/>
                </a:solidFill>
                <a:latin typeface="Calibri"/>
              </a:rPr>
              <a:t>(18)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3455125" y="4517136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3500845" y="4544568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3030"/>
                </a:solidFill>
                <a:latin typeface="Calibri"/>
              </a:rPr>
              <a:t>(22)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022668" y="4517136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5068388" y="4544568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3030"/>
                </a:solidFill>
                <a:latin typeface="Calibri"/>
              </a:rPr>
              <a:t>(28)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590211" y="4517136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635931" y="4544568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3030"/>
                </a:solidFill>
                <a:latin typeface="Calibri"/>
              </a:rPr>
              <a:t>(36)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8157754" y="4517136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203474" y="4544568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3030"/>
                </a:solidFill>
                <a:latin typeface="Calibri"/>
              </a:rPr>
              <a:t>(41)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9725297" y="4517136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771017" y="4544568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3030"/>
                </a:solidFill>
                <a:latin typeface="Calibri"/>
              </a:rPr>
              <a:t>—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20040" y="4901183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365759" y="4928616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Lucro Liquido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887582" y="4901183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933302" y="4928616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4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3455125" y="4901183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3500845" y="4928616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13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5022668" y="4901183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068388" y="4928616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29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590211" y="4901183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635931" y="4928616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52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8157754" y="4901183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8203474" y="4928616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71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9725297" y="4901183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9771017" y="4928616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104,5%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320040" y="5285232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365759" y="5312664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Margem Liquida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887582" y="5285232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933302" y="5312664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0,7%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3455125" y="5285232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3500845" y="5312664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1,7%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5022668" y="5285232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068388" y="5312664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3,2%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590211" y="5285232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6635931" y="5312664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4,9%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8157754" y="5285232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8203474" y="5312664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5,8%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9725297" y="5285232"/>
            <a:ext cx="154925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9771017" y="5312664"/>
            <a:ext cx="147610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+510bps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320040" y="6355080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18096"/>
                </a:solidFill>
                <a:latin typeface="Calibri"/>
              </a:rPr>
              <a:t>Fontes: DFs auditadas Meridian (EY, 2021-2024) | 2025E: estimativa da administracao (nao auditada) | EBITDA ajustado exclui LTIP e itens nao recorrentes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Alavancagem de 2,1x e DSCR de 2,8x demonstram capacidade robusta de servico da divida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Modulo 6 — Desempenho Financeiro | Metricas de Credito 2021-2025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18288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18096"/>
                </a:solidFill>
                <a:latin typeface="Calibri"/>
              </a:rPr>
              <a:t>Grupo Meridian Alimentos S.A. | Book de Credito — CRA R$150M | Confidencial — RCVM 160/2022 | Exclusivo para Investidores Qualificados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562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718096"/>
                </a:solidFill>
                <a:latin typeface="Calibri"/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88720"/>
            <a:ext cx="1627632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59" y="1225296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Metrica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65960" y="1188720"/>
            <a:ext cx="1627632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79" y="1225296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2021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11880" y="1188720"/>
            <a:ext cx="1627632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1225296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2022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57800" y="1188720"/>
            <a:ext cx="1627632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1225296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2023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03720" y="1188720"/>
            <a:ext cx="1627632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1225296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2024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9640" y="1188720"/>
            <a:ext cx="1627632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1225296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2025E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95560" y="1188720"/>
            <a:ext cx="1627632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0" y="1225296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Covenant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1444752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59" y="1472184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Divida Bruta Total (R$M)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65960" y="1444752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11679" y="1472184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158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11880" y="1444752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0" y="1472184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189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57800" y="1444752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0" y="1472184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234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03720" y="1444752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0" y="1472184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278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49640" y="1444752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0" y="1472184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310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195560" y="1444752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0" y="1472184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1828800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59" y="1856231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(-) Caixa e Equiv. (R$M)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65960" y="1828800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11679" y="1856231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(42)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11880" y="1828800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1856231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(51)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57800" y="1828800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0" y="1856231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(68)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03720" y="1828800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0" y="1856231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(83)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49640" y="1828800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95360" y="1856231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(98)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195560" y="1828800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241280" y="1856231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2212848"/>
            <a:ext cx="1627632" cy="21945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59" y="2240279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Divida Liquida (R$M)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65960" y="2212848"/>
            <a:ext cx="1627632" cy="21945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11679" y="2240279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116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11880" y="2212848"/>
            <a:ext cx="1627632" cy="21945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0" y="2240279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138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257800" y="2212848"/>
            <a:ext cx="1627632" cy="21945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03520" y="2240279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166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03720" y="2212848"/>
            <a:ext cx="1627632" cy="21945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949440" y="2240279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195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49640" y="2212848"/>
            <a:ext cx="1627632" cy="21945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95360" y="2240279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212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195560" y="2212848"/>
            <a:ext cx="1627632" cy="21945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241280" y="2240279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2596896"/>
            <a:ext cx="1627632" cy="21945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59" y="2624327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EBITDA Ajustado (R$M)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65960" y="2596896"/>
            <a:ext cx="1627632" cy="21945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11679" y="2624327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52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11880" y="2596896"/>
            <a:ext cx="1627632" cy="21945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57600" y="2624327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72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257800" y="2596896"/>
            <a:ext cx="1627632" cy="21945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303520" y="2624327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105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903720" y="2596896"/>
            <a:ext cx="1627632" cy="21945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949440" y="2624327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151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49640" y="2596896"/>
            <a:ext cx="1627632" cy="21945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595360" y="2624327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187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195560" y="2596896"/>
            <a:ext cx="1627632" cy="21945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241280" y="2624327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—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40" y="2980944"/>
            <a:ext cx="1627632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65759" y="3008375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Divida Liq./EBITDA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965960" y="2980944"/>
            <a:ext cx="1627632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011679" y="3008375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2,2x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611880" y="2980944"/>
            <a:ext cx="1627632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657600" y="3008375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1,9x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257800" y="2980944"/>
            <a:ext cx="1627632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303520" y="3008375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1,6x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903720" y="2980944"/>
            <a:ext cx="1627632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949440" y="3008375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1,3x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549640" y="2980944"/>
            <a:ext cx="1627632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595360" y="3008375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1,1x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195560" y="2980944"/>
            <a:ext cx="1627632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241280" y="3008375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max 3,5x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20040" y="3364992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65759" y="3392424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Divida Bruta/EBITDA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965960" y="3364992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011679" y="3392424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3,0x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11880" y="3364992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657600" y="3392424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2,6x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257800" y="3364992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303520" y="3392424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2,2x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903720" y="3364992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949440" y="3392424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1,8x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549640" y="3364992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595360" y="3392424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1,7x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195560" y="3364992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241280" y="3392424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max 4,0x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20040" y="3749039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65759" y="377647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EBITDA/Juros (ICR)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965960" y="3749039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011679" y="377647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2,1x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611880" y="3749039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657600" y="377647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2,4x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257800" y="3749039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303520" y="377647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2,8x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903720" y="3749039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949440" y="377647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3,2x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549640" y="3749039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595360" y="377647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3,8x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0195560" y="3749039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241280" y="377647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min 2,0x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20040" y="4133087"/>
            <a:ext cx="1627632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65759" y="416052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DSCR (EBITDA/Servico Div.)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965960" y="4133087"/>
            <a:ext cx="1627632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011679" y="416052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1,4x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611880" y="4133087"/>
            <a:ext cx="1627632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657600" y="416052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1,6x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257800" y="4133087"/>
            <a:ext cx="1627632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303520" y="416052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1,9x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903720" y="4133087"/>
            <a:ext cx="1627632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949440" y="416052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2,4x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549640" y="4133087"/>
            <a:ext cx="1627632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595360" y="416052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2,8x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195560" y="4133087"/>
            <a:ext cx="1627632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0241280" y="416052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min 1,5x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20040" y="4517136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65759" y="4544568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FCO/EBITDA (conversao)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965960" y="4517136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011679" y="4544568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68%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3611880" y="4517136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3657600" y="4544568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71%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257800" y="4517136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5303520" y="4544568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74%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903720" y="4517136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949440" y="4544568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77%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8549640" y="4517136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595360" y="4544568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79%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0195560" y="4517136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0241280" y="4544568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min 60%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20040" y="4901183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365759" y="4928616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Capex/Receita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965960" y="4901183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2011679" y="4928616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6,8%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3611880" y="4901183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3657600" y="4928616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6,2%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5257800" y="4901183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303520" y="4928616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5,9%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903720" y="4901183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949440" y="4928616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5,4%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8549640" y="4901183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8595360" y="4928616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8,1%*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0195560" y="4901183"/>
            <a:ext cx="162763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0241280" y="4928616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—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20040" y="6355080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18096"/>
                </a:solidFill>
                <a:latin typeface="Calibri"/>
              </a:rPr>
              <a:t>* Capex 2025 inclui R$95M da expansao da planta Jatai (CRA) | Fontes: DFs auditadas Meridian | Calculos: IB Agents Capital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Stress test: covenants mantidos mesmo em queda de 30% do EBITDA — margem de seguranca estrutural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Modulo 6 — Analise de Cenarios | Stress Test 2026-2030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18288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18096"/>
                </a:solidFill>
                <a:latin typeface="Calibri"/>
              </a:rPr>
              <a:t>Grupo Meridian Alimentos S.A. | Book de Credito — CRA R$150M | Confidencial — RCVM 160/2022 | Exclusivo para Investidores Qualificados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562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718096"/>
                </a:solidFill>
                <a:latin typeface="Calibri"/>
              </a:rPr>
              <a:t>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14300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F3D"/>
                </a:solidFill>
                <a:latin typeface="Calibri"/>
              </a:rPr>
              <a:t>PREMISSAS DOS CENARIOS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89888"/>
            <a:ext cx="1371600" cy="237744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38988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BULL (+15%)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408176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Expansao de volumes acelerada, BRL/USD acima de R$5,90, premium mix 48%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664208"/>
            <a:ext cx="1371600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66420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BASE (0%)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1682496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Crescimento organico conforme historico — projecoes base da administracao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938528"/>
            <a:ext cx="1371600" cy="237744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93852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BEAR (-15%)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1956816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Retorno de grippe aviaria em mercados-chave, compressao de margens, cambio R$5,40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212848"/>
            <a:ext cx="1371600" cy="237744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21284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STRESSED (-30%)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2231136"/>
            <a:ext cx="10058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Combinacao de choques: surto sanitario + credito restrito + cambio valorizado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578608"/>
            <a:ext cx="1901952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59" y="261518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Cenario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40280" y="2578608"/>
            <a:ext cx="1901952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0" y="261518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EBITDA 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2578608"/>
            <a:ext cx="1901952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0" y="261518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Div.Liq/EBITDA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2578608"/>
            <a:ext cx="1901952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261518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ICR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01000" y="2578608"/>
            <a:ext cx="1901952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0" y="261518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DSCR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21240" y="2578608"/>
            <a:ext cx="1901952" cy="25603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60" y="261518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Covenant OK?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834640"/>
            <a:ext cx="190195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59" y="286207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Bull (+15%)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40280" y="2834640"/>
            <a:ext cx="190195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86000" y="286207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R$215M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60520" y="2834640"/>
            <a:ext cx="190195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40" y="286207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0,9x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60" y="2834640"/>
            <a:ext cx="190195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0" y="286207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4,4x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01000" y="2834640"/>
            <a:ext cx="190195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0" y="286207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3,2x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21240" y="2834640"/>
            <a:ext cx="190195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66960" y="286207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SIM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3127248"/>
            <a:ext cx="1901952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59" y="3154679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Base (0%)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40280" y="3127248"/>
            <a:ext cx="1901952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86000" y="3154679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R$187M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60520" y="3127248"/>
            <a:ext cx="1901952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06240" y="3154679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1,1x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80760" y="3127248"/>
            <a:ext cx="1901952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26480" y="3154679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3,8x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01000" y="3127248"/>
            <a:ext cx="1901952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46720" y="3154679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2,8x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921240" y="3127248"/>
            <a:ext cx="1901952" cy="219456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966960" y="3154679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SIM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3419856"/>
            <a:ext cx="190195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59" y="344728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4A853"/>
                </a:solidFill>
                <a:latin typeface="Calibri"/>
              </a:rPr>
              <a:t>Bear (-15%)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40280" y="3419856"/>
            <a:ext cx="190195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0" y="344728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4A853"/>
                </a:solidFill>
                <a:latin typeface="Calibri"/>
              </a:rPr>
              <a:t>R$159M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60520" y="3419856"/>
            <a:ext cx="190195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06240" y="344728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4A853"/>
                </a:solidFill>
                <a:latin typeface="Calibri"/>
              </a:rPr>
              <a:t>1,3x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80760" y="3419856"/>
            <a:ext cx="190195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26480" y="344728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4A853"/>
                </a:solidFill>
                <a:latin typeface="Calibri"/>
              </a:rPr>
              <a:t>3,2x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01000" y="3419856"/>
            <a:ext cx="190195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46720" y="344728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4A853"/>
                </a:solidFill>
                <a:latin typeface="Calibri"/>
              </a:rPr>
              <a:t>2,4x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921240" y="3419856"/>
            <a:ext cx="190195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966960" y="344728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4A853"/>
                </a:solidFill>
                <a:latin typeface="Calibri"/>
              </a:rPr>
              <a:t>SIM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3712464"/>
            <a:ext cx="1901952" cy="21945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59" y="3739896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3030"/>
                </a:solidFill>
                <a:latin typeface="Calibri"/>
              </a:rPr>
              <a:t>Stressed (-30%)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40280" y="3712464"/>
            <a:ext cx="1901952" cy="21945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286000" y="3739896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3030"/>
                </a:solidFill>
                <a:latin typeface="Calibri"/>
              </a:rPr>
              <a:t>R$131M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60520" y="3712464"/>
            <a:ext cx="1901952" cy="21945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06240" y="3739896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3030"/>
                </a:solidFill>
                <a:latin typeface="Calibri"/>
              </a:rPr>
              <a:t>1,6x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80760" y="3712464"/>
            <a:ext cx="1901952" cy="21945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26480" y="3739896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3030"/>
                </a:solidFill>
                <a:latin typeface="Calibri"/>
              </a:rPr>
              <a:t>2,7x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001000" y="3712464"/>
            <a:ext cx="1901952" cy="21945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046720" y="3739896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3030"/>
                </a:solidFill>
                <a:latin typeface="Calibri"/>
              </a:rPr>
              <a:t>2,0x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921240" y="3712464"/>
            <a:ext cx="1901952" cy="21945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966960" y="3739896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3030"/>
                </a:solidFill>
                <a:latin typeface="Calibri"/>
              </a:rPr>
              <a:t>SIM *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20040" y="40233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53030"/>
                </a:solidFill>
                <a:latin typeface="Calibri"/>
              </a:rPr>
              <a:t>* No cenario stressed, DSCR de 2,0x esta exatamente no limite do covenant minimo (1,5x). Breach ocorre apenas com queda de EBITDA &gt; 46% — nao projetado em nenhum cenario historico.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20040" y="438912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F3D"/>
                </a:solidFill>
                <a:latin typeface="Calibri"/>
              </a:rPr>
              <a:t>THRESHOLD DE BREACH (EBITDA minimo para manutencao dos covenants)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0040" y="4645152"/>
            <a:ext cx="3200400" cy="3017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11480" y="46634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F3D"/>
                </a:solidFill>
                <a:latin typeface="Calibri"/>
              </a:rPr>
              <a:t>Divida Liq./EBITDA max 3,5x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566160" y="4645152"/>
            <a:ext cx="2011680" cy="301752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657600" y="46634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53030"/>
                </a:solidFill>
                <a:latin typeface="Calibri"/>
              </a:rPr>
              <a:t>EBITDA min: R$61M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69280" y="4681728"/>
            <a:ext cx="6309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76749"/>
                </a:solidFill>
                <a:latin typeface="Calibri"/>
              </a:rPr>
              <a:t>Margem: -67% vs EBITDA 2025 — altamente improvavel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" y="4992624"/>
            <a:ext cx="3200400" cy="3017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11480" y="501091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F3D"/>
                </a:solidFill>
                <a:latin typeface="Calibri"/>
              </a:rPr>
              <a:t>ICR min 2,0x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566160" y="4992624"/>
            <a:ext cx="2011680" cy="301752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657600" y="501091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53030"/>
                </a:solidFill>
                <a:latin typeface="Calibri"/>
              </a:rPr>
              <a:t>EBITDA min: R$82M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69280" y="5029200"/>
            <a:ext cx="6309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76749"/>
                </a:solidFill>
                <a:latin typeface="Calibri"/>
              </a:rPr>
              <a:t>Margem: -56% vs EBITDA 2025 — nao projetado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20040" y="5340096"/>
            <a:ext cx="3200400" cy="3017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11480" y="5358383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F3D"/>
                </a:solidFill>
                <a:latin typeface="Calibri"/>
              </a:rPr>
              <a:t>DSCR min 1,5x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566160" y="5340096"/>
            <a:ext cx="2011680" cy="301752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657600" y="5358383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53030"/>
                </a:solidFill>
                <a:latin typeface="Calibri"/>
              </a:rPr>
              <a:t>EBITDA min: R$100M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669280" y="5376672"/>
            <a:ext cx="6309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76749"/>
                </a:solidFill>
                <a:latin typeface="Calibri"/>
              </a:rPr>
              <a:t>Margem: -46% vs EBITDA 2025 — cenario extremo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20040" y="6355080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18096"/>
                </a:solidFill>
                <a:latin typeface="Calibri"/>
              </a:rPr>
              <a:t>Metodologia: choque de EBITDA aplicado sobre base 2025 com estrutura de divida e amortizacao fixas conforme term sheet proposto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Garantias de R$225M (1,5x de cobertura) — recebiveis agroindustriais + imoveis rurais + aval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Modulo 8 — Estrutura da Operacao | Garantias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18288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18096"/>
                </a:solidFill>
                <a:latin typeface="Calibri"/>
              </a:rPr>
              <a:t>Grupo Meridian Alimentos S.A. | Book de Credito — CRA R$150M | Confidencial — RCVM 160/2022 | Exclusivo para Investidores Qualificados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562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718096"/>
                </a:solidFill>
                <a:latin typeface="Calibri"/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3749039" cy="5074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143000"/>
            <a:ext cx="3749039" cy="50292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16128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PRIMARIA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35331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RECEBIVEIS AGROINDUSTRIAIS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79" y="116128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R$150M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71907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• Cessao fiduciaria de recebiveis de 340 clientes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203704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• Concentracao maxima: 8% por cliente (JBS, Carrefour, GPA)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688336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• Taxa de inadimplencia historica: 0,3% a.a.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17296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• Advance rate: 78% sobre carteira bruta de R$192M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6576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• Monitoramento mensal — agente fiduciario: Oliveira Trust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1143000"/>
            <a:ext cx="3749039" cy="5074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0" y="1143000"/>
            <a:ext cx="3749039" cy="50292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79" y="116128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COMPLEMENTAR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79" y="135331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IMOVEIS RURAIS (MATRICULAS)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16128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R$62M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79" y="171907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• 4 propriedades rurais em Jatai/Mineiros/Rio Verde (GO)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79" y="2203704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• Area total: 3.840 hectares + benfeitorias industriais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79" y="2688336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• Laudo ENGEFOTO (01/2026): valor de mercado R$103M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79" y="317296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• LTV: 60% = R$62M | Haircut padrao imovel rural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79" y="36576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• Alienacao fiduciaria registrada em cartorio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1143000"/>
            <a:ext cx="3749039" cy="5074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1143000"/>
            <a:ext cx="3749039" cy="50292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116128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TERCIARIA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135331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AVAL DOS SOCIOS CONTROLADORES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116128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R$30M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171907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• Aval solidario: Familia Meireles (71,2% do capital)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2203704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• Patrimonio declarado comprovado: R$420M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2688336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• Ratio patrimonio/aval: 14x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317296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• Restricao de alienacao de ativos &gt; R$5M sem ciencia do agente fiduciario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6263640"/>
            <a:ext cx="11612880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272784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COBERTURA TOTAL: R$242M para emissao de R$150M = 1,61x  |  Minimo exigido: 1,2x  |  Excesso: R$92M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Equipe de gestao com 180+ anos de experiencia combinada — track record de entrega em todos os ciclos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Modulo 7 — Equipe de Gestao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18288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18096"/>
                </a:solidFill>
                <a:latin typeface="Calibri"/>
              </a:rPr>
              <a:t>Grupo Meridian Alimentos S.A. | Book de Credito — CRA R$150M | Confidencial — RCVM 160/2022 | Exclusivo para Investidores Qualificados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562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718096"/>
                </a:solidFill>
                <a:latin typeface="Calibri"/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88720"/>
            <a:ext cx="548640" cy="54864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188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19" y="122529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F3D"/>
                </a:solidFill>
                <a:latin typeface="Calibri"/>
              </a:rPr>
              <a:t>Roberto Meireles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19" y="149961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CEO &amp; Fundador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18288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  • Fundou a Meridian em 1998 aos 32 anos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17627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  • Engenheiro Agronomo — ESALQ/USP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252374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  • MBA — Wharton School (2004)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2871216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  • Presidente da ABPA Regional CO (2019-2023)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321868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  • Track record: 5x crescimento da receita em 10 anos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188720"/>
            <a:ext cx="548640" cy="5486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188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122529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F3D"/>
                </a:solidFill>
                <a:latin typeface="Calibri"/>
              </a:rPr>
              <a:t>Claudia Meireles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49961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CFO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18288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  • 15 anos na Meridian (CFO desde 2012)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217627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  • Economista FGV-SP + CPA-10/CPA-20 ANBIMA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252374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  • Liderou 3 emissoes de debentures (2016/2019/2022)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2871216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  • Implantou ERP SAP S/4HANA em 2021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321868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  • Supervisiona equipe de 18 profissionais de financas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657600"/>
            <a:ext cx="548640" cy="54864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3657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19" y="369417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F3D"/>
                </a:solidFill>
                <a:latin typeface="Calibri"/>
              </a:rPr>
              <a:t>Luiz Andrade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19" y="396849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COO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" y="429768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  • Ex-BRF (8 anos) — Diretor Industrial Frangosul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79" y="464515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  • Engenheiro de Alimentos — UFSC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79" y="499262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  • Responsavel pela expansao de Rio Verde (2014)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79" y="5340096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  • Implantou WCM (World Class Manufacturing) em 2020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79" y="568756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  • Reducao de 23% no custo de producao em 4 anos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657600"/>
            <a:ext cx="548640" cy="54864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3657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369417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F3D"/>
                </a:solidFill>
                <a:latin typeface="Calibri"/>
              </a:rPr>
              <a:t>Patricia Alves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396849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Diretora Comercial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59" y="429768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  • Ex-JBS Exports (6 anos) — VP Asia Pacific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59" y="464515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  • Fluente em Ingles, Mandarin e Arabe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59" y="499262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  • Abertura de 12 novos mercados desde 2019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59" y="5340096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  • Exportacoes cresceram de 8% para 28% da receita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59" y="568756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  • Contatos com 45 importadores habilitados MAPA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Tese: retorno IPCA+7,25% com risco AA- em empresa com DSCR de 2,8x e garantias de 1,5x de cobertura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Modulo 8 — Tese de Investimento e Proximos Passos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18288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18096"/>
                </a:solidFill>
                <a:latin typeface="Calibri"/>
              </a:rPr>
              <a:t>Grupo Meridian Alimentos S.A. | Book de Credito — CRA R$150M | Confidencial — RCVM 160/2022 | Exclusivo para Investidores Qualificados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562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718096"/>
                </a:solidFill>
                <a:latin typeface="Calibri"/>
              </a:rPr>
              <a:t>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43000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F3D"/>
                </a:solidFill>
                <a:latin typeface="Calibri"/>
              </a:rPr>
              <a:t>POR QUE INVESTIR AGORA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89888"/>
            <a:ext cx="457200" cy="4572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389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F3D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4173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F3D"/>
                </a:solidFill>
                <a:latin typeface="Calibri"/>
              </a:rPr>
              <a:t>RETORNO SUPERIOR AO MERCADO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66420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IPCA+7,25% vs IPCA+6,10% media ANBIMA para AA- em jan/26 — premio de 115bps por liquidez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12848"/>
            <a:ext cx="457200" cy="4572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2128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F3D"/>
                </a:solidFill>
                <a:latin typeface="Georgi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2402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F3D"/>
                </a:solidFill>
                <a:latin typeface="Calibri"/>
              </a:rPr>
              <a:t>EMPRESA EM MOMENTO DE ACELERACAO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48716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CAPEX de R$150M financiado pelo CRA gera +35k aves/dia e ROI de 28% — EBITDA deve superar R$250M em 2027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035808"/>
            <a:ext cx="457200" cy="4572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0358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F3D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0632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F3D"/>
                </a:solidFill>
                <a:latin typeface="Calibri"/>
              </a:rPr>
              <a:t>ESTRUTURA DE GARANTIAS ROBUSTA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31012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R$242M de garantias para R$150M emitidos — recebiveis com inadimplencia de 0,3% historica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858768"/>
            <a:ext cx="457200" cy="4572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8587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F3D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8862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F3D"/>
                </a:solidFill>
                <a:latin typeface="Calibri"/>
              </a:rPr>
              <a:t>SETOR BENEFICIADO POR MACRO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13308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BRL/USD &gt; R$5,80 + exportacoes recorde + premiumizacao = ventos favoraveis para 3-5 anos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681728"/>
            <a:ext cx="457200" cy="4572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6817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F3D"/>
                </a:solidFill>
                <a:latin typeface="Georg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7091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F3D"/>
                </a:solidFill>
                <a:latin typeface="Calibri"/>
              </a:rPr>
              <a:t>RATING E COVENANTS CONSERVADORES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560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AA- Fitch com outlook estavel — 4 covenants com folgas de 46-67% no cenario stressed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1005840"/>
            <a:ext cx="18288" cy="530352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114300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F3D"/>
                </a:solidFill>
                <a:latin typeface="Calibri"/>
              </a:rPr>
              <a:t>CATALISADORES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1389888"/>
            <a:ext cx="1005840" cy="566928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1389888"/>
            <a:ext cx="1005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Mar/26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141732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Fechamento do CRA — emissao e liquidacao financeira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2048256"/>
            <a:ext cx="1005840" cy="566928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2048256"/>
            <a:ext cx="1005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Abr-Jun/26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2075688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Inicio das obras de expansao da planta Jatai (+35k aves/dia)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75120" y="2706624"/>
            <a:ext cx="1005840" cy="566928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2706624"/>
            <a:ext cx="1005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Set/26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2734056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Revisao de rating Fitch — expectativa de confirmacao AA-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3364992"/>
            <a:ext cx="1005840" cy="566928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3364992"/>
            <a:ext cx="1005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Dez/26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3392424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Operacionalizacao da nova linha de congelados premium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75120" y="4023360"/>
            <a:ext cx="1005840" cy="566928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0" y="4023360"/>
            <a:ext cx="1005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2027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4050791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Meta: Receita R$1,55Bi | EBITDA R$250M | Exportacoes 32%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75120" y="4681727"/>
            <a:ext cx="1005840" cy="566928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5120" y="4681727"/>
            <a:ext cx="1005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2028-30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0" y="4709159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Pipeline de M&amp;A: 2 alvos identificados em GO e MT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Estrutura da Emissao — CRA Grupo Meridian Alimentos S.A. | R$150M | IPCA+7,25% | 5 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Modulo 8 — Term Sheet Resumido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18288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18096"/>
                </a:solidFill>
                <a:latin typeface="Calibri"/>
              </a:rPr>
              <a:t>Grupo Meridian Alimentos S.A. | Book de Credito — CRA R$150M | Confidencial — RCVM 160/2022 | Exclusivo para Investidores Qualificados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562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718096"/>
                </a:solidFill>
                <a:latin typeface="Calibri"/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88720"/>
            <a:ext cx="2926080" cy="27432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0700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Emissora / Cedente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188720"/>
            <a:ext cx="8412480" cy="27432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20700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Grupo Meridian Alimentos S.A. | CNPJ 12.345.678/0001-90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481328"/>
            <a:ext cx="29260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149961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Securitizadora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481328"/>
            <a:ext cx="84124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149961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Eco Securitizacao S.A. | CVM Reg. 21.234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773936"/>
            <a:ext cx="2926080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179222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Instrumento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1773936"/>
            <a:ext cx="8412480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179222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Certificados de Recebiveis do Agronegocio (CRA) — Lei 11.076/04 e Lei 13.986/20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066543"/>
            <a:ext cx="29260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08483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Volume Total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2066543"/>
            <a:ext cx="84124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37560" y="208483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R$ 150.000.000 (Cento e cinquenta milhoes de reais)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359152"/>
            <a:ext cx="2926080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237744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Serie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46120" y="2359152"/>
            <a:ext cx="8412480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23774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Serie Unica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651760"/>
            <a:ext cx="29260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267004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Remuneracao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20" y="2651760"/>
            <a:ext cx="84124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60" y="267004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IPCA (IBGE) + 7,25% a.a. — base 252 DU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944368"/>
            <a:ext cx="2926080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296265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Prazo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46120" y="2944368"/>
            <a:ext cx="8412480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37560" y="296265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5 (cinco) anos | Vencimento: marco/2031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3236976"/>
            <a:ext cx="29260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325526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Amortizacao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46120" y="3236976"/>
            <a:ext cx="84124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37560" y="325526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Bullet (principal no vencimento) | Juros semestrais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529584"/>
            <a:ext cx="2926080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354787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Rating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46120" y="3529584"/>
            <a:ext cx="8412480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37560" y="354787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AA- (Fitch Ratings) | Perspectiva: Estavel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822191"/>
            <a:ext cx="29260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384048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Regime de Oferta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46120" y="3822191"/>
            <a:ext cx="84124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37560" y="384048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RCVM 160/2022 art. 3o, I — Esforcos Restritos (476)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4114800"/>
            <a:ext cx="2926080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413308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Publico Alvo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46120" y="4114800"/>
            <a:ext cx="8412480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37560" y="413308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Investidores Profissionais (RCVM 30/2021)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4407408"/>
            <a:ext cx="29260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4256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Lastro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46120" y="4407408"/>
            <a:ext cx="84124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37560" y="442569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Direitos creditarios agroindustriais — cessao fiduciaria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4700016"/>
            <a:ext cx="2926080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" y="471830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Garantias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46120" y="4700016"/>
            <a:ext cx="8412480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337560" y="471830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Cessao fiduc. de recebiveis (R$150M) + AFF imoveis rurais (R$62M) + Aval (R$30M)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" y="4992624"/>
            <a:ext cx="29260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1480" y="501091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Agente Fiduciario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46120" y="4992624"/>
            <a:ext cx="84124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337560" y="501091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Oliveira Trust Distribuidora de Titulos e Valores Mobiliarios S.A.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5285232"/>
            <a:ext cx="2926080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530352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Coordenador Lider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46120" y="5285232"/>
            <a:ext cx="8412480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337560" y="530352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IB Agents Capital S.A. CTVM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" y="5577840"/>
            <a:ext cx="29260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1480" y="559612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Destinacao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46120" y="5577840"/>
            <a:ext cx="84124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337560" y="559612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95% expansao industrial planta Jatai (GO) + 5% capital de giro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0040" y="5870448"/>
            <a:ext cx="2926080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1480" y="588873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Comissionamento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46120" y="5870448"/>
            <a:ext cx="8412480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337560" y="588873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2,0% flat sobre volume total emitido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" y="6163056"/>
            <a:ext cx="29260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1480" y="618134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Data Base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46120" y="6163056"/>
            <a:ext cx="84124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337560" y="618134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Marco/2026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Quatro riscos principais — todos mitigados por protecoes estruturais ja em vigor (RCVM 160)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Modulo 8 — Fatores de Risco | Ordenados por Materialidade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18288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18096"/>
                </a:solidFill>
                <a:latin typeface="Calibri"/>
              </a:rPr>
              <a:t>Grupo Meridian Alimentos S.A. | Book de Credito — CRA R$150M | Confidencial — RCVM 160/2022 | Exclusivo para Investidores Qualificados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562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718096"/>
                </a:solidFill>
                <a:latin typeface="Calibri"/>
              </a:rPr>
              <a:t>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4300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18096"/>
                </a:solidFill>
                <a:latin typeface="Calibri"/>
              </a:rPr>
              <a:t>Escala qualitativa obrigatoria RCVM 160: Maior / Medio / Menor | Ordenado do maior para o menor impacto potencial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731520" cy="109728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828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MAIOR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4447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F3D"/>
                </a:solidFill>
                <a:latin typeface="Calibri"/>
              </a:rPr>
              <a:t>Risco Sanitario (Grippe Aviaria)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7190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Surto de HPAI pode fechar mercados de exportacao e gerar queda de receita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44475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Mitigantes: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673352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• Diversificacao: 18 paises (nenhum &gt; 22% das exportacoes)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883664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• Seguro agropecuario cobrindo 80% do plantel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093976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• Protocolo de biosseguridade Nivel 3 — auditado MAPA anualmente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304288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• Covenant: trigger de cash sweep se exportacoes caem &gt; 30%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587752"/>
            <a:ext cx="731520" cy="109728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9992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MEDIO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261518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F3D"/>
                </a:solidFill>
                <a:latin typeface="Calibri"/>
              </a:rPr>
              <a:t>Risco de Mercado (Commodities)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288950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Alta do milho/soja eleva custo de racao e comprime margens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261518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Mitigantes: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2843784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• 62% da racao produzida internamente — hedge parcial de custo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054096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• Historico: margem EBITDA nunca caiu abaixo de 7,5% em 5 anos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264408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• Politica de hedge: compra antecipada de 40% da necessidade anual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474720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• Covenant de margem: alert se EBITDA/Receita &lt; 9% por 2 trimestres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758184"/>
            <a:ext cx="731520" cy="109728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416966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MEDIO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3785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F3D"/>
                </a:solidFill>
                <a:latin typeface="Calibri"/>
              </a:rPr>
              <a:t>Risco de Taxa de Juros (IPCA)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405993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IPCA elevado aumenta o custo de servico da divida em termos nominais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378561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Mitigantes: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014216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• CRA IPCA+7,25%: receita Meridian tambem indexada ao IPCA parcialmente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224528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• Exportacoes em USD funcionam como hedge natural contra IPCA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4434840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• Cenario stressed: IPCA a 8%aa ainda mantem DSCR acima de 2,0x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928616"/>
            <a:ext cx="731520" cy="109728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534009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MENOR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495604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F3D"/>
                </a:solidFill>
                <a:latin typeface="Calibri"/>
              </a:rPr>
              <a:t>Risco de Liquidez (Mercado Secundario)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52303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CRA de emissao privada (476) tem liquidez secundaria limitada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49560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Mitigantes: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5184648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• Estrutura bullet reduz necessidade de liquidez ao longo do prazo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5394960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• Oferecido a 35+ investidores institucionais com horizonte LP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5605272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• Agente de liquidez: IB Agents Capital disponibiliza cotacao semanal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291072"/>
            <a:ext cx="12188952" cy="246888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309360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C53030"/>
                </a:solidFill>
                <a:latin typeface="Calibri"/>
              </a:rPr>
              <a:t>AVISO LEGAL: Este material e baseado em informacoes publicas e fornecidas pela Meridian. Nao constitui oferta de valores mobiliarios. Investidores devem conduzir sua propria due diligence. Rentabilidade passada nao garante resultados futuros.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